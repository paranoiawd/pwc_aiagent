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6"/>
  </p:notesMasterIdLst>
  <p:sldIdLst>
    <p:sldId id="2147471719" r:id="rId5"/>
    <p:sldId id="2147471758" r:id="rId6"/>
    <p:sldId id="2147471761" r:id="rId7"/>
    <p:sldId id="2147471765" r:id="rId8"/>
    <p:sldId id="2147471767" r:id="rId9"/>
    <p:sldId id="2147471759" r:id="rId10"/>
    <p:sldId id="2147471763" r:id="rId11"/>
    <p:sldId id="2147471774" r:id="rId12"/>
    <p:sldId id="2147471760" r:id="rId13"/>
    <p:sldId id="2147471771" r:id="rId14"/>
    <p:sldId id="214747176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25" userDrawn="1">
          <p15:clr>
            <a:srgbClr val="A4A3A4"/>
          </p15:clr>
        </p15:guide>
        <p15:guide id="2" pos="7355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0F8"/>
    <a:srgbClr val="37629B"/>
    <a:srgbClr val="0C84D6"/>
    <a:srgbClr val="F9ECEC"/>
    <a:srgbClr val="EBEBEB"/>
    <a:srgbClr val="070C13"/>
    <a:srgbClr val="132235"/>
    <a:srgbClr val="223D60"/>
    <a:srgbClr val="213B5D"/>
    <a:srgbClr val="0A71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48"/>
      </p:cViewPr>
      <p:guideLst>
        <p:guide pos="325"/>
        <p:guide pos="7355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D9F09-C6DE-4399-B481-A3D82C452A15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FEAF4D-DD1B-4099-92D7-FA1E7F7254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065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맑은 고딕" panose="0211000402020202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38F507-FFAD-4585-99E0-9DC17883AD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5544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w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9" y="1715"/>
            <a:ext cx="12188951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 latinLnBrk="0">
              <a:lnSpc>
                <a:spcPct val="100000"/>
              </a:lnSpc>
              <a:spcBef>
                <a:spcPts val="0"/>
              </a:spcBef>
              <a:defRPr sz="48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C170B56-D4FB-3832-62FB-8A0FD72ED10B}"/>
              </a:ext>
            </a:extLst>
          </p:cNvPr>
          <p:cNvGrpSpPr/>
          <p:nvPr userDrawn="1"/>
        </p:nvGrpSpPr>
        <p:grpSpPr>
          <a:xfrm>
            <a:off x="400050" y="381714"/>
            <a:ext cx="2544101" cy="505971"/>
            <a:chOff x="327754" y="847637"/>
            <a:chExt cx="2544101" cy="505971"/>
          </a:xfrm>
        </p:grpSpPr>
        <p:pic>
          <p:nvPicPr>
            <p:cNvPr id="6" name="Graphic 37">
              <a:extLst>
                <a:ext uri="{FF2B5EF4-FFF2-40B4-BE49-F238E27FC236}">
                  <a16:creationId xmlns:a16="http://schemas.microsoft.com/office/drawing/2014/main" id="{C3C0CFE9-F917-A0A6-C95C-6B0841BD8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7754" y="847637"/>
              <a:ext cx="1039497" cy="505971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88A383E-057E-401A-8EA4-38FAB7F7AD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77788" y="1043966"/>
              <a:ext cx="1294067" cy="21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46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4800" dirty="0"/>
            </a:lvl1pPr>
          </a:lstStyle>
          <a:p>
            <a:pPr lvl="0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25289B8-85DB-9CDF-B187-1C91C485EA3C}"/>
              </a:ext>
            </a:extLst>
          </p:cNvPr>
          <p:cNvGrpSpPr/>
          <p:nvPr userDrawn="1"/>
        </p:nvGrpSpPr>
        <p:grpSpPr>
          <a:xfrm>
            <a:off x="400050" y="381714"/>
            <a:ext cx="2544101" cy="505971"/>
            <a:chOff x="327754" y="847637"/>
            <a:chExt cx="2544101" cy="505971"/>
          </a:xfrm>
        </p:grpSpPr>
        <p:pic>
          <p:nvPicPr>
            <p:cNvPr id="4" name="Graphic 37">
              <a:extLst>
                <a:ext uri="{FF2B5EF4-FFF2-40B4-BE49-F238E27FC236}">
                  <a16:creationId xmlns:a16="http://schemas.microsoft.com/office/drawing/2014/main" id="{CCDD0882-C842-DED6-129C-460943B174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27754" y="847637"/>
              <a:ext cx="1039497" cy="505971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FCD6532-6A57-D7FA-7B2D-CAEDE0775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77788" y="1043966"/>
              <a:ext cx="1294067" cy="21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294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19" y="4007973"/>
            <a:ext cx="4671732" cy="1298448"/>
          </a:xfrm>
        </p:spPr>
        <p:txBody>
          <a:bodyPr/>
          <a:lstStyle>
            <a:lvl1pPr latinLnBrk="0">
              <a:lnSpc>
                <a:spcPct val="100000"/>
              </a:lnSpc>
              <a:defRPr sz="4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7E847C2-FDF0-2666-281D-0E7BA9C6D0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85505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856A325-BD6F-C5BC-CCA9-E3CD13BF34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10346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009F94D-8D09-1BAD-D4D4-CF74DB855A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53733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885DEA1-6BE0-FAB6-014C-4BD4DCF342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6853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51FEBD7-F7AA-C327-4BF3-7A7226483A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910578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vert="horz" lIns="0" tIns="0" rIns="0" bIns="0" rtlCol="0" anchor="b" anchorCtr="0">
            <a:noAutofit/>
          </a:bodyPr>
          <a:lstStyle>
            <a:lvl1pPr latinLnBrk="0">
              <a:defRPr lang="en-US" sz="4800" dirty="0"/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796C72D-99B3-A59D-3B8F-82994CABB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13430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4800" dirty="0"/>
            </a:lvl1pPr>
          </a:lstStyle>
          <a:p>
            <a:pPr lvl="0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170D3E2-15AF-1A83-5331-D07A37FE53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38350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4800" dirty="0"/>
            </a:lvl1pPr>
          </a:lstStyle>
          <a:p>
            <a:pPr lvl="0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spcAft>
                <a:spcPts val="0"/>
              </a:spcAft>
              <a:defRPr sz="1400" b="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391B3-FAB2-57D2-D639-330BF7D03A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B97553-21FE-267B-399B-8A82749A8571}"/>
              </a:ext>
            </a:extLst>
          </p:cNvPr>
          <p:cNvSpPr txBox="1"/>
          <p:nvPr userDrawn="1"/>
        </p:nvSpPr>
        <p:spPr>
          <a:xfrm>
            <a:off x="394728" y="6497441"/>
            <a:ext cx="853047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Samil PwC</a:t>
            </a:r>
          </a:p>
        </p:txBody>
      </p:sp>
    </p:spTree>
    <p:extLst>
      <p:ext uri="{BB962C8B-B14F-4D97-AF65-F5344CB8AC3E}">
        <p14:creationId xmlns:p14="http://schemas.microsoft.com/office/powerpoint/2010/main" val="646319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8"/>
          </a:xfrm>
        </p:spPr>
        <p:txBody>
          <a:bodyPr/>
          <a:lstStyle>
            <a:lvl1pPr latinLnBrk="0">
              <a:lnSpc>
                <a:spcPct val="100000"/>
              </a:lnSpc>
              <a:defRPr sz="4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B221CD7-8C1F-AC7C-81CD-14A3D8D75C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9AC8F1-044B-CA3F-A5AA-B1BBA6E3B974}"/>
              </a:ext>
            </a:extLst>
          </p:cNvPr>
          <p:cNvSpPr txBox="1"/>
          <p:nvPr userDrawn="1"/>
        </p:nvSpPr>
        <p:spPr>
          <a:xfrm>
            <a:off x="394728" y="6497441"/>
            <a:ext cx="853047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Samil PwC</a:t>
            </a:r>
          </a:p>
        </p:txBody>
      </p:sp>
    </p:spTree>
    <p:extLst>
      <p:ext uri="{BB962C8B-B14F-4D97-AF65-F5344CB8AC3E}">
        <p14:creationId xmlns:p14="http://schemas.microsoft.com/office/powerpoint/2010/main" val="22097355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4000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4D060-2DF3-9812-318B-BA374C449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8DA37D-6306-1D8D-A6EC-CE9A50EA9FEB}"/>
              </a:ext>
            </a:extLst>
          </p:cNvPr>
          <p:cNvSpPr txBox="1"/>
          <p:nvPr userDrawn="1"/>
        </p:nvSpPr>
        <p:spPr>
          <a:xfrm>
            <a:off x="394728" y="6497441"/>
            <a:ext cx="853047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Samil PwC</a:t>
            </a:r>
          </a:p>
        </p:txBody>
      </p:sp>
    </p:spTree>
    <p:extLst>
      <p:ext uri="{BB962C8B-B14F-4D97-AF65-F5344CB8AC3E}">
        <p14:creationId xmlns:p14="http://schemas.microsoft.com/office/powerpoint/2010/main" val="19183365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4000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4534F-9070-2526-199E-F1E4ECFFA1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A5C548-2BA1-56A8-1628-216F8C2B14AA}"/>
              </a:ext>
            </a:extLst>
          </p:cNvPr>
          <p:cNvSpPr txBox="1"/>
          <p:nvPr userDrawn="1"/>
        </p:nvSpPr>
        <p:spPr>
          <a:xfrm>
            <a:off x="394728" y="6497441"/>
            <a:ext cx="853047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Samil PwC</a:t>
            </a:r>
          </a:p>
        </p:txBody>
      </p:sp>
    </p:spTree>
    <p:extLst>
      <p:ext uri="{BB962C8B-B14F-4D97-AF65-F5344CB8AC3E}">
        <p14:creationId xmlns:p14="http://schemas.microsoft.com/office/powerpoint/2010/main" val="31587463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4000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67382-F49F-D07F-2E88-4E9660208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8AA575-4618-D880-E2D0-42D43C6DE624}"/>
              </a:ext>
            </a:extLst>
          </p:cNvPr>
          <p:cNvSpPr txBox="1"/>
          <p:nvPr userDrawn="1"/>
        </p:nvSpPr>
        <p:spPr>
          <a:xfrm>
            <a:off x="394728" y="6497441"/>
            <a:ext cx="853047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Samil PwC</a:t>
            </a:r>
          </a:p>
        </p:txBody>
      </p:sp>
    </p:spTree>
    <p:extLst>
      <p:ext uri="{BB962C8B-B14F-4D97-AF65-F5344CB8AC3E}">
        <p14:creationId xmlns:p14="http://schemas.microsoft.com/office/powerpoint/2010/main" val="4003122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4000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B9F1EC1-EAD2-AAC7-D88F-1A9B10D186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74473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3345504"/>
            <a:ext cx="4182718" cy="1846659"/>
          </a:xfrm>
        </p:spPr>
        <p:txBody>
          <a:bodyPr wrap="square" anchor="b" anchorCtr="0">
            <a:spAutoFit/>
          </a:bodyPr>
          <a:lstStyle>
            <a:lvl1pPr latinLnBrk="0">
              <a:lnSpc>
                <a:spcPct val="10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209696" y="794063"/>
            <a:ext cx="6589884" cy="3328416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ko-KR" altLang="en-US"/>
              <a:t>표를 추가하려면 아이콘을 클릭하십시오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6EA2C28-A5AF-E976-CA7E-10785AC489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645433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3343811"/>
            <a:ext cx="4182718" cy="1846659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6000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6DE5500C-FE6E-579B-63C3-09F6ADCF9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DD78BEAF-F2F8-DC26-B864-8F81821380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9696" y="786384"/>
            <a:ext cx="5754687" cy="3195638"/>
          </a:xfrm>
        </p:spPr>
        <p:txBody>
          <a:bodyPr tIns="73152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9F92F9D-4603-4E22-6B2D-293F458D75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001077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3343811"/>
            <a:ext cx="4182718" cy="1846659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6000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281363" y="818982"/>
            <a:ext cx="4182719" cy="2685354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ko-KR" altLang="en-US"/>
              <a:t>표를 추가하려면 아이콘을 클릭하십시오</a:t>
            </a:r>
            <a:endParaRPr lang="en-US"/>
          </a:p>
        </p:txBody>
      </p:sp>
      <p:sp>
        <p:nvSpPr>
          <p:cNvPr id="6" name="Table Placeholder 6">
            <a:extLst>
              <a:ext uri="{FF2B5EF4-FFF2-40B4-BE49-F238E27FC236}">
                <a16:creationId xmlns:a16="http://schemas.microsoft.com/office/drawing/2014/main" id="{CE0852A2-F289-0299-38DA-54988A9CF40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7619309" y="818982"/>
            <a:ext cx="4182719" cy="2685354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ko-KR" altLang="en-US"/>
              <a:t>표를 추가하려면 아이콘을 클릭하십시오</a:t>
            </a:r>
            <a:endParaRPr lang="en-US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417BEBC1-805D-DD3E-7FB7-E733D35B8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CD8E761-0F43-B30A-C04D-0F8043FB93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2853379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3343811"/>
            <a:ext cx="4182718" cy="1846659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6000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3079065-EEA7-BD3F-374F-2BD4FA174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D9EB10B1-191A-630B-CAE5-F7CB250CA4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81363" y="917575"/>
            <a:ext cx="4224722" cy="2589534"/>
          </a:xfrm>
        </p:spPr>
        <p:txBody>
          <a:bodyPr vert="horz" lIns="0" tIns="73152" rIns="91440" bIns="0" rtlCol="0">
            <a:noAutofit/>
          </a:bodyPr>
          <a:lstStyle>
            <a:lvl1pPr>
              <a:defRPr lang="ko-KR" altLang="en-US" sz="2400" b="0" smtClean="0">
                <a:latin typeface="+mj-lt"/>
              </a:defRPr>
            </a:lvl1pPr>
          </a:lstStyle>
          <a:p>
            <a:pPr lvl="0">
              <a:spcAft>
                <a:spcPts val="0"/>
              </a:spcAft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B735FB7-5411-F2F1-D974-F773B1B836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08392" y="917575"/>
            <a:ext cx="4224722" cy="2589534"/>
          </a:xfrm>
        </p:spPr>
        <p:txBody>
          <a:bodyPr vert="horz" lIns="0" tIns="73152" rIns="91440" bIns="0" rtlCol="0">
            <a:noAutofit/>
          </a:bodyPr>
          <a:lstStyle>
            <a:lvl1pPr>
              <a:defRPr lang="ko-KR" altLang="en-US" sz="2400" b="0" smtClean="0">
                <a:latin typeface="+mj-lt"/>
              </a:defRPr>
            </a:lvl1pPr>
          </a:lstStyle>
          <a:p>
            <a:pPr lvl="0">
              <a:spcAft>
                <a:spcPts val="0"/>
              </a:spcAft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6893168-8476-2543-98DE-03343D99F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654796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6"/>
            <a:ext cx="6606383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665" y="1946276"/>
            <a:ext cx="6606383" cy="400050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5067027-47B9-E695-A24C-1792F34C76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274580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6"/>
            <a:ext cx="11403809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861B7B6-46DE-D3F1-62FD-E7B058FA4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05" y="1946276"/>
            <a:ext cx="4673445" cy="399256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smtClean="0"/>
            </a:lvl1pPr>
            <a:lvl2pPr>
              <a:defRPr lang="ko-KR" altLang="en-US" smtClean="0">
                <a:latin typeface="+mn-lt"/>
              </a:defRPr>
            </a:lvl2pPr>
            <a:lvl3pPr>
              <a:defRPr lang="ko-KR" altLang="en-US" smtClean="0">
                <a:latin typeface="+mn-lt"/>
              </a:defRPr>
            </a:lvl3pPr>
            <a:lvl4pPr>
              <a:defRPr lang="ko-KR" altLang="en-US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6005" y="1946276"/>
            <a:ext cx="4673445" cy="399256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A24DD9E3-0BCC-FF96-2B5A-1C600C721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FD7BF1E-3B55-C3EA-F1A9-8FBE1404DA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46020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492184"/>
            <a:ext cx="3840957" cy="245459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1444" y="402432"/>
            <a:ext cx="3649948" cy="4510882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FD3C8C-DE95-11CF-E112-F1CDEBBBAF2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37638" y="402432"/>
            <a:ext cx="2514282" cy="245506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B0E27A5-BC84-EBC4-82C5-E8CF838E4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0436BDD-C70B-A8C6-A9B4-D61048276F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4138952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3840958" cy="556688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1444" y="402432"/>
            <a:ext cx="3649948" cy="2455068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37637" y="402336"/>
            <a:ext cx="2514283" cy="24551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01444" y="2977040"/>
            <a:ext cx="3649948" cy="2455068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37637" y="2977040"/>
            <a:ext cx="2514283" cy="248602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C21211E5-4A9D-2EA5-349A-BFEBB51D8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F3426C9-35DE-4F39-4A5D-C5BE0501A9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243362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 Matrix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9B4C70A-448E-FF82-4DED-5DB3D9F5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436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31" y="1431438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 latinLnBrk="0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1363" y="1421451"/>
            <a:ext cx="2514283" cy="193881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2831" y="3486944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 latinLnBrk="0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81363" y="3486944"/>
            <a:ext cx="2514283" cy="193881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BF7E05F9-3B71-A92F-C27D-3EA729554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0294" y="1431438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 latinLnBrk="0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DEC8E4-3556-9DFF-F8E0-3E599203F394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37638" y="1421451"/>
            <a:ext cx="2514283" cy="193881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5436620D-30A8-EA32-EBA9-0FB0D98A3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0294" y="3486944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 latinLnBrk="0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8EEADAB-1623-2FF8-2487-6AA4F7EC358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9037638" y="3486944"/>
            <a:ext cx="2514283" cy="193881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D14A64E-64B4-8591-EB11-F73A20150E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011863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436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946275"/>
            <a:ext cx="3280410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46275"/>
            <a:ext cx="3280410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46275"/>
            <a:ext cx="3280410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B17E41-9C66-3146-B374-F4EE7CAB6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3983245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69EA8B36-F386-C764-DAD6-33D7736D9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436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946275"/>
            <a:ext cx="3280410" cy="399256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46275"/>
            <a:ext cx="3280410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46275"/>
            <a:ext cx="3280410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7BD091D-1A71-D98C-9FBE-055914E89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9B74FBD-332C-1D36-4AA9-1E36A0F76C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347054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436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10808" y="1439508"/>
            <a:ext cx="5237163" cy="4510088"/>
          </a:xfrm>
        </p:spPr>
        <p:txBody>
          <a:bodyPr/>
          <a:lstStyle/>
          <a:p>
            <a:r>
              <a:rPr lang="ko-KR" altLang="en-US"/>
              <a:t>차트를 추가하려면 아이콘을 클릭하십시오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8671" y="2468208"/>
            <a:ext cx="2754667" cy="348138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048041" y="2468208"/>
            <a:ext cx="2754667" cy="348138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0ACC21C-B431-050A-654B-071D0D988D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221731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3280410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614568"/>
            <a:ext cx="3280410" cy="2270480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57033"/>
            <a:ext cx="3280410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57033"/>
            <a:ext cx="3280410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E6F2E23D-BB9F-B34F-EC85-66F73AA73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3A6F816-0190-05EE-AB74-109D8AE385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846592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Four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3280410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614568"/>
            <a:ext cx="3280410" cy="2270480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57034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4500">
                <a:latin typeface="+mn-lt"/>
              </a:defRPr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8E7DA0-330F-0EFA-F5EA-9B8D8ADDB8B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087958" y="1957034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4500">
                <a:latin typeface="+mn-lt"/>
              </a:defRPr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F934F8D-EEE5-A5C7-4F51-62B220EA007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242435" y="3727982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4500" b="0"/>
            </a:lvl1pPr>
            <a:lvl2pPr>
              <a:lnSpc>
                <a:spcPct val="100000"/>
              </a:lnSpc>
              <a:spcBef>
                <a:spcPts val="0"/>
              </a:spcBef>
              <a:defRPr sz="1200"/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6F4A050-73C7-4EF8-22E1-17E2117180F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087958" y="3727982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4500" b="0"/>
            </a:lvl1pPr>
            <a:lvl2pPr>
              <a:lnSpc>
                <a:spcPct val="100000"/>
              </a:lnSpc>
              <a:spcBef>
                <a:spcPts val="0"/>
              </a:spcBef>
              <a:defRPr sz="1200"/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1F2E443D-FB19-EC91-F034-92383A4D9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6CC9E6B-5B17-A950-147A-ABA2D452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600595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Two Smal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9CDDF52B-DBF3-6EA5-316F-86B168D5B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440338"/>
            <a:ext cx="3448050" cy="44985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440338"/>
            <a:ext cx="3280410" cy="192992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3689588"/>
            <a:ext cx="3621405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440339"/>
            <a:ext cx="3280410" cy="192992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4820" y="3689588"/>
            <a:ext cx="3621405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45FB2FC1-37EA-E80B-8E2C-5BB79F82C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7E04EDD-A168-5DB0-4D27-AFE0E4305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332257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2157443-656C-E355-D086-838984BE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05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4008120"/>
            <a:ext cx="3280410" cy="193071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7197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8120"/>
            <a:ext cx="3280410" cy="193071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8482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8120"/>
            <a:ext cx="3280410" cy="193071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5A1E08A-92BA-B730-5F58-CCC1B39356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832373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Two Image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2898A4C-932E-23E9-DC30-A54F1747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02723"/>
            <a:ext cx="3389473" cy="192992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410052"/>
            <a:ext cx="3621405" cy="3474561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7380"/>
            <a:ext cx="3280410" cy="193992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4820" y="410052"/>
            <a:ext cx="3621405" cy="347456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7380"/>
            <a:ext cx="3280410" cy="193992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A0EF6EA-3F57-5496-E0F3-4864ED110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B304528-2A18-F534-DB1F-C688A838FF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9119280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69" y="1946275"/>
            <a:ext cx="2757805" cy="403542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9821" y="1946275"/>
            <a:ext cx="2752324" cy="403542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66511" y="1946275"/>
            <a:ext cx="2749927" cy="403542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1946275"/>
            <a:ext cx="2749927" cy="403542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BCCFAC37-C331-299A-576E-FB4D9E873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D0D0E3D-44AA-F788-7D0E-6D381C8228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704545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484563"/>
            <a:ext cx="3280410" cy="245427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3484563"/>
            <a:ext cx="3280410" cy="245427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3484563"/>
            <a:ext cx="3280410" cy="245427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3B9F6906-FD55-4ECF-BC68-21EDA9D47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1AE82FD-0055-0A27-B41F-BDF28E6BD5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410593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17" y="3484563"/>
            <a:ext cx="2757805" cy="249713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75769" y="3484563"/>
            <a:ext cx="2752324" cy="249713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52459" y="3484563"/>
            <a:ext cx="2749927" cy="249713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3484563"/>
            <a:ext cx="2749927" cy="249713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8A6C4D-3F5E-1CC8-64FD-F01177BD1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FBFB5-BA91-AA02-B93D-D9D8EAC29D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6905973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ntro Four Content Four Infographic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36A1FE59-52D8-7819-FCA0-4B851241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436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908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200"/>
              </a:spcAft>
              <a:defRPr sz="1400"/>
            </a:lvl1pPr>
            <a:lvl2pPr>
              <a:spcBef>
                <a:spcPts val="0"/>
              </a:spcBef>
              <a:spcAft>
                <a:spcPts val="1200"/>
              </a:spcAft>
              <a:defRPr sz="1400"/>
            </a:lvl2pPr>
            <a:lvl3pPr>
              <a:spcBef>
                <a:spcPts val="0"/>
              </a:spcBef>
              <a:spcAft>
                <a:spcPts val="1200"/>
              </a:spcAft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F624C-8E74-64EA-25D6-81C018D703C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92401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200"/>
              </a:spcAft>
              <a:defRPr sz="1400"/>
            </a:lvl1pPr>
            <a:lvl2pPr>
              <a:spcBef>
                <a:spcPts val="0"/>
              </a:spcBef>
              <a:spcAft>
                <a:spcPts val="1200"/>
              </a:spcAft>
              <a:defRPr sz="1400"/>
            </a:lvl2pPr>
            <a:lvl3pPr>
              <a:spcBef>
                <a:spcPts val="0"/>
              </a:spcBef>
              <a:spcAft>
                <a:spcPts val="1200"/>
              </a:spcAft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5BA71C3-8B98-CBAD-967B-B8C200A9F9D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81894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200"/>
              </a:spcAft>
              <a:defRPr sz="1400"/>
            </a:lvl1pPr>
            <a:lvl2pPr>
              <a:spcBef>
                <a:spcPts val="0"/>
              </a:spcBef>
              <a:spcAft>
                <a:spcPts val="1200"/>
              </a:spcAft>
              <a:defRPr sz="1400"/>
            </a:lvl2pPr>
            <a:lvl3pPr>
              <a:spcBef>
                <a:spcPts val="0"/>
              </a:spcBef>
              <a:spcAft>
                <a:spcPts val="1200"/>
              </a:spcAft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83A7053-6A7D-A8F8-4656-87270953BD6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71386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200"/>
              </a:spcAft>
              <a:defRPr sz="1400"/>
            </a:lvl1pPr>
            <a:lvl2pPr>
              <a:spcBef>
                <a:spcPts val="0"/>
              </a:spcBef>
              <a:spcAft>
                <a:spcPts val="1200"/>
              </a:spcAft>
              <a:defRPr sz="1400"/>
            </a:lvl2pPr>
            <a:lvl3pPr>
              <a:spcBef>
                <a:spcPts val="0"/>
              </a:spcBef>
              <a:spcAft>
                <a:spcPts val="1200"/>
              </a:spcAft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9EBCD51-8DA2-A863-38B9-4D39E92CB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D80E08F-9CFF-A0A0-CB3A-AC9CDC3AD14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00050" y="1428750"/>
            <a:ext cx="5639514" cy="1428750"/>
          </a:xfrm>
        </p:spPr>
        <p:txBody>
          <a:bodyPr rIns="91440"/>
          <a:lstStyle>
            <a:lvl1pPr>
              <a:defRPr sz="20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AB0EEB4-382A-4329-E7B8-972AB50F5E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6537682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68A701A6-89AB-4B4D-0870-B17023D69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0716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5F5E5E69-4FFF-DFC2-659C-7E55787A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7669" y="1428750"/>
            <a:ext cx="2647951" cy="245586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 latinLnBrk="0">
              <a:defRPr lang="en-US" dirty="0"/>
            </a:lvl1pPr>
          </a:lstStyle>
          <a:p>
            <a:pPr lvl="0" algn="ctr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69" y="3998913"/>
            <a:ext cx="2757805" cy="19827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FEE2C3B1-D32B-2DC8-8154-D81D14148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89821" y="1428750"/>
            <a:ext cx="2647951" cy="245586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9821" y="3998913"/>
            <a:ext cx="2752324" cy="19827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4143737-9FAE-4BEB-0906-D059D53A4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6511" y="1428750"/>
            <a:ext cx="2647951" cy="245586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66511" y="3998913"/>
            <a:ext cx="2749927" cy="19827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5FAA5E52-06C6-50C6-842F-09B2897EB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8456" y="1428750"/>
            <a:ext cx="2647951" cy="245586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3998913"/>
            <a:ext cx="2749927" cy="19827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4392E8-8FC9-D8AC-538E-69F5A15C1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35832B9-C082-99BB-4F47-2F2EA6666B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780248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3858E610-9BD2-B05C-EB3A-1A76DB512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6"/>
            <a:ext cx="11394851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0050" y="1443674"/>
            <a:ext cx="2596899" cy="398081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3C981AC-1133-16A2-C7BE-8EEEC24A1CC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93938" y="1443674"/>
            <a:ext cx="2597467" cy="398081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7914" y="1428750"/>
            <a:ext cx="5634604" cy="245586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57913" y="4041936"/>
            <a:ext cx="2765425" cy="192992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DA732D9-8671-5C81-D1CA-1C96F66F29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044749" y="4041936"/>
            <a:ext cx="2765425" cy="192992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F60ED92-61BC-58F9-6255-C99E6BFB7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AEC589B-A325-BA88-011B-A3B77E90EE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28795888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5F55CA50-833E-6AD7-FF00-933528ACE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77C545-7EB4-7043-6F4E-6EF59E44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949196"/>
            <a:ext cx="1796733" cy="35219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DE2265-798C-4C34-2F7A-9E37AD0B72E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330243" y="1949196"/>
            <a:ext cx="1796733" cy="35219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9929FFD-F8B6-8070-3AC3-1EF5C988CD6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9006" y="1949196"/>
            <a:ext cx="1796733" cy="35219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70EFDA-9453-BCA5-D941-12F2ACA2074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67769" y="1949196"/>
            <a:ext cx="1796733" cy="35219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3C9BD80-9837-E8C2-7515-BE852BF7BDF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086532" y="1949196"/>
            <a:ext cx="1796733" cy="35219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8414709-ADE5-C602-1625-C637F6C5FB1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0005295" y="1949196"/>
            <a:ext cx="1796733" cy="35219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2E9AFACD-CF24-6CBE-B881-BC6725753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D7BF6FB-C0E6-A748-6D23-5EA595E108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253080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Six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Placeholder 1">
            <a:extLst>
              <a:ext uri="{FF2B5EF4-FFF2-40B4-BE49-F238E27FC236}">
                <a16:creationId xmlns:a16="http://schemas.microsoft.com/office/drawing/2014/main" id="{9C59803B-BF63-6637-E0C7-431792EDF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436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3E53EE2-D031-FB0F-FA32-18DFB38D853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77C545-7EB4-7043-6F4E-6EF59E44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3488436"/>
            <a:ext cx="1796733" cy="2443101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544A30F-D4EB-D59A-37AC-6229A950B4E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2326433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604CA07-6A61-6EE7-9AB7-5D1AC3E61585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2326433" y="3488436"/>
            <a:ext cx="1796733" cy="2443101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C17F671-8B9C-F9FE-AEDA-9A8FBDDADA36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49006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9B651F7-7166-CE84-83FD-8A58F6870DE8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249006" y="3488436"/>
            <a:ext cx="1796733" cy="2443101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CE30FE5-2A66-1ECD-730E-80C2B769357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167769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90F1832-1857-55DA-5830-56D2E0B84073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167769" y="3488436"/>
            <a:ext cx="1796733" cy="2443101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67701D3-6751-E230-8414-4D83FACD1903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86532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D9D2967-C22A-B1DF-008F-37A536CDA2A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8086532" y="3488436"/>
            <a:ext cx="1796733" cy="2443101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64E5050-91BD-1F8D-DCE3-AFCCBA5D49F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10005295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0B501A3-4C30-D139-31F2-53CC077019FD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10005295" y="3488436"/>
            <a:ext cx="1796733" cy="2443101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15441E1C-321B-0C48-3C86-6A2676A09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AB60B1A-071B-35FD-25DB-C518ED2B2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1648641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래픽 4">
            <a:extLst>
              <a:ext uri="{FF2B5EF4-FFF2-40B4-BE49-F238E27FC236}">
                <a16:creationId xmlns:a16="http://schemas.microsoft.com/office/drawing/2014/main" id="{AECFBA4A-72DC-1514-2150-DE3C44E014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63135" y="593396"/>
            <a:ext cx="628253" cy="53304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135" y="1317530"/>
            <a:ext cx="5668962" cy="3758184"/>
          </a:xfrm>
        </p:spPr>
        <p:txBody>
          <a:bodyPr/>
          <a:lstStyle>
            <a:lvl1pPr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00" b="0" spc="-50" baseline="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883" y="4983333"/>
            <a:ext cx="4684467" cy="101484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901CE32-26BB-268E-2590-66DB5ADDF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E639035-43A1-2F9E-CCD8-0EB17F6A3E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78209203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16" y="3485571"/>
            <a:ext cx="5498502" cy="250327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sz="3200" b="0" spc="-50">
                <a:latin typeface="+mj-lt"/>
              </a:defRPr>
            </a:lvl1pPr>
          </a:lstStyle>
          <a:p>
            <a:pPr lvl="0" latinLnBrk="0">
              <a:spcAft>
                <a:spcPts val="0"/>
              </a:spcAft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60655EE7-5FC0-8DDF-88F0-21ECCBD7D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50276" y="393871"/>
            <a:ext cx="5660724" cy="4544842"/>
          </a:xfrm>
          <a:custGeom>
            <a:avLst/>
            <a:gdLst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0 w 5660724"/>
              <a:gd name="connsiteY3" fmla="*/ 4544842 h 4544842"/>
              <a:gd name="connsiteX4" fmla="*/ 0 w 5660724"/>
              <a:gd name="connsiteY4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056464 w 5660724"/>
              <a:gd name="connsiteY3" fmla="*/ 4536269 h 4544842"/>
              <a:gd name="connsiteX4" fmla="*/ 0 w 5660724"/>
              <a:gd name="connsiteY4" fmla="*/ 4544842 h 4544842"/>
              <a:gd name="connsiteX5" fmla="*/ 0 w 5660724"/>
              <a:gd name="connsiteY5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643204 w 5660724"/>
              <a:gd name="connsiteY3" fmla="*/ 452102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231724 w 5660724"/>
              <a:gd name="connsiteY3" fmla="*/ 40714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25144 w 5660724"/>
              <a:gd name="connsiteY3" fmla="*/ 378188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612724 w 5660724"/>
              <a:gd name="connsiteY4" fmla="*/ 452864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34143 w 5660724"/>
              <a:gd name="connsiteY4" fmla="*/ 4442924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771791 w 5660724"/>
              <a:gd name="connsiteY3" fmla="*/ 3971436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113836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72631"/>
              <a:gd name="connsiteY0" fmla="*/ 0 h 4544842"/>
              <a:gd name="connsiteX1" fmla="*/ 5660724 w 5672631"/>
              <a:gd name="connsiteY1" fmla="*/ 0 h 4544842"/>
              <a:gd name="connsiteX2" fmla="*/ 5672631 w 5672631"/>
              <a:gd name="connsiteY2" fmla="*/ 4054305 h 4544842"/>
              <a:gd name="connsiteX3" fmla="*/ 2874185 w 5672631"/>
              <a:gd name="connsiteY3" fmla="*/ 4114311 h 4544842"/>
              <a:gd name="connsiteX4" fmla="*/ 2593674 w 5672631"/>
              <a:gd name="connsiteY4" fmla="*/ 4535793 h 4544842"/>
              <a:gd name="connsiteX5" fmla="*/ 0 w 5672631"/>
              <a:gd name="connsiteY5" fmla="*/ 4544842 h 4544842"/>
              <a:gd name="connsiteX6" fmla="*/ 0 w 5672631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21455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60724" h="4544842">
                <a:moveTo>
                  <a:pt x="0" y="0"/>
                </a:moveTo>
                <a:lnTo>
                  <a:pt x="5660724" y="0"/>
                </a:lnTo>
                <a:lnTo>
                  <a:pt x="5655963" y="4120980"/>
                </a:lnTo>
                <a:lnTo>
                  <a:pt x="2874185" y="4121455"/>
                </a:lnTo>
                <a:lnTo>
                  <a:pt x="2593674" y="4535793"/>
                </a:lnTo>
                <a:lnTo>
                  <a:pt x="0" y="454484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tIns="1280160"/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0276" y="4987818"/>
            <a:ext cx="5660724" cy="730266"/>
          </a:xfrm>
        </p:spPr>
        <p:txBody>
          <a:bodyPr/>
          <a:lstStyle>
            <a:lvl1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1A378F0-4CD0-C4E0-D2F7-5959B577E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E6386AA-AFD4-DD3A-1EA2-E08A19498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4CB02A23-CA94-C535-D36E-6B240D9F35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2732672"/>
            <a:ext cx="628253" cy="53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10920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 Gra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516" y="-300748"/>
            <a:ext cx="564709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16" y="3485571"/>
            <a:ext cx="5498502" cy="250327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sz="3200" b="0" spc="-50">
                <a:latin typeface="+mj-lt"/>
              </a:defRPr>
            </a:lvl1pPr>
          </a:lstStyle>
          <a:p>
            <a:pPr lvl="0" latinLnBrk="0">
              <a:spcAft>
                <a:spcPts val="0"/>
              </a:spcAft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AE626E5-51F6-0BEB-2AFE-FE78E1409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6163970" y="400050"/>
            <a:ext cx="5637503" cy="4521510"/>
          </a:xfrm>
          <a:custGeom>
            <a:avLst/>
            <a:gdLst>
              <a:gd name="connsiteX0" fmla="*/ 0 w 5637503"/>
              <a:gd name="connsiteY0" fmla="*/ 0 h 4521510"/>
              <a:gd name="connsiteX1" fmla="*/ 5637503 w 5637503"/>
              <a:gd name="connsiteY1" fmla="*/ 0 h 4521510"/>
              <a:gd name="connsiteX2" fmla="*/ 5636321 w 5637503"/>
              <a:gd name="connsiteY2" fmla="*/ 2101892 h 4521510"/>
              <a:gd name="connsiteX3" fmla="*/ 5635136 w 5637503"/>
              <a:gd name="connsiteY3" fmla="*/ 4208474 h 4521510"/>
              <a:gd name="connsiteX4" fmla="*/ 2786509 w 5637503"/>
              <a:gd name="connsiteY4" fmla="*/ 4206576 h 4521510"/>
              <a:gd name="connsiteX5" fmla="*/ 2583036 w 5637503"/>
              <a:gd name="connsiteY5" fmla="*/ 4512498 h 4521510"/>
              <a:gd name="connsiteX6" fmla="*/ 0 w 5637503"/>
              <a:gd name="connsiteY6" fmla="*/ 4521510 h 4521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37503" h="4521510">
                <a:moveTo>
                  <a:pt x="0" y="0"/>
                </a:moveTo>
                <a:lnTo>
                  <a:pt x="5637503" y="0"/>
                </a:lnTo>
                <a:lnTo>
                  <a:pt x="5636321" y="2101892"/>
                </a:lnTo>
                <a:cubicBezTo>
                  <a:pt x="5636518" y="2804481"/>
                  <a:pt x="5636716" y="3507070"/>
                  <a:pt x="5635136" y="4208474"/>
                </a:cubicBezTo>
                <a:lnTo>
                  <a:pt x="2786509" y="4206576"/>
                </a:lnTo>
                <a:lnTo>
                  <a:pt x="2583036" y="4512498"/>
                </a:lnTo>
                <a:lnTo>
                  <a:pt x="0" y="452151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1280160" bIns="2743200" anchor="t" anchorCtr="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0276" y="4987818"/>
            <a:ext cx="5660724" cy="730266"/>
          </a:xfrm>
        </p:spPr>
        <p:txBody>
          <a:bodyPr/>
          <a:lstStyle>
            <a:lvl1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7A1FB0A-E7CA-63CD-DB09-C9F16CA91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181BCA3-5F06-69DF-905E-B2F051857A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F270A733-09D9-897F-C8C2-69F83980D5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2732672"/>
            <a:ext cx="628253" cy="53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5488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743AD5A7-567D-9EC7-BECB-71D2480F2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7339CEB-91F9-B7FD-86D6-A4C114DA3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3536" y="400051"/>
            <a:ext cx="6078018" cy="5024273"/>
          </a:xfrm>
          <a:custGeom>
            <a:avLst/>
            <a:gdLst>
              <a:gd name="connsiteX0" fmla="*/ 0 w 6078018"/>
              <a:gd name="connsiteY0" fmla="*/ 0 h 5024273"/>
              <a:gd name="connsiteX1" fmla="*/ 6078018 w 6078018"/>
              <a:gd name="connsiteY1" fmla="*/ 0 h 5024273"/>
              <a:gd name="connsiteX2" fmla="*/ 6078018 w 6078018"/>
              <a:gd name="connsiteY2" fmla="*/ 4662902 h 5024273"/>
              <a:gd name="connsiteX3" fmla="*/ 3041951 w 6078018"/>
              <a:gd name="connsiteY3" fmla="*/ 4663975 h 5024273"/>
              <a:gd name="connsiteX4" fmla="*/ 2829053 w 6078018"/>
              <a:gd name="connsiteY4" fmla="*/ 5023866 h 5024273"/>
              <a:gd name="connsiteX5" fmla="*/ 0 w 6078018"/>
              <a:gd name="connsiteY5" fmla="*/ 5024273 h 502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78018" h="5024273">
                <a:moveTo>
                  <a:pt x="0" y="0"/>
                </a:moveTo>
                <a:lnTo>
                  <a:pt x="6078018" y="0"/>
                </a:lnTo>
                <a:lnTo>
                  <a:pt x="6078018" y="4662902"/>
                </a:lnTo>
                <a:lnTo>
                  <a:pt x="3041951" y="4663975"/>
                </a:lnTo>
                <a:lnTo>
                  <a:pt x="2829053" y="5023866"/>
                </a:lnTo>
                <a:lnTo>
                  <a:pt x="0" y="502427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411480" tIns="1170432" rIns="365760">
            <a:noAutofit/>
          </a:bodyPr>
          <a:lstStyle>
            <a:lvl1pPr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0" spc="-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9197" y="4470739"/>
            <a:ext cx="4704858" cy="51083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961284F9-299F-5762-4D10-4246CB963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7F89228-5FCD-F6E6-C031-BAD76F488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10930C58-035E-8597-4888-0400EC94B94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59197" y="769470"/>
            <a:ext cx="628253" cy="53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2572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694" y="4463448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1192" y="737608"/>
            <a:ext cx="5671976" cy="4744821"/>
          </a:xfrm>
          <a:prstGeom prst="rect">
            <a:avLst/>
          </a:prstGeom>
          <a:noFill/>
        </p:spPr>
        <p:txBody>
          <a:bodyPr/>
          <a:lstStyle>
            <a:lvl1pPr latinLnBrk="0">
              <a:lnSpc>
                <a:spcPct val="100000"/>
              </a:lnSpc>
              <a:spcAft>
                <a:spcPts val="0"/>
              </a:spcAft>
              <a:defRPr sz="6600" b="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E1340CD9-3B8A-B030-B8FC-EAD510678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27C7C1E-51AB-5CD6-ECC2-15496D90CF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28088497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2">
    <p:bg>
      <p:bgPr>
        <a:solidFill>
          <a:srgbClr val="DFE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 vert="horz" lIns="0" tIns="0" rIns="91440" bIns="0" rtlCol="0">
            <a:noAutofit/>
          </a:bodyPr>
          <a:lstStyle>
            <a:lvl1pPr>
              <a:defRPr lang="ko-KR" altLang="en-US" sz="6600" b="0" dirty="0">
                <a:latin typeface="+mj-lt"/>
              </a:defRPr>
            </a:lvl1pPr>
          </a:lstStyle>
          <a:p>
            <a:pPr lvl="0" latinLnBrk="0">
              <a:spcAft>
                <a:spcPts val="0"/>
              </a:spcAft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8206B60F-A556-76A5-2FBC-4C736F4B1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580D993-B3C4-0C87-4A56-2CC4C2624C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93239221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3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 vert="horz" lIns="0" tIns="0" rIns="91440" bIns="0" rtlCol="0">
            <a:noAutofit/>
          </a:bodyPr>
          <a:lstStyle>
            <a:lvl1pPr>
              <a:defRPr lang="ko-KR" altLang="en-US" sz="6600" b="0" dirty="0">
                <a:latin typeface="+mj-lt"/>
              </a:defRPr>
            </a:lvl1pPr>
          </a:lstStyle>
          <a:p>
            <a:pPr lvl="0" latinLnBrk="0">
              <a:spcAft>
                <a:spcPts val="0"/>
              </a:spcAft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427FF8A-B4F7-3F6B-6AC3-2F7EC1DCA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78B61B2-F9F6-50DC-CA56-B1A105AF0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114749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F2C136D6-EB53-8EAB-067D-F21D72B54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 vert="horz" lIns="0" tIns="0" rIns="91440" bIns="0" rtlCol="0">
            <a:noAutofit/>
          </a:bodyPr>
          <a:lstStyle>
            <a:lvl1pPr>
              <a:defRPr lang="ko-KR" altLang="en-US" sz="6600" b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latinLnBrk="0">
              <a:spcAft>
                <a:spcPts val="0"/>
              </a:spcAft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C1E67C1D-7D69-01C7-F212-8FD6EC41D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F4249B3-38D3-D354-9630-B932DAC192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76293764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D055151-7117-866F-6824-F774A7F56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84" y="3480486"/>
            <a:ext cx="4499480" cy="2458352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96854-0B82-0332-CB0D-B653A0471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5199063" y="400050"/>
            <a:ext cx="6614842" cy="5539040"/>
          </a:xfrm>
          <a:custGeom>
            <a:avLst/>
            <a:gdLst>
              <a:gd name="connsiteX0" fmla="*/ 2370 w 6614842"/>
              <a:gd name="connsiteY0" fmla="*/ 0 h 5539040"/>
              <a:gd name="connsiteX1" fmla="*/ 6614842 w 6614842"/>
              <a:gd name="connsiteY1" fmla="*/ 0 h 5539040"/>
              <a:gd name="connsiteX2" fmla="*/ 6611213 w 6614842"/>
              <a:gd name="connsiteY2" fmla="*/ 5179084 h 5539040"/>
              <a:gd name="connsiteX3" fmla="*/ 3320084 w 6614842"/>
              <a:gd name="connsiteY3" fmla="*/ 5175675 h 5539040"/>
              <a:gd name="connsiteX4" fmla="*/ 3075776 w 6614842"/>
              <a:gd name="connsiteY4" fmla="*/ 5539040 h 5539040"/>
              <a:gd name="connsiteX5" fmla="*/ 0 w 6614842"/>
              <a:gd name="connsiteY5" fmla="*/ 5536403 h 5539040"/>
              <a:gd name="connsiteX6" fmla="*/ 2078 w 6614842"/>
              <a:gd name="connsiteY6" fmla="*/ 2755139 h 553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42" h="5539040">
                <a:moveTo>
                  <a:pt x="2370" y="0"/>
                </a:moveTo>
                <a:lnTo>
                  <a:pt x="6614842" y="0"/>
                </a:lnTo>
                <a:lnTo>
                  <a:pt x="6611213" y="5179084"/>
                </a:lnTo>
                <a:lnTo>
                  <a:pt x="3320084" y="5175675"/>
                </a:lnTo>
                <a:lnTo>
                  <a:pt x="3075776" y="5539040"/>
                </a:lnTo>
                <a:lnTo>
                  <a:pt x="0" y="5536403"/>
                </a:lnTo>
                <a:cubicBezTo>
                  <a:pt x="1583" y="4615367"/>
                  <a:pt x="1979" y="3686592"/>
                  <a:pt x="2078" y="275513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83E901E5-0C0F-02C2-6E8B-66E81BE06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94D1C47-791A-4FC0-C33B-8D876A009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24188109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2336"/>
            <a:ext cx="3737453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E1A1E6-6268-D4D9-C145-1013364B1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670" y="2979420"/>
            <a:ext cx="3727450" cy="262096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400"/>
            </a:lvl1pPr>
            <a:lvl2pPr>
              <a:defRPr sz="1400">
                <a:latin typeface="+mj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A2383-F769-2E5D-64C9-71C8F2AC6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5199063" y="402336"/>
            <a:ext cx="6614837" cy="5532376"/>
          </a:xfrm>
          <a:custGeom>
            <a:avLst/>
            <a:gdLst>
              <a:gd name="connsiteX0" fmla="*/ 2369 w 6614837"/>
              <a:gd name="connsiteY0" fmla="*/ 0 h 5532376"/>
              <a:gd name="connsiteX1" fmla="*/ 6614837 w 6614837"/>
              <a:gd name="connsiteY1" fmla="*/ 0 h 5532376"/>
              <a:gd name="connsiteX2" fmla="*/ 6611213 w 6614837"/>
              <a:gd name="connsiteY2" fmla="*/ 5172420 h 5532376"/>
              <a:gd name="connsiteX3" fmla="*/ 3320084 w 6614837"/>
              <a:gd name="connsiteY3" fmla="*/ 5169011 h 5532376"/>
              <a:gd name="connsiteX4" fmla="*/ 3075776 w 6614837"/>
              <a:gd name="connsiteY4" fmla="*/ 5532376 h 5532376"/>
              <a:gd name="connsiteX5" fmla="*/ 0 w 6614837"/>
              <a:gd name="connsiteY5" fmla="*/ 5529739 h 5532376"/>
              <a:gd name="connsiteX6" fmla="*/ 2078 w 6614837"/>
              <a:gd name="connsiteY6" fmla="*/ 2748475 h 553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37" h="5532376">
                <a:moveTo>
                  <a:pt x="2369" y="0"/>
                </a:moveTo>
                <a:lnTo>
                  <a:pt x="6614837" y="0"/>
                </a:lnTo>
                <a:lnTo>
                  <a:pt x="6611213" y="5172420"/>
                </a:lnTo>
                <a:lnTo>
                  <a:pt x="3320084" y="5169011"/>
                </a:lnTo>
                <a:lnTo>
                  <a:pt x="3075776" y="5532376"/>
                </a:lnTo>
                <a:lnTo>
                  <a:pt x="0" y="5529739"/>
                </a:lnTo>
                <a:cubicBezTo>
                  <a:pt x="1583" y="4608703"/>
                  <a:pt x="1979" y="3679928"/>
                  <a:pt x="2078" y="274847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BF37CFFA-3D80-3409-C50E-D2A382F26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5804F4D-E855-71FB-DFF6-DAD75ADD3F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4507710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2457451"/>
            <a:ext cx="2767808" cy="76581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latinLnBrk="0">
              <a:defRPr lang="en-US" b="1" dirty="0"/>
            </a:lvl1pPr>
          </a:lstStyle>
          <a:p>
            <a:pPr lvl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E1A1E6-6268-D4D9-C145-1013364B1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669" y="3492183"/>
            <a:ext cx="2757805" cy="2115820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400" b="0">
                <a:latin typeface="+mj-lt"/>
              </a:defRPr>
            </a:lvl1pPr>
            <a:lvl2pPr>
              <a:defRPr sz="1200">
                <a:latin typeface="+mn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0A1C61F-1977-8EC5-355B-66B6908EB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8FF515D-AF08-494F-FFD1-C5F2FEFB4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3288471" y="400050"/>
            <a:ext cx="8513514" cy="5540196"/>
          </a:xfrm>
          <a:custGeom>
            <a:avLst/>
            <a:gdLst>
              <a:gd name="connsiteX0" fmla="*/ 3049 w 8513514"/>
              <a:gd name="connsiteY0" fmla="*/ 0 h 5540196"/>
              <a:gd name="connsiteX1" fmla="*/ 8513003 w 8513514"/>
              <a:gd name="connsiteY1" fmla="*/ 0 h 5540196"/>
              <a:gd name="connsiteX2" fmla="*/ 8512994 w 8513514"/>
              <a:gd name="connsiteY2" fmla="*/ 10458 h 5540196"/>
              <a:gd name="connsiteX3" fmla="*/ 8513514 w 8513514"/>
              <a:gd name="connsiteY3" fmla="*/ 10458 h 5540196"/>
              <a:gd name="connsiteX4" fmla="*/ 8508849 w 8513514"/>
              <a:gd name="connsiteY4" fmla="*/ 5182877 h 5540196"/>
              <a:gd name="connsiteX5" fmla="*/ 4273312 w 8513514"/>
              <a:gd name="connsiteY5" fmla="*/ 5179468 h 5540196"/>
              <a:gd name="connsiteX6" fmla="*/ 4037481 w 8513514"/>
              <a:gd name="connsiteY6" fmla="*/ 5538070 h 5540196"/>
              <a:gd name="connsiteX7" fmla="*/ 511 w 8513514"/>
              <a:gd name="connsiteY7" fmla="*/ 5540196 h 5540196"/>
              <a:gd name="connsiteX8" fmla="*/ 527 w 8513514"/>
              <a:gd name="connsiteY8" fmla="*/ 5529738 h 5540196"/>
              <a:gd name="connsiteX9" fmla="*/ 0 w 8513514"/>
              <a:gd name="connsiteY9" fmla="*/ 5529738 h 5540196"/>
              <a:gd name="connsiteX10" fmla="*/ 2674 w 8513514"/>
              <a:gd name="connsiteY10" fmla="*/ 2748474 h 554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13514" h="5540196">
                <a:moveTo>
                  <a:pt x="3049" y="0"/>
                </a:moveTo>
                <a:lnTo>
                  <a:pt x="8513003" y="0"/>
                </a:lnTo>
                <a:lnTo>
                  <a:pt x="8512994" y="10458"/>
                </a:lnTo>
                <a:lnTo>
                  <a:pt x="8513514" y="10458"/>
                </a:lnTo>
                <a:lnTo>
                  <a:pt x="8508849" y="5182877"/>
                </a:lnTo>
                <a:lnTo>
                  <a:pt x="4273312" y="5179468"/>
                </a:lnTo>
                <a:lnTo>
                  <a:pt x="4037481" y="5538070"/>
                </a:lnTo>
                <a:lnTo>
                  <a:pt x="511" y="5540196"/>
                </a:lnTo>
                <a:lnTo>
                  <a:pt x="527" y="5529738"/>
                </a:lnTo>
                <a:lnTo>
                  <a:pt x="0" y="5529738"/>
                </a:lnTo>
                <a:cubicBezTo>
                  <a:pt x="2037" y="4608702"/>
                  <a:pt x="2547" y="3679927"/>
                  <a:pt x="2674" y="274847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188720" tIns="1554480" rIns="118872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3CEF231-6669-F7D4-2B96-EB3B03BA96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1419652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50275" y="918220"/>
            <a:ext cx="5660723" cy="184665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276" y="2433637"/>
            <a:ext cx="5660724" cy="3027363"/>
          </a:xfrm>
          <a:noFill/>
        </p:spPr>
        <p:txBody>
          <a:bodyPr vert="horz" lIns="0" tIns="0" rIns="91440" bIns="0" rtlCol="0">
            <a:noAutofit/>
          </a:bodyPr>
          <a:lstStyle>
            <a:lvl1pPr>
              <a:spcAft>
                <a:spcPts val="0"/>
              </a:spcAft>
              <a:defRPr lang="ko-KR" altLang="en-US" sz="6600" b="0">
                <a:latin typeface="+mj-lt"/>
              </a:defRPr>
            </a:lvl1pPr>
          </a:lstStyle>
          <a:p>
            <a:pPr lvl="0" latinLnBrk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AC9A00F-F989-8AFC-7652-904E0B2E4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37C9592-01FB-4A3C-B7D0-60D0B86B7CC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967" y="4513993"/>
            <a:ext cx="4684384" cy="143271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sz="1800" smtClean="0"/>
            </a:lvl1pPr>
            <a:lvl2pPr>
              <a:defRPr lang="ko-KR" altLang="en-US" sz="1800" b="0" smtClean="0">
                <a:latin typeface="+mj-lt"/>
              </a:defRPr>
            </a:lvl2pPr>
          </a:lstStyle>
          <a:p>
            <a:pPr lvl="0">
              <a:spcAft>
                <a:spcPts val="0"/>
              </a:spcAft>
            </a:pPr>
            <a:r>
              <a:rPr lang="ko-KR" altLang="en-US"/>
              <a:t>마스터 텍스트 스타일을 편집하려면 클릭</a:t>
            </a:r>
          </a:p>
          <a:p>
            <a:pPr lvl="1">
              <a:spcAft>
                <a:spcPts val="0"/>
              </a:spcAft>
            </a:pPr>
            <a:r>
              <a:rPr lang="ko-KR" altLang="en-US"/>
              <a:t>두 번째 수준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A64F92D-ACD0-2F2F-FAEB-B7C6632426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22750512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967" y="4513993"/>
            <a:ext cx="4684384" cy="143271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50275" y="918220"/>
            <a:ext cx="5651199" cy="184665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276" y="2433637"/>
            <a:ext cx="5660724" cy="3027363"/>
          </a:xfrm>
          <a:noFill/>
        </p:spPr>
        <p:txBody>
          <a:bodyPr vert="horz" lIns="0" tIns="0" rIns="91440" bIns="0" rtlCol="0">
            <a:noAutofit/>
          </a:bodyPr>
          <a:lstStyle>
            <a:lvl1pPr>
              <a:defRPr lang="ko-KR" altLang="en-US" sz="6600" b="0" dirty="0">
                <a:latin typeface="+mj-lt"/>
              </a:defRPr>
            </a:lvl1pPr>
          </a:lstStyle>
          <a:p>
            <a:pPr lvl="0" latinLnBrk="0">
              <a:spcAft>
                <a:spcPts val="0"/>
              </a:spcAft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E9F5B4A-B723-2879-D7EE-D016027E2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4B1BA28-FBEC-E69D-91E4-0B45C0B672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063322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69B2012-7A09-E6A5-2473-4DB6823B0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806524E-A06F-7FE8-9CD5-2244991C1E3D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07670" y="3492183"/>
            <a:ext cx="3719830" cy="2446655"/>
          </a:xfrm>
        </p:spPr>
        <p:txBody>
          <a:bodyPr/>
          <a:lstStyle>
            <a:lvl1pPr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099A4469-274E-EB1F-F85D-D95E959AA1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99978" y="1424941"/>
            <a:ext cx="1804072" cy="1432560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0678072-A6EC-A7CF-E412-0D3F27A1A0A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127838" y="1446213"/>
            <a:ext cx="3711612" cy="14112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750FAC0A-93E6-9A08-7990-0346002AB7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9978" y="2981643"/>
            <a:ext cx="1804072" cy="1432560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62FE28B-1451-7A6D-A415-8DE9235897A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127838" y="2979420"/>
            <a:ext cx="3711612" cy="14112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C66DD72C-97BB-14F2-361C-2441F75A432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99978" y="4521518"/>
            <a:ext cx="1804072" cy="1432560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DD78EAE-A704-D3CE-D6AA-6E6E52DCA21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127838" y="4519931"/>
            <a:ext cx="3711612" cy="14112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3EB5F658-B8CE-7FB5-990E-79F690D1E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03E1692-F26F-FA4E-9EAC-FCCE6F6776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63294810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Large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44092"/>
            <a:ext cx="4688683" cy="24490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4000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5533" y="880660"/>
            <a:ext cx="5636494" cy="204542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200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A318CA9E-32E8-938F-0187-CE5990310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440408-8D82-6FAB-8574-86AD0978A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65850" y="3500447"/>
            <a:ext cx="5635625" cy="243839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4B7A958-D841-4E70-411D-B4894E2BE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67308460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9218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4000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8350" y="400050"/>
            <a:ext cx="4683125" cy="2970213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/>
              <a:t>0,000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8C705A-7501-8BB2-360F-85F75D8C54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37638" y="3484563"/>
            <a:ext cx="2757487" cy="193992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3CB4B1C-FADE-E38B-512B-139985C053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5736967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9218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latinLnBrk="0">
              <a:lnSpc>
                <a:spcPct val="100000"/>
              </a:lnSpc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400050"/>
            <a:ext cx="2765424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57450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6051" y="400050"/>
            <a:ext cx="2765424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57450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6051" y="3308287"/>
            <a:ext cx="2765424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0560841-DF72-7C47-0883-6455DB3A86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0732290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ACEF0AF-E2A8-B95F-9038-793C9FF94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448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99FF79-E280-3938-1C31-43318E483BD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7448" y="3497972"/>
            <a:ext cx="3310128" cy="275234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47643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10A441-AAF8-956B-4228-2D18EE68948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7643" y="3497972"/>
            <a:ext cx="3310128" cy="275234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087598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0B2565-5D1B-BDBB-F14A-0C38A487F36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087598" y="3497972"/>
            <a:ext cx="3310128" cy="275234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C3656C8-113A-5B0F-0D22-1816DB8058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8862781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5B5614F-1512-8F64-6245-6374F3844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448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99FF79-E280-3938-1C31-43318E483BD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7448" y="3499316"/>
            <a:ext cx="2378112" cy="275234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88624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10A441-AAF8-956B-4228-2D18EE68948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288624" y="3499316"/>
            <a:ext cx="2378112" cy="275234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69800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0B2565-5D1B-BDBB-F14A-0C38A487F36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69800" y="3499316"/>
            <a:ext cx="2378112" cy="275234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1C89EB2-461C-D9DB-DBF2-EA17EA40A6C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9050976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19B3672-1BF6-5E8D-DC7D-048381D2695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050976" y="3499316"/>
            <a:ext cx="2378112" cy="275234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3" name="Slide Number Placeholder 13">
            <a:extLst>
              <a:ext uri="{FF2B5EF4-FFF2-40B4-BE49-F238E27FC236}">
                <a16:creationId xmlns:a16="http://schemas.microsoft.com/office/drawing/2014/main" id="{B4612D97-4010-1226-69CD-B037A384C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57DA70E-92A2-7A84-9955-F87BB5A1D4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80488923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9F1385C-E183-4949-1E52-945BDAAE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425" y="3495320"/>
            <a:ext cx="3719076" cy="245145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99063" y="1946275"/>
            <a:ext cx="5640387" cy="3992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ko-KR" altLang="en-US"/>
              <a:t>차트를 추가하려면 아이콘을 클릭하십시오</a:t>
            </a:r>
            <a:endParaRPr lang="en-US"/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E1C7458-6D6B-D813-4D02-F5EE7C8BA9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1615082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78DDC8F-4B6A-28FC-A391-BC1BA031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1484" y="1970667"/>
            <a:ext cx="2696610" cy="240347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E07336A-CA43-BA10-15BC-4A7C003A234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11484" y="4513263"/>
            <a:ext cx="2752324" cy="143351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88643" y="1970667"/>
            <a:ext cx="2696610" cy="240347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288663-0E16-0C59-085F-F9A84A37B9F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288643" y="4513263"/>
            <a:ext cx="2752324" cy="143351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65802" y="1970667"/>
            <a:ext cx="2696610" cy="240347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38614DA-316C-FC85-3F42-B262BEAC7A89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6165805" y="4513263"/>
            <a:ext cx="2752324" cy="143351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42961" y="1970667"/>
            <a:ext cx="2696610" cy="240347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19D1C7E-BE40-062C-9607-4651359E8EAD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050247" y="4513263"/>
            <a:ext cx="2752324" cy="143351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BA29514-D6C0-349D-E9F2-F579ABD4AE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8830786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78DDC8F-4B6A-28FC-A391-BC1BA031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39874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1484" y="1442398"/>
            <a:ext cx="2696610" cy="1927865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288663-0E16-0C59-085F-F9A84A37B9F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288643" y="1433352"/>
            <a:ext cx="2752324" cy="1928779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11484" y="3494738"/>
            <a:ext cx="2696610" cy="1927865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31502B-FAB9-8313-90B7-D7C06363AE17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3288643" y="3495709"/>
            <a:ext cx="2752324" cy="1928779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66924" y="1442398"/>
            <a:ext cx="2696610" cy="1927865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DF40A1F-2110-372D-0359-94789B6D9CD7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049151" y="1433352"/>
            <a:ext cx="2752324" cy="1928779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66924" y="3494738"/>
            <a:ext cx="2696610" cy="1927865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CAFF494-77C5-F797-6FAA-D4D42743AB5D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9044083" y="3495709"/>
            <a:ext cx="2752324" cy="1928779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E439D45-6E17-4197-9306-6ED7851D5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6636444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5E5D8444-089B-403E-0473-39C612391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436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93A30CA-76EA-28B6-17BA-824389C17D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201321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CA66A1-E1BB-BD5A-7C86-A2988E18B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ko-KR" altLang="en-US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0FA7DA-BA20-E953-EC95-F6C7E57F63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55D19F-ED8E-4EF2-B32E-7AA3DEAADEF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75CEC34-E8FA-2FBE-3C03-D07B02298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049" y="917575"/>
            <a:ext cx="11401425" cy="40005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CF365F2-A93D-8409-F17E-FBF381E60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6767712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49962D1-3866-8382-AE37-FC366FF57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2222ABF-B741-7AB3-39B1-0394B867B9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074402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357742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>
            <a:extLst>
              <a:ext uri="{FF2B5EF4-FFF2-40B4-BE49-F238E27FC236}">
                <a16:creationId xmlns:a16="http://schemas.microsoft.com/office/drawing/2014/main" id="{F8F99880-94B3-9D84-6F85-4EE14C59C385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430" y="1946275"/>
            <a:ext cx="8520907" cy="1482725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6600" dirty="0"/>
            </a:lvl1pPr>
          </a:lstStyle>
          <a:p>
            <a:pPr lvl="0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97150" y="4823926"/>
            <a:ext cx="6604325" cy="1655540"/>
          </a:xfrm>
        </p:spPr>
        <p:txBody>
          <a:bodyPr bIns="36576" anchor="b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1100" b="0" baseline="0">
                <a:latin typeface="+mj-lt"/>
                <a:ea typeface="+mj-ea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legal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54D0A-AFA5-B7A6-3DF8-C43FD1F0FFED}"/>
              </a:ext>
            </a:extLst>
          </p:cNvPr>
          <p:cNvSpPr txBox="1"/>
          <p:nvPr userDrawn="1"/>
        </p:nvSpPr>
        <p:spPr>
          <a:xfrm>
            <a:off x="402431" y="6216754"/>
            <a:ext cx="1805782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samil.com</a:t>
            </a:r>
          </a:p>
        </p:txBody>
      </p:sp>
    </p:spTree>
    <p:extLst>
      <p:ext uri="{BB962C8B-B14F-4D97-AF65-F5344CB8AC3E}">
        <p14:creationId xmlns:p14="http://schemas.microsoft.com/office/powerpoint/2010/main" val="333218063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431" y="1428750"/>
            <a:ext cx="8520907" cy="1933344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6600" dirty="0"/>
            </a:lvl1pPr>
          </a:lstStyle>
          <a:p>
            <a:pPr lvl="0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432" y="3490335"/>
            <a:ext cx="8520908" cy="142297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1805782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samil.com</a:t>
            </a:r>
          </a:p>
        </p:txBody>
      </p:sp>
    </p:spTree>
    <p:extLst>
      <p:ext uri="{BB962C8B-B14F-4D97-AF65-F5344CB8AC3E}">
        <p14:creationId xmlns:p14="http://schemas.microsoft.com/office/powerpoint/2010/main" val="150546907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431" y="1957425"/>
            <a:ext cx="5229304" cy="2441537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6600" dirty="0"/>
            </a:lvl1pPr>
          </a:lstStyle>
          <a:p>
            <a:pPr lvl="0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7914" y="1957425"/>
            <a:ext cx="4681536" cy="2441538"/>
          </a:xfrm>
        </p:spPr>
        <p:txBody>
          <a:bodyPr vert="horz" lIns="0" tIns="0" rIns="91440" bIns="0" rtlCol="0">
            <a:noAutofit/>
          </a:bodyPr>
          <a:lstStyle>
            <a:lvl1pPr>
              <a:defRPr lang="en-US" sz="2400" dirty="0"/>
            </a:lvl1pPr>
          </a:lstStyle>
          <a:p>
            <a:pPr lvl="0">
              <a:spcAft>
                <a:spcPts val="0"/>
              </a:spcAft>
            </a:pPr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E5574E-8DFA-E647-0C62-275E06AA6E45}"/>
              </a:ext>
            </a:extLst>
          </p:cNvPr>
          <p:cNvSpPr txBox="1"/>
          <p:nvPr userDrawn="1"/>
        </p:nvSpPr>
        <p:spPr>
          <a:xfrm>
            <a:off x="402431" y="6216754"/>
            <a:ext cx="1805782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samil.com</a:t>
            </a:r>
          </a:p>
        </p:txBody>
      </p:sp>
    </p:spTree>
    <p:extLst>
      <p:ext uri="{BB962C8B-B14F-4D97-AF65-F5344CB8AC3E}">
        <p14:creationId xmlns:p14="http://schemas.microsoft.com/office/powerpoint/2010/main" val="57082659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0978934B-5525-9236-62EF-C2B06F0BC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3582" y="400050"/>
            <a:ext cx="11387893" cy="3484563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582" y="4410115"/>
            <a:ext cx="5630031" cy="1541462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6600" dirty="0"/>
            </a:lvl1pPr>
          </a:lstStyle>
          <a:p>
            <a:pPr lvl="0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9939" y="4410114"/>
            <a:ext cx="4681536" cy="1541463"/>
          </a:xfrm>
        </p:spPr>
        <p:txBody>
          <a:bodyPr vert="horz" lIns="0" tIns="0" rIns="91440" bIns="0" rtlCol="0">
            <a:noAutofit/>
          </a:bodyPr>
          <a:lstStyle>
            <a:lvl1pPr>
              <a:defRPr lang="en-US" sz="2400" dirty="0"/>
            </a:lvl1pPr>
          </a:lstStyle>
          <a:p>
            <a:pPr lvl="0">
              <a:spcAft>
                <a:spcPts val="0"/>
              </a:spcAft>
            </a:pPr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3F52AF-25E6-89D0-6353-29F84C0B72E7}"/>
              </a:ext>
            </a:extLst>
          </p:cNvPr>
          <p:cNvSpPr txBox="1"/>
          <p:nvPr userDrawn="1"/>
        </p:nvSpPr>
        <p:spPr>
          <a:xfrm>
            <a:off x="402431" y="6216754"/>
            <a:ext cx="1805782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samil.com</a:t>
            </a:r>
          </a:p>
        </p:txBody>
      </p:sp>
    </p:spTree>
    <p:extLst>
      <p:ext uri="{BB962C8B-B14F-4D97-AF65-F5344CB8AC3E}">
        <p14:creationId xmlns:p14="http://schemas.microsoft.com/office/powerpoint/2010/main" val="91907270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1873B9CA-C271-768C-0B16-88845540153B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7"/>
            <a:ext cx="9482934" cy="4009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665" y="1946276"/>
            <a:ext cx="9482935" cy="399256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37DF15-6EE7-BB6F-218E-E221CDD6785D}"/>
              </a:ext>
            </a:extLst>
          </p:cNvPr>
          <p:cNvSpPr txBox="1"/>
          <p:nvPr userDrawn="1"/>
        </p:nvSpPr>
        <p:spPr>
          <a:xfrm>
            <a:off x="402431" y="6216754"/>
            <a:ext cx="1805782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samil.com</a:t>
            </a:r>
          </a:p>
        </p:txBody>
      </p:sp>
    </p:spTree>
    <p:extLst>
      <p:ext uri="{BB962C8B-B14F-4D97-AF65-F5344CB8AC3E}">
        <p14:creationId xmlns:p14="http://schemas.microsoft.com/office/powerpoint/2010/main" val="37802608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471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6606382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668" y="1953895"/>
            <a:ext cx="6606382" cy="3984943"/>
          </a:xfrm>
          <a:prstGeom prst="rect">
            <a:avLst/>
          </a:prstGeom>
        </p:spPr>
        <p:txBody>
          <a:bodyPr vert="horz" lIns="0" tIns="0" rIns="91440" bIns="0" rtlCol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853047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Samil 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271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en-US" altLang="en-US" sz="2800" b="1" kern="1200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1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lang="ko-KR" altLang="en-US" sz="1400" b="1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1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lang="ko-KR" altLang="en-US" sz="14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1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ko-KR" altLang="en-US" sz="14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1" hangingPunct="1">
        <a:lnSpc>
          <a:spcPct val="100000"/>
        </a:lnSpc>
        <a:spcBef>
          <a:spcPts val="0"/>
        </a:spcBef>
        <a:spcAft>
          <a:spcPts val="1200"/>
        </a:spcAft>
        <a:buFont typeface="Georgia" panose="02040502050405020303" pitchFamily="18" charset="0"/>
        <a:buChar char="–"/>
        <a:defRPr lang="ko-KR" altLang="en-US" sz="14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1" hangingPunct="1">
        <a:lnSpc>
          <a:spcPct val="10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Char char="§"/>
        <a:defRPr lang="en-US" alt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8.xml"/><Relationship Id="rId5" Type="http://schemas.openxmlformats.org/officeDocument/2006/relationships/image" Target="../media/image7.sv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4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6">
            <a:lumMod val="75000"/>
            <a:alpha val="37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F8867C-3856-C0D9-DCE0-ADBD5C0B6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we do">
            <a:extLst>
              <a:ext uri="{FF2B5EF4-FFF2-40B4-BE49-F238E27FC236}">
                <a16:creationId xmlns:a16="http://schemas.microsoft.com/office/drawing/2014/main" id="{1D80B9A7-8ECC-DD73-2415-CA1EF7B6D1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210" r="6225" b="15608"/>
          <a:stretch>
            <a:fillRect/>
          </a:stretch>
        </p:blipFill>
        <p:spPr bwMode="auto">
          <a:xfrm>
            <a:off x="0" y="0"/>
            <a:ext cx="12306676" cy="6984124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035" name="Slide Number Placeholder 4">
            <a:extLst>
              <a:ext uri="{FF2B5EF4-FFF2-40B4-BE49-F238E27FC236}">
                <a16:creationId xmlns:a16="http://schemas.microsoft.com/office/drawing/2014/main" id="{711DE19C-48C2-E518-0197-29733095E9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</p:spPr>
        <p:txBody>
          <a:bodyPr/>
          <a:lstStyle/>
          <a:p>
            <a:pPr>
              <a:spcAft>
                <a:spcPts val="600"/>
              </a:spcAft>
            </a:pPr>
            <a:fld id="{3E6AC032-1535-134B-A583-D5E1DDD0D167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F89A4BF-7160-50B2-D1A6-E41CC202FB92}"/>
              </a:ext>
            </a:extLst>
          </p:cNvPr>
          <p:cNvSpPr/>
          <p:nvPr/>
        </p:nvSpPr>
        <p:spPr>
          <a:xfrm>
            <a:off x="0" y="0"/>
            <a:ext cx="12306676" cy="6984124"/>
          </a:xfrm>
          <a:prstGeom prst="rect">
            <a:avLst/>
          </a:prstGeom>
          <a:solidFill>
            <a:schemeClr val="accent4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DBF121-4939-9A21-A839-230CC776A6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3866" y="586999"/>
            <a:ext cx="6313774" cy="281866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5400" b="1" noProof="0"/>
              <a:t>Hanwha</a:t>
            </a:r>
            <a:r>
              <a:rPr lang="ko-KR" altLang="en-US" sz="5400" b="1" noProof="0"/>
              <a:t> </a:t>
            </a:r>
            <a:r>
              <a:rPr lang="en-US" altLang="ko-KR" sz="5400" b="1" noProof="0"/>
              <a:t>Ocean</a:t>
            </a:r>
            <a:r>
              <a:rPr lang="en-US" altLang="ko-KR" sz="5400" b="1"/>
              <a:t>:</a:t>
            </a:r>
            <a:br>
              <a:rPr lang="en-US" altLang="ko-KR" sz="5400" b="1"/>
            </a:br>
            <a:r>
              <a:rPr lang="en-US" altLang="ko-KR" sz="5400" b="1"/>
              <a:t>Accounting Early-Warning AI</a:t>
            </a:r>
            <a:endParaRPr lang="en-GB" sz="5400" b="1" noProof="0"/>
          </a:p>
        </p:txBody>
      </p:sp>
      <p:pic>
        <p:nvPicPr>
          <p:cNvPr id="7" name="그래픽 6">
            <a:extLst>
              <a:ext uri="{FF2B5EF4-FFF2-40B4-BE49-F238E27FC236}">
                <a16:creationId xmlns:a16="http://schemas.microsoft.com/office/drawing/2014/main" id="{22C02CD2-4A7B-9447-76F0-CC0CB7A387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71509" y="220585"/>
            <a:ext cx="1276348" cy="1000124"/>
          </a:xfrm>
          <a:prstGeom prst="rect">
            <a:avLst/>
          </a:prstGeom>
        </p:spPr>
      </p:pic>
      <p:sp>
        <p:nvSpPr>
          <p:cNvPr id="3" name="바닥글 개체 틀 5">
            <a:extLst>
              <a:ext uri="{FF2B5EF4-FFF2-40B4-BE49-F238E27FC236}">
                <a16:creationId xmlns:a16="http://schemas.microsoft.com/office/drawing/2014/main" id="{A1BC39EB-EB24-B42A-C762-BAE332B0B2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3866" y="6582175"/>
            <a:ext cx="8519541" cy="16158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CONFIDENTIAL AND PROPRIETARY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6D45FBCF-F654-37CF-10CA-7AB40D869512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3866" y="3898206"/>
            <a:ext cx="2603623" cy="535897"/>
          </a:xfrm>
        </p:spPr>
        <p:txBody>
          <a:bodyPr vert="horz" lIns="0" tIns="0" rIns="0" bIns="0" rtlCol="0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altLang="ko-KR" b="0"/>
              <a:t>Presentation by Group 9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ko-KR" sz="1600" b="0"/>
              <a:t>July</a:t>
            </a:r>
            <a:r>
              <a:rPr lang="en-GB" altLang="ko-KR" sz="1600" b="0"/>
              <a:t> </a:t>
            </a:r>
            <a:r>
              <a:rPr lang="en-US" altLang="ko-KR" sz="1600" b="0"/>
              <a:t>2026</a:t>
            </a:r>
            <a:endParaRPr lang="en-GB" altLang="ko-KR" sz="1600" b="0"/>
          </a:p>
        </p:txBody>
      </p:sp>
    </p:spTree>
    <p:extLst>
      <p:ext uri="{BB962C8B-B14F-4D97-AF65-F5344CB8AC3E}">
        <p14:creationId xmlns:p14="http://schemas.microsoft.com/office/powerpoint/2010/main" val="3011325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D8A85A-964A-396B-A6A6-86EE502259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2</a:t>
            </a:fld>
            <a:endParaRPr 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79069D6-8A18-552E-EDD4-C24791D14DA2}"/>
              </a:ext>
            </a:extLst>
          </p:cNvPr>
          <p:cNvCxnSpPr/>
          <p:nvPr/>
        </p:nvCxnSpPr>
        <p:spPr>
          <a:xfrm>
            <a:off x="210622" y="977497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50095B5-42A5-A02E-D9D9-B5ECA4469383}"/>
              </a:ext>
            </a:extLst>
          </p:cNvPr>
          <p:cNvCxnSpPr/>
          <p:nvPr/>
        </p:nvCxnSpPr>
        <p:spPr>
          <a:xfrm>
            <a:off x="210622" y="6395580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A7E71C5-9822-BEA0-CE9F-F654F0BDF81E}"/>
              </a:ext>
            </a:extLst>
          </p:cNvPr>
          <p:cNvSpPr txBox="1"/>
          <p:nvPr/>
        </p:nvSpPr>
        <p:spPr>
          <a:xfrm>
            <a:off x="378372" y="1355836"/>
            <a:ext cx="4309242" cy="121593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5400" b="1">
                <a:latin typeface="+mj-lt"/>
              </a:rPr>
              <a:t>Background</a:t>
            </a:r>
            <a:endParaRPr lang="ko-KR" altLang="en-US" sz="5400" b="1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AD8699-223A-7385-3231-94EDA1954B34}"/>
              </a:ext>
            </a:extLst>
          </p:cNvPr>
          <p:cNvSpPr txBox="1"/>
          <p:nvPr/>
        </p:nvSpPr>
        <p:spPr>
          <a:xfrm>
            <a:off x="6686784" y="1220787"/>
            <a:ext cx="5118538" cy="5246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35000">
                <a:solidFill>
                  <a:srgbClr val="223D60"/>
                </a:solidFill>
              </a:rPr>
              <a:t>01</a:t>
            </a:r>
            <a:endParaRPr lang="ko-KR" altLang="en-US" sz="35000">
              <a:solidFill>
                <a:srgbClr val="223D6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7BBEC3F-7102-6373-86FD-E36E97EAC7D7}"/>
              </a:ext>
            </a:extLst>
          </p:cNvPr>
          <p:cNvSpPr/>
          <p:nvPr/>
        </p:nvSpPr>
        <p:spPr>
          <a:xfrm>
            <a:off x="424868" y="5074960"/>
            <a:ext cx="1855850" cy="1016000"/>
          </a:xfrm>
          <a:prstGeom prst="rect">
            <a:avLst/>
          </a:prstGeom>
          <a:solidFill>
            <a:srgbClr val="213B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2615E64-2691-0837-C7E0-9CCCA828D3E3}"/>
              </a:ext>
            </a:extLst>
          </p:cNvPr>
          <p:cNvSpPr/>
          <p:nvPr/>
        </p:nvSpPr>
        <p:spPr>
          <a:xfrm>
            <a:off x="424868" y="2522615"/>
            <a:ext cx="1855850" cy="1016000"/>
          </a:xfrm>
          <a:prstGeom prst="rect">
            <a:avLst/>
          </a:prstGeom>
          <a:solidFill>
            <a:srgbClr val="7198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5021A4D-7C4E-1413-40EE-8DB354320E70}"/>
              </a:ext>
            </a:extLst>
          </p:cNvPr>
          <p:cNvSpPr/>
          <p:nvPr/>
        </p:nvSpPr>
        <p:spPr>
          <a:xfrm>
            <a:off x="424868" y="3762501"/>
            <a:ext cx="1855850" cy="1016000"/>
          </a:xfrm>
          <a:prstGeom prst="rect">
            <a:avLst/>
          </a:prstGeom>
          <a:solidFill>
            <a:srgbClr val="3762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889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CA4B7AE-2291-6F46-642B-19B1FFB1F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D86D9A-F2D3-498C-CCCC-A338EC63C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CD0BC7C-043F-9239-EACC-8C7EBEAF6110}"/>
              </a:ext>
            </a:extLst>
          </p:cNvPr>
          <p:cNvCxnSpPr/>
          <p:nvPr/>
        </p:nvCxnSpPr>
        <p:spPr>
          <a:xfrm>
            <a:off x="210622" y="977497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8C3051F-B7F9-327C-05D9-B729996E2E34}"/>
              </a:ext>
            </a:extLst>
          </p:cNvPr>
          <p:cNvCxnSpPr/>
          <p:nvPr/>
        </p:nvCxnSpPr>
        <p:spPr>
          <a:xfrm>
            <a:off x="210622" y="6511694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4763674-BE37-8BA5-CB10-FAF43ADF9920}"/>
              </a:ext>
            </a:extLst>
          </p:cNvPr>
          <p:cNvSpPr txBox="1"/>
          <p:nvPr/>
        </p:nvSpPr>
        <p:spPr>
          <a:xfrm>
            <a:off x="311308" y="401738"/>
            <a:ext cx="5048547" cy="38860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ko-KR" altLang="en-US" sz="3000" b="1">
                <a:latin typeface="+mj-lt"/>
              </a:rPr>
              <a:t>기업 소개와 선정 이유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4DAC3B-0F7E-D109-F7E6-45A91D478C0E}"/>
              </a:ext>
            </a:extLst>
          </p:cNvPr>
          <p:cNvSpPr txBox="1"/>
          <p:nvPr/>
        </p:nvSpPr>
        <p:spPr>
          <a:xfrm>
            <a:off x="239485" y="1578429"/>
            <a:ext cx="5624286" cy="16183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538"/>
              </a:lnSpc>
            </a:pPr>
            <a:r>
              <a:rPr lang="en-US" altLang="ko-KR" sz="2000" b="1" i="0">
                <a:solidFill>
                  <a:srgbClr val="002060"/>
                </a:solidFill>
                <a:latin typeface="맑은 고딕"/>
                <a:ea typeface="Malgun Gothic"/>
                <a:cs typeface="맑은 고딕"/>
              </a:rPr>
              <a:t> </a:t>
            </a:r>
            <a:r>
              <a:rPr lang="ko-KR" altLang="en-US" sz="2000" b="1" i="0">
                <a:solidFill>
                  <a:srgbClr val="002060"/>
                </a:solidFill>
                <a:latin typeface="Malgun Gothic"/>
                <a:ea typeface="Malgun Gothic"/>
                <a:cs typeface="Malgun Gothic"/>
              </a:rPr>
              <a:t> </a:t>
            </a:r>
          </a:p>
          <a:p>
            <a:pPr marL="228600" lvl="0" indent="-228600" algn="l" rtl="0">
              <a:lnSpc>
                <a:spcPts val="1538"/>
              </a:lnSpc>
              <a:buFont typeface="Malgun Gothic"/>
              <a:buChar char="•"/>
            </a:pPr>
            <a:r>
              <a:rPr lang="ko-KR" sz="1100" b="0" i="0">
                <a:solidFill>
                  <a:srgbClr val="000000"/>
                </a:solidFill>
                <a:latin typeface="맑은 고딕"/>
                <a:ea typeface="Malgun Gothic"/>
                <a:cs typeface="맑은 고딕"/>
              </a:rPr>
              <a:t>대한민국을 대표하는 조선, 해양 전문 기업 </a:t>
            </a:r>
            <a:r>
              <a:rPr sz="110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 </a:t>
            </a:r>
          </a:p>
          <a:p>
            <a:pPr marL="228600" lvl="0" indent="-228600" algn="l" rtl="0">
              <a:lnSpc>
                <a:spcPts val="1538"/>
              </a:lnSpc>
              <a:buFont typeface="Malgun Gothic"/>
              <a:buChar char="•"/>
            </a:pPr>
            <a:r>
              <a:rPr lang="ko-KR" sz="1100" b="0" i="0">
                <a:solidFill>
                  <a:srgbClr val="000000"/>
                </a:solidFill>
                <a:latin typeface="맑은 고딕"/>
                <a:ea typeface="Malgun Gothic"/>
                <a:cs typeface="맑은 고딕"/>
              </a:rPr>
              <a:t>상선, 해양플랜트, 특수선 분야에서 경쟁력 보유 </a:t>
            </a:r>
            <a:r>
              <a:rPr sz="110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 </a:t>
            </a:r>
          </a:p>
          <a:p>
            <a:pPr marL="228600" lvl="0" indent="-228600" algn="l" rtl="0">
              <a:lnSpc>
                <a:spcPts val="1538"/>
              </a:lnSpc>
              <a:buFont typeface="Malgun Gothic"/>
              <a:buChar char="•"/>
            </a:pPr>
            <a:r>
              <a:rPr lang="ko-KR" sz="1100" b="0" i="0">
                <a:solidFill>
                  <a:srgbClr val="000000"/>
                </a:solidFill>
                <a:latin typeface="맑은 고딕"/>
                <a:ea typeface="Malgun Gothic"/>
                <a:cs typeface="맑은 고딕"/>
              </a:rPr>
              <a:t>대우조선해양이 한화그룹에 편입되면서 2023년 </a:t>
            </a:r>
            <a:r>
              <a:rPr lang="ko-KR" sz="1100" b="0" i="0" err="1">
                <a:solidFill>
                  <a:srgbClr val="000000"/>
                </a:solidFill>
                <a:latin typeface="맑은 고딕"/>
                <a:ea typeface="Malgun Gothic"/>
                <a:cs typeface="맑은 고딕"/>
              </a:rPr>
              <a:t>한화오션으로</a:t>
            </a:r>
            <a:r>
              <a:rPr lang="ko-KR" sz="1100" b="0" i="0">
                <a:solidFill>
                  <a:srgbClr val="000000"/>
                </a:solidFill>
                <a:latin typeface="맑은 고딕"/>
                <a:ea typeface="Malgun Gothic"/>
                <a:cs typeface="맑은 고딕"/>
              </a:rPr>
              <a:t> 사명을 변경. 조선업을 기반으로 해양 방산 및 친환경 에너지 사업까지 영역을 </a:t>
            </a:r>
            <a:r>
              <a:rPr lang="ko-KR" sz="1100" b="0" i="0" err="1">
                <a:solidFill>
                  <a:srgbClr val="000000"/>
                </a:solidFill>
                <a:latin typeface="맑은 고딕"/>
                <a:ea typeface="Malgun Gothic"/>
                <a:cs typeface="맑은 고딕"/>
              </a:rPr>
              <a:t>확장중</a:t>
            </a:r>
            <a:r>
              <a:rPr lang="ko-KR" sz="1100" b="0" i="0">
                <a:solidFill>
                  <a:srgbClr val="000000"/>
                </a:solidFill>
                <a:latin typeface="맑은 고딕"/>
                <a:ea typeface="Malgun Gothic"/>
                <a:cs typeface="맑은 고딕"/>
              </a:rPr>
              <a:t> </a:t>
            </a:r>
            <a:r>
              <a:rPr sz="110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 </a:t>
            </a:r>
          </a:p>
          <a:p>
            <a:pPr algn="l" rtl="0">
              <a:lnSpc>
                <a:spcPts val="1538"/>
              </a:lnSpc>
            </a:pPr>
            <a:endParaRPr lang="ko-KR" altLang="en-US" sz="1100" b="0" i="0">
              <a:solidFill>
                <a:srgbClr val="000000"/>
              </a:solidFill>
              <a:latin typeface="맑은 고딕"/>
              <a:ea typeface="Malgun Gothic"/>
              <a:cs typeface="Malgun Gothic"/>
            </a:endParaRPr>
          </a:p>
          <a:p>
            <a:pPr algn="l" rtl="0">
              <a:lnSpc>
                <a:spcPts val="1700"/>
              </a:lnSpc>
            </a:pPr>
            <a:endParaRPr sz="1200" b="0" i="0">
              <a:solidFill>
                <a:srgbClr val="D13438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endParaRPr lang="ko-KR" altLang="en-US" sz="160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8448BC-8FC8-C784-F383-DC8EADA2617D}"/>
              </a:ext>
            </a:extLst>
          </p:cNvPr>
          <p:cNvSpPr txBox="1"/>
          <p:nvPr/>
        </p:nvSpPr>
        <p:spPr>
          <a:xfrm>
            <a:off x="6096000" y="555171"/>
            <a:ext cx="6945086" cy="60324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800" b="0" i="0" u="none" strike="noStrike">
                <a:solidFill>
                  <a:srgbClr val="000000"/>
                </a:solidFill>
                <a:ea typeface="WordVisiCarriageReturn_MSFontService"/>
              </a:rPr>
              <a:t> </a:t>
            </a:r>
            <a:r>
              <a:rPr lang="ko-KR" altLang="en-US" sz="2800" b="1" i="0">
                <a:solidFill>
                  <a:srgbClr val="002060"/>
                </a:solidFill>
                <a:latin typeface="WordVisiCarriageReturn_MSFontService"/>
                <a:ea typeface="WordVisiCarriageReturn_MSFontService"/>
                <a:cs typeface="WordVisiCarriageReturn_MSFontService"/>
              </a:rPr>
              <a:t>​</a:t>
            </a:r>
            <a:br>
              <a:rPr lang="ko-KR" altLang="en-US" sz="2800" b="1" i="0">
                <a:latin typeface="WordVisiCarriageReturn_MSFontService"/>
                <a:ea typeface="WordVisiCarriageReturn_MSFontService"/>
                <a:cs typeface="WordVisiCarriageReturn_MSFontService"/>
              </a:rPr>
            </a:br>
            <a:r>
              <a:rPr lang="ko-KR" altLang="en-US" sz="2800" b="1" i="0" u="none" strike="noStrike">
                <a:solidFill>
                  <a:srgbClr val="002060"/>
                </a:solidFill>
                <a:ea typeface="Malgun Gothic"/>
              </a:rPr>
              <a:t>선정이유</a:t>
            </a:r>
            <a:r>
              <a:rPr lang="en-US" altLang="ko-KR" sz="2800" b="1" i="0" u="none" strike="noStrike">
                <a:solidFill>
                  <a:srgbClr val="002060"/>
                </a:solidFill>
                <a:latin typeface="Malgun Gothic"/>
              </a:rPr>
              <a:t>:</a:t>
            </a:r>
            <a:r>
              <a:rPr lang="ko-KR" altLang="en-US" sz="2800" b="0" i="0" u="none" strike="noStrike">
                <a:solidFill>
                  <a:srgbClr val="000000"/>
                </a:solidFill>
                <a:ea typeface="Malgun Gothic"/>
              </a:rPr>
              <a:t> </a:t>
            </a:r>
            <a:endParaRPr lang="ko-KR" altLang="en-US" sz="2800">
              <a:solidFill>
                <a:srgbClr val="000000"/>
              </a:solidFill>
              <a:ea typeface="맑은 고딕"/>
            </a:endParaRPr>
          </a:p>
          <a:p>
            <a:r>
              <a:rPr lang="ko-KR" altLang="en-US" sz="2400">
                <a:solidFill>
                  <a:srgbClr val="000000"/>
                </a:solidFill>
                <a:ea typeface="Malgun Gothic"/>
              </a:rPr>
              <a:t>과거</a:t>
            </a:r>
            <a:endParaRPr lang="ko-KR" altLang="en-US" sz="2400">
              <a:solidFill>
                <a:srgbClr val="000000"/>
              </a:solidFill>
              <a:latin typeface="Arial"/>
              <a:cs typeface="Arial"/>
            </a:endParaRPr>
          </a:p>
          <a:p>
            <a:r>
              <a:rPr lang="ko-KR" altLang="en-US" sz="2400">
                <a:solidFill>
                  <a:srgbClr val="000000"/>
                </a:solidFill>
                <a:latin typeface="Malgun Gothic"/>
                <a:ea typeface="Malgun Gothic"/>
              </a:rPr>
              <a:t>대우조선해양</a:t>
            </a:r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ko-KR" altLang="en-US" sz="2400">
                <a:solidFill>
                  <a:srgbClr val="000000"/>
                </a:solidFill>
                <a:latin typeface="Malgun Gothic"/>
                <a:ea typeface="Malgun Gothic"/>
              </a:rPr>
              <a:t>시절 약 </a:t>
            </a:r>
            <a:r>
              <a:rPr lang="en-US" alt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5</a:t>
            </a:r>
            <a:r>
              <a:rPr 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조 </a:t>
            </a:r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원 규모 분식회계</a:t>
            </a:r>
            <a:endParaRPr lang="ko-KR" sz="2400">
              <a:cs typeface="Arial"/>
            </a:endParaRPr>
          </a:p>
          <a:p>
            <a:r>
              <a:rPr 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전</a:t>
            </a:r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en-US" alt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CEO</a:t>
            </a:r>
            <a:r>
              <a:rPr 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 징역 </a:t>
            </a:r>
            <a:r>
              <a:rPr lang="en-US" alt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9</a:t>
            </a:r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년 확정(2017)</a:t>
            </a:r>
            <a:endParaRPr lang="ko-KR" sz="2400">
              <a:cs typeface="Arial"/>
            </a:endParaRPr>
          </a:p>
          <a:p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현재</a:t>
            </a:r>
            <a:endParaRPr lang="ko-KR" sz="2400">
              <a:cs typeface="Arial"/>
            </a:endParaRPr>
          </a:p>
          <a:p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한화오션 </a:t>
            </a:r>
            <a:r>
              <a:rPr 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사상 최대 실적 </a:t>
            </a:r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기록</a:t>
            </a:r>
            <a:endParaRPr lang="ko-KR" sz="2400">
              <a:cs typeface="Arial"/>
            </a:endParaRPr>
          </a:p>
          <a:p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분식회계 당시 왜곡된 핵심 </a:t>
            </a:r>
            <a:r>
              <a:rPr 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계정인 미청구공사 잔액이 </a:t>
            </a:r>
            <a:r>
              <a:rPr lang="en-US" alt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2</a:t>
            </a:r>
            <a:r>
              <a:rPr 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년 만에 </a:t>
            </a:r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2배 증가</a:t>
            </a:r>
            <a:endParaRPr lang="ko-KR" sz="2400">
              <a:cs typeface="Arial"/>
            </a:endParaRPr>
          </a:p>
          <a:p>
            <a:r>
              <a:rPr lang="en-US" alt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KDDX</a:t>
            </a:r>
            <a:r>
              <a:rPr lang="ko-KR" altLang="en-US" sz="2400">
                <a:solidFill>
                  <a:srgbClr val="000000"/>
                </a:solidFill>
                <a:latin typeface="Malgun Gothic"/>
                <a:ea typeface="Malgun Gothic"/>
              </a:rPr>
              <a:t> 사업</a:t>
            </a:r>
            <a:endParaRPr lang="en-US" sz="2400">
              <a:cs typeface="Arial"/>
            </a:endParaRPr>
          </a:p>
          <a:p>
            <a:r>
              <a:rPr 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미</a:t>
            </a:r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해군</a:t>
            </a:r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함정</a:t>
            </a:r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정비</a:t>
            </a:r>
            <a:r>
              <a:rPr lang="en-US" altLang="ko-KR" sz="2400">
                <a:solidFill>
                  <a:srgbClr val="000000"/>
                </a:solidFill>
                <a:latin typeface="Malgun Gothic"/>
                <a:ea typeface="Malgun Gothic"/>
              </a:rPr>
              <a:t>(MRO</a:t>
            </a:r>
            <a:r>
              <a:rPr lang="en-US" alt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)</a:t>
            </a:r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 사업</a:t>
            </a:r>
            <a:endParaRPr lang="ko-KR" sz="2400">
              <a:cs typeface="Arial"/>
            </a:endParaRPr>
          </a:p>
          <a:p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분석 포인트</a:t>
            </a:r>
            <a:endParaRPr lang="ko-KR" sz="2400">
              <a:cs typeface="Arial"/>
            </a:endParaRPr>
          </a:p>
          <a:p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➡ </a:t>
            </a:r>
            <a:r>
              <a:rPr lang="ko-KR" sz="2400" b="0" i="0" u="none" strike="noStrike">
                <a:solidFill>
                  <a:srgbClr val="000000"/>
                </a:solidFill>
                <a:latin typeface="Malgun Gothic"/>
                <a:ea typeface="Malgun Gothic"/>
              </a:rPr>
              <a:t>원가</a:t>
            </a:r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 추정의 적정성 검증 필요</a:t>
            </a:r>
            <a:br>
              <a:rPr lang="ko-KR" sz="2400">
                <a:latin typeface="Malgun Gothic"/>
                <a:ea typeface="Malgun Gothic"/>
              </a:rPr>
            </a:br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➡ 회계 투명성 검토 필요</a:t>
            </a:r>
            <a:br>
              <a:rPr lang="ko-KR" sz="2400">
                <a:latin typeface="Malgun Gothic"/>
                <a:ea typeface="Malgun Gothic"/>
              </a:rPr>
            </a:br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➡ 수주 확대 과정에서의 리스크 점검 필요</a:t>
            </a:r>
            <a:endParaRPr lang="ko-KR" sz="2400">
              <a:cs typeface="Arial"/>
            </a:endParaRPr>
          </a:p>
          <a:p>
            <a:pPr algn="l"/>
            <a:endParaRPr lang="ko-KR" altLang="en-US" sz="2400">
              <a:latin typeface="Arial"/>
              <a:ea typeface="Malgun Gothic"/>
              <a:cs typeface="Arial"/>
            </a:endParaRPr>
          </a:p>
        </p:txBody>
      </p:sp>
      <p:pic>
        <p:nvPicPr>
          <p:cNvPr id="12" name="그림 11" descr="살까, 말까] 종합해양사 노젓는 '한화오션' &lt; 주주환원 &lt; 기사본문 - 주주경제신문">
            <a:extLst>
              <a:ext uri="{FF2B5EF4-FFF2-40B4-BE49-F238E27FC236}">
                <a16:creationId xmlns:a16="http://schemas.microsoft.com/office/drawing/2014/main" id="{2E3E40B7-BE58-9B83-4B3A-F6854A8944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0" r="-107" b="5000"/>
          <a:stretch>
            <a:fillRect/>
          </a:stretch>
        </p:blipFill>
        <p:spPr>
          <a:xfrm>
            <a:off x="836965" y="2840503"/>
            <a:ext cx="5059137" cy="3649811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4F04A965-217F-2B93-6A0E-A64329C590CE}"/>
              </a:ext>
            </a:extLst>
          </p:cNvPr>
          <p:cNvSpPr/>
          <p:nvPr/>
        </p:nvSpPr>
        <p:spPr>
          <a:xfrm>
            <a:off x="207154" y="1048331"/>
            <a:ext cx="1790536" cy="529771"/>
          </a:xfrm>
          <a:prstGeom prst="rect">
            <a:avLst/>
          </a:prstGeom>
          <a:solidFill>
            <a:srgbClr val="3762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b="1">
                <a:cs typeface="Arial"/>
              </a:rPr>
              <a:t>기업 개요 </a:t>
            </a:r>
          </a:p>
        </p:txBody>
      </p:sp>
    </p:spTree>
    <p:extLst>
      <p:ext uri="{BB962C8B-B14F-4D97-AF65-F5344CB8AC3E}">
        <p14:creationId xmlns:p14="http://schemas.microsoft.com/office/powerpoint/2010/main" val="621207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99D25-FD33-C208-B87A-6B200CDFB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EE13A590-9F81-0B59-7F22-55E5FABDADF8}"/>
              </a:ext>
            </a:extLst>
          </p:cNvPr>
          <p:cNvSpPr>
            <a:spLocks/>
          </p:cNvSpPr>
          <p:nvPr/>
        </p:nvSpPr>
        <p:spPr>
          <a:xfrm>
            <a:off x="6803141" y="1931536"/>
            <a:ext cx="5112798" cy="9530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8691B0-F36B-140D-AB67-5D921143D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05C526-24BC-C63F-FF7B-EEEC9998D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</p:spPr>
        <p:txBody>
          <a:bodyPr/>
          <a:lstStyle/>
          <a:p>
            <a:r>
              <a:rPr lang="en-US"/>
              <a:t>Source:</a:t>
            </a:r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6F5BDFD-59A1-5B09-85F6-A3CF2F813630}"/>
              </a:ext>
            </a:extLst>
          </p:cNvPr>
          <p:cNvCxnSpPr/>
          <p:nvPr/>
        </p:nvCxnSpPr>
        <p:spPr>
          <a:xfrm>
            <a:off x="210622" y="977497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29408F0-63B6-A340-6B82-E0EEA5139340}"/>
              </a:ext>
            </a:extLst>
          </p:cNvPr>
          <p:cNvCxnSpPr/>
          <p:nvPr/>
        </p:nvCxnSpPr>
        <p:spPr>
          <a:xfrm>
            <a:off x="210622" y="6395580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C386C4C-7AF7-6F42-BDC2-FE44C7C608E1}"/>
              </a:ext>
            </a:extLst>
          </p:cNvPr>
          <p:cNvSpPr txBox="1"/>
          <p:nvPr/>
        </p:nvSpPr>
        <p:spPr>
          <a:xfrm>
            <a:off x="311308" y="401738"/>
            <a:ext cx="5048547" cy="38860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ko-KR" altLang="en-US" sz="3000" b="1">
                <a:latin typeface="+mj-lt"/>
              </a:rPr>
              <a:t>기업 소개와 선정 이유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84EC85-1EF0-D5FE-3580-690A729ECCB4}"/>
              </a:ext>
            </a:extLst>
          </p:cNvPr>
          <p:cNvSpPr/>
          <p:nvPr/>
        </p:nvSpPr>
        <p:spPr>
          <a:xfrm>
            <a:off x="228378" y="1165742"/>
            <a:ext cx="4676688" cy="576795"/>
          </a:xfrm>
          <a:prstGeom prst="rect">
            <a:avLst/>
          </a:prstGeom>
          <a:solidFill>
            <a:srgbClr val="213B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/>
              <a:t>한화 </a:t>
            </a:r>
            <a:r>
              <a:rPr lang="ko-KR" altLang="en-US" b="1" err="1"/>
              <a:t>오션</a:t>
            </a:r>
            <a:r>
              <a:rPr lang="en-US" altLang="ko-KR" b="1"/>
              <a:t>: </a:t>
            </a:r>
            <a:r>
              <a:rPr lang="ko-KR" altLang="en-US" b="1"/>
              <a:t>국내 대표 조선</a:t>
            </a:r>
            <a:r>
              <a:rPr lang="en-US" altLang="ko-KR" b="1"/>
              <a:t>·</a:t>
            </a:r>
            <a:r>
              <a:rPr lang="ko-KR" altLang="en-US" b="1"/>
              <a:t>해양 전문기업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F305118-D6DF-B338-F0CB-7D55C96C23B5}"/>
              </a:ext>
            </a:extLst>
          </p:cNvPr>
          <p:cNvSpPr/>
          <p:nvPr/>
        </p:nvSpPr>
        <p:spPr>
          <a:xfrm>
            <a:off x="219500" y="1877143"/>
            <a:ext cx="4676688" cy="44137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92BD2DE-784E-8BC9-74B3-D21C48A858F2}"/>
              </a:ext>
            </a:extLst>
          </p:cNvPr>
          <p:cNvCxnSpPr>
            <a:cxnSpLocks/>
          </p:cNvCxnSpPr>
          <p:nvPr/>
        </p:nvCxnSpPr>
        <p:spPr>
          <a:xfrm flipV="1">
            <a:off x="5077488" y="1165742"/>
            <a:ext cx="0" cy="5125123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타원 15">
            <a:extLst>
              <a:ext uri="{FF2B5EF4-FFF2-40B4-BE49-F238E27FC236}">
                <a16:creationId xmlns:a16="http://schemas.microsoft.com/office/drawing/2014/main" id="{BE48FBC3-7DA0-C5F6-30BE-16CC805605F2}"/>
              </a:ext>
            </a:extLst>
          </p:cNvPr>
          <p:cNvSpPr/>
          <p:nvPr/>
        </p:nvSpPr>
        <p:spPr>
          <a:xfrm>
            <a:off x="4841221" y="3492036"/>
            <a:ext cx="472533" cy="472533"/>
          </a:xfrm>
          <a:prstGeom prst="ellipse">
            <a:avLst/>
          </a:prstGeom>
          <a:solidFill>
            <a:srgbClr val="7198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4F6DD1-24D5-53B9-031B-0E7D719CB297}"/>
              </a:ext>
            </a:extLst>
          </p:cNvPr>
          <p:cNvSpPr txBox="1"/>
          <p:nvPr/>
        </p:nvSpPr>
        <p:spPr>
          <a:xfrm>
            <a:off x="4970562" y="3412449"/>
            <a:ext cx="272844" cy="4550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altLang="ko-KR" sz="3600">
                <a:solidFill>
                  <a:schemeClr val="bg1"/>
                </a:solidFill>
                <a:latin typeface="+mn-ea"/>
              </a:rPr>
              <a:t>&gt;</a:t>
            </a:r>
            <a:endParaRPr lang="ko-KR" altLang="en-US" sz="360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3BAC15F-867A-89BB-917D-A43228E585F7}"/>
              </a:ext>
            </a:extLst>
          </p:cNvPr>
          <p:cNvSpPr/>
          <p:nvPr/>
        </p:nvSpPr>
        <p:spPr>
          <a:xfrm>
            <a:off x="5243405" y="1165742"/>
            <a:ext cx="6677401" cy="576795"/>
          </a:xfrm>
          <a:prstGeom prst="rect">
            <a:avLst/>
          </a:prstGeom>
          <a:solidFill>
            <a:srgbClr val="213B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b="1">
                <a:latin typeface="Malgun Gothic"/>
                <a:ea typeface="Malgun Gothic"/>
              </a:rPr>
              <a:t>원가 관리 중요성이 부각되는 시점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182C805-5D4D-FC3D-52CF-AFAEC3D215BC}"/>
              </a:ext>
            </a:extLst>
          </p:cNvPr>
          <p:cNvSpPr>
            <a:spLocks/>
          </p:cNvSpPr>
          <p:nvPr/>
        </p:nvSpPr>
        <p:spPr>
          <a:xfrm>
            <a:off x="5262259" y="5345414"/>
            <a:ext cx="6653678" cy="95306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6BB5362-87FB-D477-290E-285050EB587A}"/>
              </a:ext>
            </a:extLst>
          </p:cNvPr>
          <p:cNvCxnSpPr>
            <a:cxnSpLocks/>
          </p:cNvCxnSpPr>
          <p:nvPr/>
        </p:nvCxnSpPr>
        <p:spPr>
          <a:xfrm flipV="1">
            <a:off x="6625810" y="1931536"/>
            <a:ext cx="0" cy="953068"/>
          </a:xfrm>
          <a:prstGeom prst="straightConnector1">
            <a:avLst/>
          </a:prstGeom>
          <a:ln w="34925">
            <a:solidFill>
              <a:srgbClr val="3762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4F048A0-5D13-0C03-1194-8582E818D270}"/>
              </a:ext>
            </a:extLst>
          </p:cNvPr>
          <p:cNvSpPr txBox="1"/>
          <p:nvPr/>
        </p:nvSpPr>
        <p:spPr>
          <a:xfrm>
            <a:off x="5546177" y="2035273"/>
            <a:ext cx="697582" cy="2408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ko-KR" altLang="en-US" sz="1600" b="1">
                <a:solidFill>
                  <a:srgbClr val="37629B"/>
                </a:solidFill>
                <a:latin typeface="+mj-lt"/>
              </a:rPr>
              <a:t>타이틀</a:t>
            </a:r>
            <a:endParaRPr lang="ko-KR" altLang="en-US" sz="1600" b="1" err="1">
              <a:solidFill>
                <a:srgbClr val="37629B"/>
              </a:solidFill>
              <a:latin typeface="+mj-lt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18CC8FF-B602-03F4-6457-99753C0E1828}"/>
              </a:ext>
            </a:extLst>
          </p:cNvPr>
          <p:cNvSpPr>
            <a:spLocks/>
          </p:cNvSpPr>
          <p:nvPr/>
        </p:nvSpPr>
        <p:spPr>
          <a:xfrm>
            <a:off x="6803139" y="3084782"/>
            <a:ext cx="5112798" cy="9530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07EF6589-6B53-CF90-64A3-98273C35D171}"/>
              </a:ext>
            </a:extLst>
          </p:cNvPr>
          <p:cNvCxnSpPr>
            <a:cxnSpLocks/>
          </p:cNvCxnSpPr>
          <p:nvPr/>
        </p:nvCxnSpPr>
        <p:spPr>
          <a:xfrm flipV="1">
            <a:off x="6625808" y="3072590"/>
            <a:ext cx="0" cy="953068"/>
          </a:xfrm>
          <a:prstGeom prst="straightConnector1">
            <a:avLst/>
          </a:prstGeom>
          <a:ln w="34925">
            <a:solidFill>
              <a:srgbClr val="3762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DAB02F3-E3FC-B99C-8A98-53FB25B951BD}"/>
              </a:ext>
            </a:extLst>
          </p:cNvPr>
          <p:cNvSpPr>
            <a:spLocks/>
          </p:cNvSpPr>
          <p:nvPr/>
        </p:nvSpPr>
        <p:spPr>
          <a:xfrm>
            <a:off x="6803139" y="4222187"/>
            <a:ext cx="5112798" cy="9530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DC30F878-727F-8AB7-7F41-45CE33352816}"/>
              </a:ext>
            </a:extLst>
          </p:cNvPr>
          <p:cNvCxnSpPr>
            <a:cxnSpLocks/>
          </p:cNvCxnSpPr>
          <p:nvPr/>
        </p:nvCxnSpPr>
        <p:spPr>
          <a:xfrm flipV="1">
            <a:off x="6625808" y="4222187"/>
            <a:ext cx="0" cy="953068"/>
          </a:xfrm>
          <a:prstGeom prst="straightConnector1">
            <a:avLst/>
          </a:prstGeom>
          <a:ln w="34925">
            <a:solidFill>
              <a:srgbClr val="3762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67F5FAD-4995-9A73-936B-2573446CEBE4}"/>
              </a:ext>
            </a:extLst>
          </p:cNvPr>
          <p:cNvSpPr txBox="1"/>
          <p:nvPr/>
        </p:nvSpPr>
        <p:spPr>
          <a:xfrm>
            <a:off x="5546177" y="3228206"/>
            <a:ext cx="697582" cy="2408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ko-KR" altLang="en-US" sz="1600" b="1">
                <a:solidFill>
                  <a:srgbClr val="37629B"/>
                </a:solidFill>
                <a:latin typeface="+mj-lt"/>
              </a:rPr>
              <a:t>타이틀</a:t>
            </a:r>
            <a:endParaRPr lang="ko-KR" altLang="en-US" sz="1600" b="1" err="1">
              <a:solidFill>
                <a:srgbClr val="37629B"/>
              </a:solidFill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79113D-01AC-D0AB-6D7E-87D9650EB8C3}"/>
              </a:ext>
            </a:extLst>
          </p:cNvPr>
          <p:cNvSpPr txBox="1"/>
          <p:nvPr/>
        </p:nvSpPr>
        <p:spPr>
          <a:xfrm>
            <a:off x="5540888" y="4318155"/>
            <a:ext cx="697582" cy="2408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ko-KR" altLang="en-US" sz="1600" b="1">
                <a:solidFill>
                  <a:srgbClr val="37629B"/>
                </a:solidFill>
                <a:latin typeface="+mj-lt"/>
              </a:rPr>
              <a:t>타이틀</a:t>
            </a:r>
            <a:endParaRPr lang="ko-KR" altLang="en-US" sz="1600" b="1" err="1">
              <a:solidFill>
                <a:srgbClr val="37629B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989E48-0D63-1BC3-5318-D9E60E9B474F}"/>
              </a:ext>
            </a:extLst>
          </p:cNvPr>
          <p:cNvSpPr txBox="1"/>
          <p:nvPr/>
        </p:nvSpPr>
        <p:spPr>
          <a:xfrm>
            <a:off x="514550" y="2149718"/>
            <a:ext cx="899239" cy="47744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altLang="ko-KR" sz="1400" b="1"/>
              <a:t>Company Profile</a:t>
            </a:r>
            <a:endParaRPr lang="ko-KR" altLang="en-US" sz="1400" b="1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EC92946E-2B3B-B5D7-B440-17EA431C7577}"/>
              </a:ext>
            </a:extLst>
          </p:cNvPr>
          <p:cNvCxnSpPr>
            <a:cxnSpLocks/>
          </p:cNvCxnSpPr>
          <p:nvPr/>
        </p:nvCxnSpPr>
        <p:spPr>
          <a:xfrm flipV="1">
            <a:off x="1745879" y="2112414"/>
            <a:ext cx="0" cy="1377176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5A1173D-6D93-D676-180F-353A42356DF8}"/>
              </a:ext>
            </a:extLst>
          </p:cNvPr>
          <p:cNvSpPr txBox="1"/>
          <p:nvPr/>
        </p:nvSpPr>
        <p:spPr>
          <a:xfrm>
            <a:off x="2003646" y="2173417"/>
            <a:ext cx="2583673" cy="131617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cs typeface="Arial"/>
              </a:rPr>
              <a:t>상선</a:t>
            </a:r>
            <a:r>
              <a:rPr lang="en-US" altLang="ko-KR" sz="1200">
                <a:cs typeface="Arial"/>
              </a:rPr>
              <a:t>, </a:t>
            </a:r>
            <a:r>
              <a:rPr lang="ko-KR" altLang="en-US" sz="1200">
                <a:cs typeface="Arial"/>
              </a:rPr>
              <a:t>해양플랜트</a:t>
            </a:r>
            <a:r>
              <a:rPr lang="en-US" altLang="ko-KR" sz="1200">
                <a:cs typeface="Arial"/>
              </a:rPr>
              <a:t>, </a:t>
            </a:r>
            <a:r>
              <a:rPr lang="ko-KR" altLang="en-US" sz="1200">
                <a:cs typeface="Arial"/>
              </a:rPr>
              <a:t>특수선 분야를 중심으로 사업을 운영하는 국내 대표 조선</a:t>
            </a:r>
            <a:r>
              <a:rPr lang="en-US" altLang="ko-KR" sz="1200">
                <a:cs typeface="Arial"/>
              </a:rPr>
              <a:t>·</a:t>
            </a:r>
            <a:r>
              <a:rPr lang="ko-KR" altLang="en-US" sz="1200">
                <a:cs typeface="Arial"/>
              </a:rPr>
              <a:t>해양 기업</a:t>
            </a:r>
            <a:endParaRPr lang="en-US" altLang="ko-KR" sz="1200"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>
                <a:cs typeface="Arial"/>
              </a:rPr>
              <a:t>2023</a:t>
            </a:r>
            <a:r>
              <a:rPr lang="ko-KR" altLang="en-US" sz="1200">
                <a:cs typeface="Arial"/>
              </a:rPr>
              <a:t>년 한화그룹 편입 후 </a:t>
            </a:r>
            <a:r>
              <a:rPr lang="ko-KR" altLang="en-US" sz="1200" err="1">
                <a:cs typeface="Arial"/>
              </a:rPr>
              <a:t>한화오션으로</a:t>
            </a:r>
            <a:r>
              <a:rPr lang="ko-KR" altLang="en-US" sz="1200">
                <a:cs typeface="Arial"/>
              </a:rPr>
              <a:t> 사명을 변경하고</a:t>
            </a:r>
            <a:r>
              <a:rPr lang="en-US" altLang="ko-KR" sz="1200">
                <a:cs typeface="Arial"/>
              </a:rPr>
              <a:t>, </a:t>
            </a:r>
            <a:r>
              <a:rPr lang="ko-KR" altLang="en-US" sz="1200">
                <a:cs typeface="Arial"/>
              </a:rPr>
              <a:t>해양 방산 및 친환경 에너지 분야로 사업 영역 확대 중</a:t>
            </a:r>
            <a:endParaRPr lang="en-US" altLang="ko-KR" sz="1200"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BE40B2-6CD5-CC59-674A-785C1AE87273}"/>
              </a:ext>
            </a:extLst>
          </p:cNvPr>
          <p:cNvSpPr txBox="1"/>
          <p:nvPr/>
        </p:nvSpPr>
        <p:spPr>
          <a:xfrm>
            <a:off x="514549" y="3940623"/>
            <a:ext cx="899239" cy="47744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altLang="ko-KR" sz="1400" b="1"/>
              <a:t>Main Services</a:t>
            </a:r>
            <a:endParaRPr lang="ko-KR" altLang="en-US" sz="1400" b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C2FF62-12C4-6BC4-F7F0-44B8681FB963}"/>
              </a:ext>
            </a:extLst>
          </p:cNvPr>
          <p:cNvSpPr txBox="1"/>
          <p:nvPr/>
        </p:nvSpPr>
        <p:spPr>
          <a:xfrm>
            <a:off x="1983594" y="3932168"/>
            <a:ext cx="2583673" cy="131617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b="1">
                <a:cs typeface="Arial"/>
              </a:rPr>
              <a:t>상선</a:t>
            </a:r>
            <a:r>
              <a:rPr lang="en-US" altLang="ko-KR" sz="1200" b="1">
                <a:cs typeface="Arial"/>
              </a:rPr>
              <a:t>(Commercial Vessels): </a:t>
            </a:r>
            <a:r>
              <a:rPr lang="en-US" altLang="ko-KR" sz="1200">
                <a:cs typeface="Arial"/>
              </a:rPr>
              <a:t>LNG </a:t>
            </a:r>
            <a:r>
              <a:rPr lang="ko-KR" altLang="en-US" sz="1200">
                <a:cs typeface="Arial"/>
              </a:rPr>
              <a:t>운반선</a:t>
            </a:r>
            <a:r>
              <a:rPr lang="en-US" altLang="ko-KR" sz="1200">
                <a:cs typeface="Arial"/>
              </a:rPr>
              <a:t>, </a:t>
            </a:r>
            <a:r>
              <a:rPr lang="ko-KR" altLang="en-US" sz="1200">
                <a:cs typeface="Arial"/>
              </a:rPr>
              <a:t>컨테이너선</a:t>
            </a:r>
            <a:r>
              <a:rPr lang="en-US" altLang="ko-KR" sz="1200">
                <a:cs typeface="Arial"/>
              </a:rPr>
              <a:t>, </a:t>
            </a:r>
            <a:r>
              <a:rPr lang="ko-KR" altLang="en-US" sz="1200">
                <a:cs typeface="Arial"/>
              </a:rPr>
              <a:t>원유운반선 등 건조</a:t>
            </a:r>
            <a:endParaRPr lang="en-US" altLang="ko-KR" sz="1200"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b="1">
                <a:cs typeface="Arial"/>
              </a:rPr>
              <a:t>해양플랜트</a:t>
            </a:r>
            <a:r>
              <a:rPr lang="en-US" altLang="ko-KR" sz="1200" b="1">
                <a:cs typeface="Arial"/>
              </a:rPr>
              <a:t>(Offshore &amp; Energy): </a:t>
            </a:r>
            <a:r>
              <a:rPr lang="en-US" altLang="ko-KR" sz="1200">
                <a:cs typeface="Arial"/>
              </a:rPr>
              <a:t>FPSO, FLNG, </a:t>
            </a:r>
            <a:r>
              <a:rPr lang="ko-KR" altLang="en-US" sz="1200">
                <a:cs typeface="Arial"/>
              </a:rPr>
              <a:t>고정식 플랫폼</a:t>
            </a:r>
            <a:r>
              <a:rPr lang="en-US" altLang="ko-KR" sz="1200">
                <a:cs typeface="Arial"/>
              </a:rPr>
              <a:t>, </a:t>
            </a:r>
            <a:r>
              <a:rPr lang="ko-KR" altLang="en-US" sz="1200">
                <a:cs typeface="Arial"/>
              </a:rPr>
              <a:t>시추설비 개발</a:t>
            </a:r>
            <a:endParaRPr lang="en-US" altLang="ko-KR" sz="1200"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b="1">
                <a:cs typeface="Arial"/>
              </a:rPr>
              <a:t>특수선</a:t>
            </a:r>
            <a:r>
              <a:rPr lang="en-US" altLang="ko-KR" sz="1200" b="1">
                <a:cs typeface="Arial"/>
              </a:rPr>
              <a:t>(Defense &amp; Naval): </a:t>
            </a:r>
            <a:r>
              <a:rPr lang="ko-KR" altLang="en-US" sz="1200">
                <a:cs typeface="Arial"/>
              </a:rPr>
              <a:t>잠수함</a:t>
            </a:r>
            <a:r>
              <a:rPr lang="en-US" altLang="ko-KR" sz="1200">
                <a:cs typeface="Arial"/>
              </a:rPr>
              <a:t>, </a:t>
            </a:r>
            <a:r>
              <a:rPr lang="ko-KR" altLang="en-US" sz="1200">
                <a:cs typeface="Arial"/>
              </a:rPr>
              <a:t>수상함 등 해군 및 방산 분야 선박 건조</a:t>
            </a:r>
            <a:endParaRPr lang="en-US" altLang="ko-KR" sz="1200"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b="1">
                <a:cs typeface="Arial"/>
              </a:rPr>
              <a:t>기타 서비스</a:t>
            </a:r>
            <a:r>
              <a:rPr lang="en-US" altLang="ko-KR" sz="1200" b="1">
                <a:cs typeface="Arial"/>
              </a:rPr>
              <a:t>: </a:t>
            </a:r>
            <a:r>
              <a:rPr lang="ko-KR" altLang="en-US" sz="1200">
                <a:cs typeface="Arial"/>
              </a:rPr>
              <a:t>해상화물 운송 및 해양 관련 서비스</a:t>
            </a:r>
            <a:endParaRPr lang="en-US" altLang="ko-KR" sz="1200">
              <a:cs typeface="Arial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A9417BEE-EEAB-F620-684E-92A4F350CF27}"/>
              </a:ext>
            </a:extLst>
          </p:cNvPr>
          <p:cNvCxnSpPr>
            <a:cxnSpLocks/>
          </p:cNvCxnSpPr>
          <p:nvPr/>
        </p:nvCxnSpPr>
        <p:spPr>
          <a:xfrm flipV="1">
            <a:off x="1745879" y="3798450"/>
            <a:ext cx="0" cy="2211890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그래픽 8">
            <a:extLst>
              <a:ext uri="{FF2B5EF4-FFF2-40B4-BE49-F238E27FC236}">
                <a16:creationId xmlns:a16="http://schemas.microsoft.com/office/drawing/2014/main" id="{EC46EAD9-775C-92F2-4280-248DAD90B4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2297" y="2804014"/>
            <a:ext cx="750158" cy="587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02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EC14F-4DC6-4227-184E-7F09BE3B4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E699704-FEC6-8E15-F4D7-32B16C1C2D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5</a:t>
            </a:fld>
            <a:endParaRPr 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93D6B78-E47D-23EE-A1F4-8A0FBAD70384}"/>
              </a:ext>
            </a:extLst>
          </p:cNvPr>
          <p:cNvCxnSpPr/>
          <p:nvPr/>
        </p:nvCxnSpPr>
        <p:spPr>
          <a:xfrm>
            <a:off x="210622" y="977497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0D1214E8-1FC0-5754-2DBB-C3D4B4F40CBF}"/>
              </a:ext>
            </a:extLst>
          </p:cNvPr>
          <p:cNvCxnSpPr/>
          <p:nvPr/>
        </p:nvCxnSpPr>
        <p:spPr>
          <a:xfrm>
            <a:off x="210622" y="6395580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A29AFB6-7E9E-2125-FC7D-017F0D51CEE7}"/>
              </a:ext>
            </a:extLst>
          </p:cNvPr>
          <p:cNvSpPr txBox="1"/>
          <p:nvPr/>
        </p:nvSpPr>
        <p:spPr>
          <a:xfrm>
            <a:off x="329164" y="445967"/>
            <a:ext cx="3869890" cy="35957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ko-KR" altLang="en-US" sz="3000" b="1">
                <a:latin typeface="+mj-lt"/>
              </a:rPr>
              <a:t>현재 상황</a:t>
            </a:r>
          </a:p>
        </p:txBody>
      </p:sp>
      <p:pic>
        <p:nvPicPr>
          <p:cNvPr id="9" name="그림 8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97EEC1-9066-6A13-983C-3082E6285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4" y="1135551"/>
            <a:ext cx="6001515" cy="3419586"/>
          </a:xfrm>
          <a:prstGeom prst="rect">
            <a:avLst/>
          </a:prstGeom>
        </p:spPr>
      </p:pic>
      <p:pic>
        <p:nvPicPr>
          <p:cNvPr id="11" name="그림 10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300ABB-6DBE-8B25-0BC9-07A7AEF62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85" y="4680079"/>
            <a:ext cx="5414554" cy="1515291"/>
          </a:xfrm>
          <a:prstGeom prst="rect">
            <a:avLst/>
          </a:prstGeom>
        </p:spPr>
      </p:pic>
      <p:sp>
        <p:nvSpPr>
          <p:cNvPr id="14" name="바닥글 개체 틀 5">
            <a:extLst>
              <a:ext uri="{FF2B5EF4-FFF2-40B4-BE49-F238E27FC236}">
                <a16:creationId xmlns:a16="http://schemas.microsoft.com/office/drawing/2014/main" id="{2F56AAD6-4A5C-8D8B-C4B4-EFB8C1B2B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</p:spPr>
        <p:txBody>
          <a:bodyPr/>
          <a:lstStyle/>
          <a:p>
            <a:r>
              <a:rPr lang="en-US"/>
              <a:t>Source: </a:t>
            </a:r>
            <a:r>
              <a:rPr lang="ko-KR" altLang="en-US" err="1"/>
              <a:t>한화오션</a:t>
            </a:r>
            <a:r>
              <a:rPr lang="ko-KR" altLang="en-US"/>
              <a:t> 제25기(2024 회계연도) 사업보고서(2025.3.14 제출), 2026년 1분기 분기보고서(2026.5.13 제출), DART 전자공시시스템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DF8DD56-0021-EC49-9305-355BD3F38C45}"/>
              </a:ext>
            </a:extLst>
          </p:cNvPr>
          <p:cNvSpPr/>
          <p:nvPr/>
        </p:nvSpPr>
        <p:spPr>
          <a:xfrm>
            <a:off x="6992582" y="4813703"/>
            <a:ext cx="1855850" cy="1016000"/>
          </a:xfrm>
          <a:prstGeom prst="rect">
            <a:avLst/>
          </a:prstGeom>
          <a:solidFill>
            <a:srgbClr val="213B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b="1">
                <a:cs typeface="Arial"/>
              </a:rPr>
              <a:t>70억 원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19FD9F5-7AA9-3430-2B8A-5DB7AD4D376B}"/>
              </a:ext>
            </a:extLst>
          </p:cNvPr>
          <p:cNvSpPr/>
          <p:nvPr/>
        </p:nvSpPr>
        <p:spPr>
          <a:xfrm>
            <a:off x="9743038" y="4813702"/>
            <a:ext cx="1855850" cy="1016000"/>
          </a:xfrm>
          <a:prstGeom prst="rect">
            <a:avLst/>
          </a:prstGeom>
          <a:solidFill>
            <a:srgbClr val="213B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b="1">
                <a:cs typeface="Arial"/>
              </a:rPr>
              <a:t>0원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3B41DB35-DAA6-D4F2-1AAA-0804501B85B3}"/>
              </a:ext>
            </a:extLst>
          </p:cNvPr>
          <p:cNvSpPr/>
          <p:nvPr/>
        </p:nvSpPr>
        <p:spPr>
          <a:xfrm>
            <a:off x="9053938" y="5146112"/>
            <a:ext cx="521208" cy="346747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053767-A759-657E-BEA3-0E55FE0C3152}"/>
              </a:ext>
            </a:extLst>
          </p:cNvPr>
          <p:cNvSpPr txBox="1"/>
          <p:nvPr/>
        </p:nvSpPr>
        <p:spPr>
          <a:xfrm>
            <a:off x="8875487" y="1810658"/>
            <a:ext cx="2772227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200" b="1" i="0" u="none" strike="noStrike" baseline="0">
                <a:solidFill>
                  <a:srgbClr val="0A0A0A"/>
                </a:solidFill>
                <a:latin typeface="맑은 고딕"/>
                <a:ea typeface="맑은 고딕"/>
              </a:rPr>
              <a:t>미청구공사가 2023년 말 2조5,243억 원에서 2025년 말 5조5,061억 원으로 2년 만에 두 배가 </a:t>
            </a:r>
            <a:r>
              <a:rPr lang="ko-KR" altLang="en-US" sz="1200" b="1">
                <a:solidFill>
                  <a:srgbClr val="0A0A0A"/>
                </a:solidFill>
                <a:latin typeface="맑은 고딕"/>
                <a:ea typeface="맑은 고딕"/>
              </a:rPr>
              <a:t>됐다</a:t>
            </a:r>
            <a:endParaRPr lang="en-US" altLang="ko-KR" sz="1200" b="1">
              <a:solidFill>
                <a:srgbClr val="0A0A0A"/>
              </a:solidFill>
              <a:latin typeface="맑은 고딕"/>
              <a:ea typeface="맑은 고딕"/>
            </a:endParaRPr>
          </a:p>
          <a:p>
            <a:pPr algn="l"/>
            <a:endParaRPr lang="ko-KR" altLang="en-US" sz="1200" b="1">
              <a:latin typeface="맑은 고딕"/>
              <a:ea typeface="맑은 고딕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015D4CC-986D-6D9E-824C-0EF5830A7E99}"/>
              </a:ext>
            </a:extLst>
          </p:cNvPr>
          <p:cNvSpPr/>
          <p:nvPr/>
        </p:nvSpPr>
        <p:spPr>
          <a:xfrm>
            <a:off x="6992582" y="1570845"/>
            <a:ext cx="1667165" cy="1016000"/>
          </a:xfrm>
          <a:prstGeom prst="rect">
            <a:avLst/>
          </a:prstGeom>
          <a:solidFill>
            <a:srgbClr val="3762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rgbClr val="FFFFFF"/>
                </a:solidFill>
                <a:latin typeface="Malgun Gothic"/>
              </a:rPr>
              <a:t>      </a:t>
            </a:r>
            <a:r>
              <a:rPr lang="en-US" sz="1800" b="1" i="0" u="none" strike="noStrike" baseline="0">
                <a:solidFill>
                  <a:srgbClr val="FFFFFF"/>
                </a:solidFill>
                <a:latin typeface="Malgun Gothic"/>
              </a:rPr>
              <a:t>2</a:t>
            </a:r>
            <a:r>
              <a:rPr lang="ko-KR" sz="1800" b="1" i="0" u="none" strike="noStrike" baseline="0">
                <a:solidFill>
                  <a:srgbClr val="FFFFFF"/>
                </a:solidFill>
                <a:ea typeface="Malgun Gothic"/>
              </a:rPr>
              <a:t>배</a:t>
            </a:r>
            <a:endParaRPr lang="ko-KR" altLang="en-US">
              <a:cs typeface="Arial"/>
            </a:endParaRPr>
          </a:p>
        </p:txBody>
      </p:sp>
      <p:sp>
        <p:nvSpPr>
          <p:cNvPr id="17" name="화살표: 위쪽 16">
            <a:extLst>
              <a:ext uri="{FF2B5EF4-FFF2-40B4-BE49-F238E27FC236}">
                <a16:creationId xmlns:a16="http://schemas.microsoft.com/office/drawing/2014/main" id="{81D1ED3F-17D6-A37D-EE38-E0ECD8539832}"/>
              </a:ext>
            </a:extLst>
          </p:cNvPr>
          <p:cNvSpPr/>
          <p:nvPr/>
        </p:nvSpPr>
        <p:spPr>
          <a:xfrm>
            <a:off x="7974277" y="1939964"/>
            <a:ext cx="175325" cy="206333"/>
          </a:xfrm>
          <a:prstGeom prst="up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976BC5E-746A-1274-62EE-C7D0EE30531B}"/>
              </a:ext>
            </a:extLst>
          </p:cNvPr>
          <p:cNvSpPr/>
          <p:nvPr/>
        </p:nvSpPr>
        <p:spPr>
          <a:xfrm>
            <a:off x="6995886" y="3044372"/>
            <a:ext cx="4637313" cy="12990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400" b="1" i="0" u="none" strike="noStrike" baseline="0" err="1">
                <a:solidFill>
                  <a:srgbClr val="424242"/>
                </a:solidFill>
                <a:latin typeface="Malgun Gothic"/>
              </a:rPr>
              <a:t>신규</a:t>
            </a:r>
            <a:r>
              <a:rPr lang="en-US" sz="1400" b="1" i="0" u="none" strike="noStrike" baseline="0">
                <a:solidFill>
                  <a:srgbClr val="424242"/>
                </a:solidFill>
                <a:latin typeface="Malgun Gothic"/>
              </a:rPr>
              <a:t> </a:t>
            </a:r>
            <a:r>
              <a:rPr lang="en-US" sz="1400" b="1" i="0" u="none" strike="noStrike" baseline="0" err="1">
                <a:solidFill>
                  <a:srgbClr val="424242"/>
                </a:solidFill>
                <a:latin typeface="Malgun Gothic"/>
              </a:rPr>
              <a:t>사업의</a:t>
            </a:r>
            <a:r>
              <a:rPr lang="en-US" sz="1400" b="1" i="0" u="none" strike="noStrike" baseline="0">
                <a:solidFill>
                  <a:srgbClr val="424242"/>
                </a:solidFill>
                <a:latin typeface="Malgun Gothic"/>
              </a:rPr>
              <a:t> </a:t>
            </a:r>
            <a:r>
              <a:rPr lang="en-US" sz="1400" b="1" i="0" u="none" strike="noStrike" baseline="0" err="1">
                <a:solidFill>
                  <a:srgbClr val="424242"/>
                </a:solidFill>
                <a:latin typeface="Malgun Gothic"/>
              </a:rPr>
              <a:t>원가</a:t>
            </a:r>
            <a:r>
              <a:rPr lang="en-US" sz="1400" b="1" i="0" u="none" strike="noStrike" baseline="0">
                <a:solidFill>
                  <a:srgbClr val="424242"/>
                </a:solidFill>
                <a:latin typeface="Malgun Gothic"/>
              </a:rPr>
              <a:t> </a:t>
            </a:r>
            <a:r>
              <a:rPr lang="en-US" sz="1400" b="1" i="0" u="none" strike="noStrike" baseline="0" err="1">
                <a:solidFill>
                  <a:srgbClr val="424242"/>
                </a:solidFill>
                <a:latin typeface="Malgun Gothic"/>
              </a:rPr>
              <a:t>추정</a:t>
            </a:r>
            <a:r>
              <a:rPr lang="en-US" sz="1400" b="1" i="0" u="none" strike="noStrike" baseline="0">
                <a:solidFill>
                  <a:srgbClr val="424242"/>
                </a:solidFill>
                <a:latin typeface="Malgun Gothic"/>
              </a:rPr>
              <a:t> </a:t>
            </a:r>
            <a:r>
              <a:rPr lang="en-US" sz="1400" b="1" i="0" u="none" strike="noStrike" baseline="0" err="1">
                <a:solidFill>
                  <a:srgbClr val="424242"/>
                </a:solidFill>
                <a:latin typeface="Malgun Gothic"/>
              </a:rPr>
              <a:t>불확실성</a:t>
            </a:r>
            <a:r>
              <a:rPr lang="en-US" sz="1400" b="1" i="0" u="none" strike="noStrike" baseline="0">
                <a:solidFill>
                  <a:srgbClr val="424242"/>
                </a:solidFill>
                <a:latin typeface="Malgun Gothic"/>
              </a:rPr>
              <a:t> </a:t>
            </a:r>
            <a:r>
              <a:rPr lang="en-US" sz="1400" b="1" i="0" u="none" strike="noStrike" baseline="0" err="1">
                <a:solidFill>
                  <a:srgbClr val="424242"/>
                </a:solidFill>
                <a:latin typeface="Malgun Gothic"/>
              </a:rPr>
              <a:t>때문에</a:t>
            </a:r>
            <a:r>
              <a:rPr lang="en-US" sz="1400" b="1" i="0" u="none" strike="noStrike" baseline="0">
                <a:solidFill>
                  <a:srgbClr val="424242"/>
                </a:solidFill>
                <a:latin typeface="Malgun Gothic"/>
              </a:rPr>
              <a:t> </a:t>
            </a:r>
            <a:r>
              <a:rPr lang="en-US" sz="1400" b="1" i="0" u="none" strike="noStrike" baseline="0" err="1">
                <a:solidFill>
                  <a:srgbClr val="424242"/>
                </a:solidFill>
                <a:latin typeface="Malgun Gothic"/>
              </a:rPr>
              <a:t>실적</a:t>
            </a:r>
            <a:r>
              <a:rPr lang="en-US" sz="1400" b="1" i="0" u="none" strike="noStrike" baseline="0">
                <a:solidFill>
                  <a:srgbClr val="424242"/>
                </a:solidFill>
                <a:latin typeface="Malgun Gothic"/>
              </a:rPr>
              <a:t> </a:t>
            </a:r>
            <a:endParaRPr lang="ko-KR" altLang="en-US">
              <a:solidFill>
                <a:srgbClr val="FFFFFF"/>
              </a:solidFill>
              <a:latin typeface="Arial"/>
              <a:cs typeface="Arial"/>
            </a:endParaRPr>
          </a:p>
          <a:p>
            <a:pPr algn="ctr">
              <a:lnSpc>
                <a:spcPct val="150000"/>
              </a:lnSpc>
            </a:pPr>
            <a:r>
              <a:rPr lang="en-US" sz="1400" b="1" i="0" u="none" strike="noStrike" baseline="0" err="1">
                <a:solidFill>
                  <a:srgbClr val="424242"/>
                </a:solidFill>
                <a:latin typeface="Malgun Gothic"/>
              </a:rPr>
              <a:t>왜곡이나</a:t>
            </a:r>
            <a:r>
              <a:rPr lang="en-US" sz="1400" b="1" i="0" u="none" strike="noStrike" baseline="0">
                <a:solidFill>
                  <a:srgbClr val="424242"/>
                </a:solidFill>
                <a:latin typeface="Malgun Gothic"/>
              </a:rPr>
              <a:t> </a:t>
            </a:r>
            <a:r>
              <a:rPr lang="en-US" sz="1400" b="1" i="0" u="none" strike="noStrike" baseline="0" err="1">
                <a:solidFill>
                  <a:srgbClr val="424242"/>
                </a:solidFill>
                <a:latin typeface="Malgun Gothic"/>
              </a:rPr>
              <a:t>잠재</a:t>
            </a:r>
            <a:r>
              <a:rPr lang="en-US" sz="1400" b="1" i="0" u="none" strike="noStrike" baseline="0">
                <a:solidFill>
                  <a:srgbClr val="424242"/>
                </a:solidFill>
                <a:latin typeface="Malgun Gothic"/>
              </a:rPr>
              <a:t> </a:t>
            </a:r>
            <a:r>
              <a:rPr lang="en-US" sz="1400" b="1" i="0" u="none" strike="noStrike" baseline="0" err="1">
                <a:solidFill>
                  <a:srgbClr val="424242"/>
                </a:solidFill>
                <a:latin typeface="Malgun Gothic"/>
              </a:rPr>
              <a:t>손실이</a:t>
            </a:r>
            <a:r>
              <a:rPr lang="en-US" sz="1400" b="1" i="0" u="none" strike="noStrike" baseline="0">
                <a:solidFill>
                  <a:srgbClr val="424242"/>
                </a:solidFill>
                <a:latin typeface="Malgun Gothic"/>
              </a:rPr>
              <a:t> </a:t>
            </a:r>
            <a:r>
              <a:rPr lang="en-US" sz="1400" b="1" i="0" u="none" strike="noStrike" baseline="0" err="1">
                <a:solidFill>
                  <a:srgbClr val="424242"/>
                </a:solidFill>
                <a:latin typeface="Malgun Gothic"/>
              </a:rPr>
              <a:t>숨겨질</a:t>
            </a:r>
            <a:r>
              <a:rPr lang="en-US" sz="1400" b="1" i="0" u="none" strike="noStrike" baseline="0">
                <a:solidFill>
                  <a:srgbClr val="424242"/>
                </a:solidFill>
                <a:latin typeface="Malgun Gothic"/>
              </a:rPr>
              <a:t> </a:t>
            </a:r>
            <a:r>
              <a:rPr lang="en-US" sz="1400" b="1" i="0" u="none" strike="noStrike" baseline="0" err="1">
                <a:solidFill>
                  <a:srgbClr val="424242"/>
                </a:solidFill>
                <a:latin typeface="Malgun Gothic"/>
              </a:rPr>
              <a:t>위험이</a:t>
            </a:r>
            <a:r>
              <a:rPr lang="en-US" sz="1400" b="1" i="0" u="none" strike="noStrike" baseline="0">
                <a:solidFill>
                  <a:srgbClr val="424242"/>
                </a:solidFill>
                <a:latin typeface="Malgun Gothic"/>
              </a:rPr>
              <a:t> </a:t>
            </a:r>
            <a:r>
              <a:rPr lang="en-US" sz="1400" b="1" i="0" u="none" strike="noStrike" baseline="0" err="1">
                <a:solidFill>
                  <a:srgbClr val="424242"/>
                </a:solidFill>
                <a:latin typeface="Malgun Gothic"/>
              </a:rPr>
              <a:t>커지고</a:t>
            </a:r>
            <a:r>
              <a:rPr lang="en-US" sz="1400" b="1" i="0" u="none" strike="noStrike" baseline="0">
                <a:solidFill>
                  <a:srgbClr val="424242"/>
                </a:solidFill>
                <a:latin typeface="Malgun Gothic"/>
              </a:rPr>
              <a:t> </a:t>
            </a:r>
            <a:r>
              <a:rPr lang="en-US" sz="1400" b="1" i="0" u="none" strike="noStrike" baseline="0" err="1">
                <a:solidFill>
                  <a:srgbClr val="424242"/>
                </a:solidFill>
                <a:latin typeface="Malgun Gothic"/>
              </a:rPr>
              <a:t>있다</a:t>
            </a:r>
            <a:endParaRPr lang="en-US" altLang="ko-KR" sz="1400" b="1" err="1">
              <a:solidFill>
                <a:srgbClr val="424242"/>
              </a:solidFill>
              <a:latin typeface="Malgun Gothic"/>
              <a:cs typeface="Arial"/>
            </a:endParaRP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6BF01BA4-993A-E9C8-15C0-294E7BE20046}"/>
              </a:ext>
            </a:extLst>
          </p:cNvPr>
          <p:cNvCxnSpPr>
            <a:cxnSpLocks/>
          </p:cNvCxnSpPr>
          <p:nvPr/>
        </p:nvCxnSpPr>
        <p:spPr>
          <a:xfrm flipV="1">
            <a:off x="6519793" y="1135551"/>
            <a:ext cx="0" cy="511495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656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939E6-2F82-20CA-1280-EF11F4B6C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EF92D3-C6ED-F336-838A-3C4372801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74896B-5EF7-B6F3-D196-CA66CF706E00}"/>
              </a:ext>
            </a:extLst>
          </p:cNvPr>
          <p:cNvSpPr txBox="1"/>
          <p:nvPr/>
        </p:nvSpPr>
        <p:spPr>
          <a:xfrm>
            <a:off x="6534384" y="1068387"/>
            <a:ext cx="5118538" cy="52467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altLang="ko-KR" sz="35000">
                <a:solidFill>
                  <a:srgbClr val="223D60"/>
                </a:solidFill>
                <a:cs typeface="Arial"/>
              </a:rPr>
              <a:t>02</a:t>
            </a:r>
            <a:endParaRPr lang="ko-KR" altLang="en-US" sz="35000">
              <a:solidFill>
                <a:srgbClr val="223D60"/>
              </a:solidFill>
              <a:cs typeface="Arial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9A2D4E0E-F952-908F-D75D-9C77BE4BFFCD}"/>
              </a:ext>
            </a:extLst>
          </p:cNvPr>
          <p:cNvCxnSpPr/>
          <p:nvPr/>
        </p:nvCxnSpPr>
        <p:spPr>
          <a:xfrm>
            <a:off x="210622" y="977497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917268B-A8EF-0FE4-0D30-226194F4F294}"/>
              </a:ext>
            </a:extLst>
          </p:cNvPr>
          <p:cNvCxnSpPr/>
          <p:nvPr/>
        </p:nvCxnSpPr>
        <p:spPr>
          <a:xfrm>
            <a:off x="210622" y="6395580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BDD82B0-018E-F7EA-3711-87CFF8149A2D}"/>
              </a:ext>
            </a:extLst>
          </p:cNvPr>
          <p:cNvSpPr txBox="1"/>
          <p:nvPr/>
        </p:nvSpPr>
        <p:spPr>
          <a:xfrm>
            <a:off x="378372" y="1355836"/>
            <a:ext cx="4309242" cy="121593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5400" b="1">
                <a:latin typeface="+mj-lt"/>
              </a:rPr>
              <a:t>Pain Point</a:t>
            </a:r>
            <a:endParaRPr lang="ko-KR" altLang="en-US" sz="5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46737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1FB7B-79A1-393A-A19A-FD68E0D5E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A5BEE9B-6C57-055C-4AE3-DB58CD6240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813785-97E8-2CF0-DCCE-DB594C8C46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 </a:t>
            </a:r>
            <a:r>
              <a:rPr lang="ko-KR" altLang="en-US"/>
              <a:t>실무자 인터뷰</a:t>
            </a:r>
            <a:r>
              <a:rPr lang="en-US"/>
              <a:t> </a:t>
            </a:r>
            <a:r>
              <a:rPr lang="ko-KR" altLang="en-US"/>
              <a:t>증빙자료</a:t>
            </a:r>
            <a:endParaRPr 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E64ECCCC-60E7-A5E3-634A-4B8A60EB8D8A}"/>
              </a:ext>
            </a:extLst>
          </p:cNvPr>
          <p:cNvCxnSpPr/>
          <p:nvPr/>
        </p:nvCxnSpPr>
        <p:spPr>
          <a:xfrm>
            <a:off x="210622" y="977497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B29B5D2-5E3C-90F9-B015-CD0EF543390B}"/>
              </a:ext>
            </a:extLst>
          </p:cNvPr>
          <p:cNvCxnSpPr/>
          <p:nvPr/>
        </p:nvCxnSpPr>
        <p:spPr>
          <a:xfrm>
            <a:off x="210622" y="6395580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B47F312-2D50-8BF9-5EE8-0650D69421E2}"/>
              </a:ext>
            </a:extLst>
          </p:cNvPr>
          <p:cNvSpPr txBox="1"/>
          <p:nvPr/>
        </p:nvSpPr>
        <p:spPr>
          <a:xfrm>
            <a:off x="365778" y="461366"/>
            <a:ext cx="9818745" cy="5128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ko-KR" altLang="en-US" sz="3000" b="1">
                <a:latin typeface="+mj-lt"/>
              </a:rPr>
              <a:t>업무 흐름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000CF11-BEEF-2399-15FB-5332D628DB7B}"/>
              </a:ext>
            </a:extLst>
          </p:cNvPr>
          <p:cNvGrpSpPr/>
          <p:nvPr/>
        </p:nvGrpSpPr>
        <p:grpSpPr>
          <a:xfrm>
            <a:off x="527110" y="1813141"/>
            <a:ext cx="11171645" cy="2930936"/>
            <a:chOff x="504645" y="1716142"/>
            <a:chExt cx="11171645" cy="2930936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732A0EF2-5C86-3CD4-0635-71FBAE3AE18E}"/>
                </a:ext>
              </a:extLst>
            </p:cNvPr>
            <p:cNvGrpSpPr>
              <a:grpSpLocks/>
            </p:cNvGrpSpPr>
            <p:nvPr/>
          </p:nvGrpSpPr>
          <p:grpSpPr>
            <a:xfrm>
              <a:off x="534364" y="2310885"/>
              <a:ext cx="11123272" cy="2336193"/>
              <a:chOff x="251566" y="4256958"/>
              <a:chExt cx="12768205" cy="2235916"/>
            </a:xfrm>
          </p:grpSpPr>
          <p:sp>
            <p:nvSpPr>
              <p:cNvPr id="3" name="화살표: 오각형 2">
                <a:extLst>
                  <a:ext uri="{FF2B5EF4-FFF2-40B4-BE49-F238E27FC236}">
                    <a16:creationId xmlns:a16="http://schemas.microsoft.com/office/drawing/2014/main" id="{A56865A6-B49C-3775-74B4-646343C2517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528137" y="4256958"/>
                <a:ext cx="2491634" cy="2235916"/>
              </a:xfrm>
              <a:prstGeom prst="homePlate">
                <a:avLst>
                  <a:gd name="adj" fmla="val 19620"/>
                </a:avLst>
              </a:prstGeom>
              <a:solidFill>
                <a:srgbClr val="0A71B4">
                  <a:alpha val="49000"/>
                </a:srgbClr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/>
                  <a:t> </a:t>
                </a:r>
                <a:endParaRPr lang="ko-KR" altLang="en-US" sz="1600"/>
              </a:p>
            </p:txBody>
          </p:sp>
          <p:sp>
            <p:nvSpPr>
              <p:cNvPr id="9" name="화살표: 오각형 8">
                <a:extLst>
                  <a:ext uri="{FF2B5EF4-FFF2-40B4-BE49-F238E27FC236}">
                    <a16:creationId xmlns:a16="http://schemas.microsoft.com/office/drawing/2014/main" id="{D433CCA2-CF6C-AB1F-8835-64B13C7EAF7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70992" y="4256958"/>
                <a:ext cx="2491634" cy="2235916"/>
              </a:xfrm>
              <a:prstGeom prst="homePlate">
                <a:avLst>
                  <a:gd name="adj" fmla="val 19620"/>
                </a:avLst>
              </a:prstGeom>
              <a:solidFill>
                <a:srgbClr val="87B8DC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10" name="화살표: 오각형 9">
                <a:extLst>
                  <a:ext uri="{FF2B5EF4-FFF2-40B4-BE49-F238E27FC236}">
                    <a16:creationId xmlns:a16="http://schemas.microsoft.com/office/drawing/2014/main" id="{6EA2BE04-B6EC-FF90-820E-C452C5ADD99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418424" y="4256958"/>
                <a:ext cx="2491634" cy="2235916"/>
              </a:xfrm>
              <a:prstGeom prst="homePlate">
                <a:avLst>
                  <a:gd name="adj" fmla="val 19620"/>
                </a:avLst>
              </a:prstGeom>
              <a:solidFill>
                <a:srgbClr val="B2D0E8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11" name="화살표: 오각형 10">
                <a:extLst>
                  <a:ext uri="{FF2B5EF4-FFF2-40B4-BE49-F238E27FC236}">
                    <a16:creationId xmlns:a16="http://schemas.microsoft.com/office/drawing/2014/main" id="{F936116D-E545-C675-119F-B08391A03E7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361279" y="4256958"/>
                <a:ext cx="2491634" cy="2235916"/>
              </a:xfrm>
              <a:prstGeom prst="homePlate">
                <a:avLst>
                  <a:gd name="adj" fmla="val 19620"/>
                </a:avLst>
              </a:prstGeom>
              <a:solidFill>
                <a:srgbClr val="C7DCEA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12" name="화살표: 오각형 11">
                <a:extLst>
                  <a:ext uri="{FF2B5EF4-FFF2-40B4-BE49-F238E27FC236}">
                    <a16:creationId xmlns:a16="http://schemas.microsoft.com/office/drawing/2014/main" id="{65B60E01-596F-8904-91DC-14EBB51A55C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308711" y="4256958"/>
                <a:ext cx="2491634" cy="2235916"/>
              </a:xfrm>
              <a:prstGeom prst="homePlate">
                <a:avLst>
                  <a:gd name="adj" fmla="val 19620"/>
                </a:avLst>
              </a:prstGeom>
              <a:solidFill>
                <a:srgbClr val="DCE8F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13" name="화살표: 오각형 12">
                <a:extLst>
                  <a:ext uri="{FF2B5EF4-FFF2-40B4-BE49-F238E27FC236}">
                    <a16:creationId xmlns:a16="http://schemas.microsoft.com/office/drawing/2014/main" id="{94CB0914-4E52-C8AD-F626-4E5AD2C2197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1566" y="4256958"/>
                <a:ext cx="2491634" cy="2235916"/>
              </a:xfrm>
              <a:prstGeom prst="homePlate">
                <a:avLst>
                  <a:gd name="adj" fmla="val 19620"/>
                </a:avLst>
              </a:prstGeom>
              <a:solidFill>
                <a:srgbClr val="FEFDFD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</p:grp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9EA2AB32-A959-A41E-11B4-36EF3DA15F0C}"/>
                </a:ext>
              </a:extLst>
            </p:cNvPr>
            <p:cNvCxnSpPr>
              <a:cxnSpLocks/>
            </p:cNvCxnSpPr>
            <p:nvPr/>
          </p:nvCxnSpPr>
          <p:spPr>
            <a:xfrm>
              <a:off x="504645" y="1716142"/>
              <a:ext cx="11051650" cy="0"/>
            </a:xfrm>
            <a:prstGeom prst="line">
              <a:avLst/>
            </a:prstGeom>
            <a:ln w="31750">
              <a:solidFill>
                <a:srgbClr val="0A71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제목 1">
              <a:extLst>
                <a:ext uri="{FF2B5EF4-FFF2-40B4-BE49-F238E27FC236}">
                  <a16:creationId xmlns:a16="http://schemas.microsoft.com/office/drawing/2014/main" id="{8DA887AF-F4F0-1E25-5555-462B6180B3A8}"/>
                </a:ext>
              </a:extLst>
            </p:cNvPr>
            <p:cNvSpPr txBox="1">
              <a:spLocks/>
            </p:cNvSpPr>
            <p:nvPr/>
          </p:nvSpPr>
          <p:spPr>
            <a:xfrm>
              <a:off x="590244" y="1903394"/>
              <a:ext cx="781191" cy="81434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ko-KR" sz="4000">
                  <a:solidFill>
                    <a:srgbClr val="213B5D"/>
                  </a:solidFill>
                  <a:latin typeface="HancomEQN" panose="02000000000000000000" pitchFamily="2" charset="0"/>
                  <a:ea typeface="HancomEQN" panose="02000000000000000000" pitchFamily="2" charset="0"/>
                </a:rPr>
                <a:t>01</a:t>
              </a:r>
              <a:endParaRPr lang="ko-KR" altLang="en-US" sz="4000">
                <a:solidFill>
                  <a:srgbClr val="213B5D"/>
                </a:solidFill>
                <a:latin typeface="HancomEQN" panose="02000000000000000000" pitchFamily="2" charset="0"/>
                <a:ea typeface="HancomEQN" panose="02000000000000000000" pitchFamily="2" charset="0"/>
              </a:endParaRPr>
            </a:p>
          </p:txBody>
        </p:sp>
        <p:sp>
          <p:nvSpPr>
            <p:cNvPr id="16" name="제목 1">
              <a:extLst>
                <a:ext uri="{FF2B5EF4-FFF2-40B4-BE49-F238E27FC236}">
                  <a16:creationId xmlns:a16="http://schemas.microsoft.com/office/drawing/2014/main" id="{09A0BB1C-8D1B-827F-BE32-24F82440AFD7}"/>
                </a:ext>
              </a:extLst>
            </p:cNvPr>
            <p:cNvSpPr txBox="1">
              <a:spLocks/>
            </p:cNvSpPr>
            <p:nvPr/>
          </p:nvSpPr>
          <p:spPr>
            <a:xfrm>
              <a:off x="2493249" y="1903394"/>
              <a:ext cx="781191" cy="81434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ko-KR" sz="4000">
                  <a:solidFill>
                    <a:srgbClr val="213B5D"/>
                  </a:solidFill>
                  <a:latin typeface="HancomEQN" panose="02000000000000000000" pitchFamily="2" charset="0"/>
                  <a:ea typeface="HancomEQN" panose="02000000000000000000" pitchFamily="2" charset="0"/>
                </a:rPr>
                <a:t>02</a:t>
              </a:r>
              <a:endParaRPr lang="ko-KR" altLang="en-US" sz="4000">
                <a:solidFill>
                  <a:srgbClr val="213B5D"/>
                </a:solidFill>
                <a:latin typeface="HancomEQN" panose="02000000000000000000" pitchFamily="2" charset="0"/>
                <a:ea typeface="HancomEQN" panose="02000000000000000000" pitchFamily="2" charset="0"/>
              </a:endParaRPr>
            </a:p>
          </p:txBody>
        </p:sp>
        <p:sp>
          <p:nvSpPr>
            <p:cNvPr id="17" name="제목 1">
              <a:extLst>
                <a:ext uri="{FF2B5EF4-FFF2-40B4-BE49-F238E27FC236}">
                  <a16:creationId xmlns:a16="http://schemas.microsoft.com/office/drawing/2014/main" id="{D29FD3E8-AAE0-0323-FF6F-E2115CE78906}"/>
                </a:ext>
              </a:extLst>
            </p:cNvPr>
            <p:cNvSpPr txBox="1">
              <a:spLocks/>
            </p:cNvSpPr>
            <p:nvPr/>
          </p:nvSpPr>
          <p:spPr>
            <a:xfrm>
              <a:off x="4293464" y="1903394"/>
              <a:ext cx="781191" cy="81434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ko-KR" sz="4000">
                  <a:solidFill>
                    <a:srgbClr val="213B5D"/>
                  </a:solidFill>
                  <a:latin typeface="HancomEQN" panose="02000000000000000000" pitchFamily="2" charset="0"/>
                  <a:ea typeface="HancomEQN" panose="02000000000000000000" pitchFamily="2" charset="0"/>
                </a:rPr>
                <a:t>03</a:t>
              </a:r>
              <a:endParaRPr lang="ko-KR" altLang="en-US" sz="4000">
                <a:solidFill>
                  <a:srgbClr val="213B5D"/>
                </a:solidFill>
                <a:latin typeface="HancomEQN" panose="02000000000000000000" pitchFamily="2" charset="0"/>
                <a:ea typeface="HancomEQN" panose="02000000000000000000" pitchFamily="2" charset="0"/>
              </a:endParaRPr>
            </a:p>
          </p:txBody>
        </p:sp>
        <p:sp>
          <p:nvSpPr>
            <p:cNvPr id="18" name="제목 1">
              <a:extLst>
                <a:ext uri="{FF2B5EF4-FFF2-40B4-BE49-F238E27FC236}">
                  <a16:creationId xmlns:a16="http://schemas.microsoft.com/office/drawing/2014/main" id="{C6E167DC-450B-6084-51EC-5CFB7530A133}"/>
                </a:ext>
              </a:extLst>
            </p:cNvPr>
            <p:cNvSpPr txBox="1">
              <a:spLocks/>
            </p:cNvSpPr>
            <p:nvPr/>
          </p:nvSpPr>
          <p:spPr>
            <a:xfrm>
              <a:off x="6158461" y="1903394"/>
              <a:ext cx="781191" cy="81434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ko-KR" sz="4000">
                  <a:solidFill>
                    <a:srgbClr val="213B5D"/>
                  </a:solidFill>
                  <a:latin typeface="HancomEQN" panose="02000000000000000000" pitchFamily="2" charset="0"/>
                  <a:ea typeface="HancomEQN" panose="02000000000000000000" pitchFamily="2" charset="0"/>
                </a:rPr>
                <a:t>04</a:t>
              </a:r>
              <a:endParaRPr lang="ko-KR" altLang="en-US" sz="4000">
                <a:solidFill>
                  <a:srgbClr val="213B5D"/>
                </a:solidFill>
                <a:latin typeface="HancomEQN" panose="02000000000000000000" pitchFamily="2" charset="0"/>
                <a:ea typeface="HancomEQN" panose="02000000000000000000" pitchFamily="2" charset="0"/>
              </a:endParaRPr>
            </a:p>
          </p:txBody>
        </p:sp>
        <p:sp>
          <p:nvSpPr>
            <p:cNvPr id="19" name="제목 1">
              <a:extLst>
                <a:ext uri="{FF2B5EF4-FFF2-40B4-BE49-F238E27FC236}">
                  <a16:creationId xmlns:a16="http://schemas.microsoft.com/office/drawing/2014/main" id="{EF9B83F6-05B0-6946-3D34-DDF3ECE9FB07}"/>
                </a:ext>
              </a:extLst>
            </p:cNvPr>
            <p:cNvSpPr txBox="1">
              <a:spLocks/>
            </p:cNvSpPr>
            <p:nvPr/>
          </p:nvSpPr>
          <p:spPr>
            <a:xfrm>
              <a:off x="7988733" y="1903394"/>
              <a:ext cx="781191" cy="81434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ko-KR" sz="4000">
                  <a:solidFill>
                    <a:srgbClr val="213B5D"/>
                  </a:solidFill>
                  <a:latin typeface="HancomEQN" panose="02000000000000000000" pitchFamily="2" charset="0"/>
                  <a:ea typeface="HancomEQN" panose="02000000000000000000" pitchFamily="2" charset="0"/>
                </a:rPr>
                <a:t>05</a:t>
              </a:r>
              <a:endParaRPr lang="ko-KR" altLang="en-US" sz="4000">
                <a:solidFill>
                  <a:srgbClr val="213B5D"/>
                </a:solidFill>
                <a:latin typeface="HancomEQN" panose="02000000000000000000" pitchFamily="2" charset="0"/>
                <a:ea typeface="HancomEQN" panose="02000000000000000000" pitchFamily="2" charset="0"/>
              </a:endParaRPr>
            </a:p>
          </p:txBody>
        </p:sp>
        <p:sp>
          <p:nvSpPr>
            <p:cNvPr id="20" name="제목 1">
              <a:extLst>
                <a:ext uri="{FF2B5EF4-FFF2-40B4-BE49-F238E27FC236}">
                  <a16:creationId xmlns:a16="http://schemas.microsoft.com/office/drawing/2014/main" id="{C5324D45-6EE7-06D9-CEB4-15FF823C5EB2}"/>
                </a:ext>
              </a:extLst>
            </p:cNvPr>
            <p:cNvSpPr txBox="1">
              <a:spLocks/>
            </p:cNvSpPr>
            <p:nvPr/>
          </p:nvSpPr>
          <p:spPr>
            <a:xfrm>
              <a:off x="9715936" y="1903711"/>
              <a:ext cx="781191" cy="81434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ko-KR" sz="4000">
                  <a:solidFill>
                    <a:srgbClr val="213B5D"/>
                  </a:solidFill>
                  <a:latin typeface="HancomEQN" panose="02000000000000000000" pitchFamily="2" charset="0"/>
                  <a:ea typeface="HancomEQN" panose="02000000000000000000" pitchFamily="2" charset="0"/>
                </a:rPr>
                <a:t>06</a:t>
              </a:r>
              <a:endParaRPr lang="ko-KR" altLang="en-US" sz="4000">
                <a:solidFill>
                  <a:srgbClr val="213B5D"/>
                </a:solidFill>
                <a:latin typeface="HancomEQN" panose="02000000000000000000" pitchFamily="2" charset="0"/>
                <a:ea typeface="HancomEQN" panose="02000000000000000000" pitchFamily="2" charset="0"/>
              </a:endParaRPr>
            </a:p>
          </p:txBody>
        </p:sp>
        <p:sp>
          <p:nvSpPr>
            <p:cNvPr id="21" name="제목 1">
              <a:extLst>
                <a:ext uri="{FF2B5EF4-FFF2-40B4-BE49-F238E27FC236}">
                  <a16:creationId xmlns:a16="http://schemas.microsoft.com/office/drawing/2014/main" id="{557C9576-07E8-8412-3E8D-C6147C2E00AB}"/>
                </a:ext>
              </a:extLst>
            </p:cNvPr>
            <p:cNvSpPr txBox="1">
              <a:spLocks/>
            </p:cNvSpPr>
            <p:nvPr/>
          </p:nvSpPr>
          <p:spPr>
            <a:xfrm>
              <a:off x="6394990" y="2914612"/>
              <a:ext cx="1878344" cy="65108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ko-KR" altLang="en-US" sz="1600" b="1">
                  <a:solidFill>
                    <a:srgbClr val="070C13"/>
                  </a:solidFill>
                  <a:latin typeface="맑은 고딕"/>
                  <a:ea typeface="맑은 고딕"/>
                </a:rPr>
                <a:t>변경 사유 확인</a:t>
              </a:r>
              <a:endParaRPr lang="ko-KR" altLang="en-US" sz="1600">
                <a:solidFill>
                  <a:srgbClr val="070C13"/>
                </a:solidFill>
                <a:latin typeface="맑은 고딕" panose="020B0503020000020004" pitchFamily="34" charset="-127"/>
                <a:ea typeface="맑은 고딕" panose="020B0503020000020004" pitchFamily="34" charset="-127"/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0EC4369B-E5B0-4A06-3EF3-893D1C0CE837}"/>
                </a:ext>
              </a:extLst>
            </p:cNvPr>
            <p:cNvGrpSpPr/>
            <p:nvPr/>
          </p:nvGrpSpPr>
          <p:grpSpPr>
            <a:xfrm>
              <a:off x="802403" y="2905541"/>
              <a:ext cx="10873887" cy="1534815"/>
              <a:chOff x="833152" y="3532957"/>
              <a:chExt cx="10873887" cy="1534815"/>
            </a:xfrm>
          </p:grpSpPr>
          <p:sp>
            <p:nvSpPr>
              <p:cNvPr id="23" name="제목 1">
                <a:extLst>
                  <a:ext uri="{FF2B5EF4-FFF2-40B4-BE49-F238E27FC236}">
                    <a16:creationId xmlns:a16="http://schemas.microsoft.com/office/drawing/2014/main" id="{68DF47B8-31C6-256E-B743-7F35780B7F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7136" y="3542028"/>
                <a:ext cx="1232592" cy="65108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ko-KR" altLang="en-US" sz="1600" b="1">
                    <a:solidFill>
                      <a:srgbClr val="070C13"/>
                    </a:solidFill>
                    <a:latin typeface="+mn-ea"/>
                    <a:ea typeface="+mn-ea"/>
                  </a:rPr>
                  <a:t>월 마감</a:t>
                </a:r>
                <a:endParaRPr lang="ko-KR" altLang="en-US" sz="1600">
                  <a:solidFill>
                    <a:srgbClr val="070C13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4" name="제목 1">
                <a:extLst>
                  <a:ext uri="{FF2B5EF4-FFF2-40B4-BE49-F238E27FC236}">
                    <a16:creationId xmlns:a16="http://schemas.microsoft.com/office/drawing/2014/main" id="{9FEFC8E9-BDB9-A9BD-A24C-A0D0CBBBF51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50412" y="3542028"/>
                <a:ext cx="1403817" cy="65108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ko-KR" altLang="en-US" sz="1600" b="1">
                    <a:solidFill>
                      <a:srgbClr val="070C13"/>
                    </a:solidFill>
                    <a:latin typeface="+mn-ea"/>
                    <a:ea typeface="+mn-ea"/>
                  </a:rPr>
                  <a:t>실적 집계</a:t>
                </a:r>
                <a:endParaRPr lang="ko-KR" altLang="en-US" sz="1600">
                  <a:solidFill>
                    <a:srgbClr val="070C13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5" name="제목 1">
                <a:extLst>
                  <a:ext uri="{FF2B5EF4-FFF2-40B4-BE49-F238E27FC236}">
                    <a16:creationId xmlns:a16="http://schemas.microsoft.com/office/drawing/2014/main" id="{FE166CC9-D10F-542C-EDD8-6172164649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36732" y="3542028"/>
                <a:ext cx="1414544" cy="65108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ko-KR" altLang="en-US" sz="1600" b="1">
                    <a:solidFill>
                      <a:srgbClr val="070C13"/>
                    </a:solidFill>
                    <a:latin typeface="+mn-ea"/>
                    <a:ea typeface="+mn-ea"/>
                  </a:rPr>
                  <a:t>실적 분석</a:t>
                </a:r>
                <a:endParaRPr lang="ko-KR" altLang="en-US" sz="1600">
                  <a:solidFill>
                    <a:srgbClr val="070C13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6" name="제목 1">
                <a:extLst>
                  <a:ext uri="{FF2B5EF4-FFF2-40B4-BE49-F238E27FC236}">
                    <a16:creationId xmlns:a16="http://schemas.microsoft.com/office/drawing/2014/main" id="{4D01BFA9-F846-3F52-4D43-F052D6CA77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73865" y="3532957"/>
                <a:ext cx="1611106" cy="65108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ko-KR" altLang="en-US" sz="1600" b="1">
                    <a:solidFill>
                      <a:srgbClr val="070C13"/>
                    </a:solidFill>
                    <a:latin typeface="맑은 고딕"/>
                    <a:ea typeface="맑은 고딕"/>
                  </a:rPr>
                  <a:t>보고 자료 작성</a:t>
                </a:r>
                <a:endParaRPr lang="ko-KR" altLang="en-US" sz="1600">
                  <a:solidFill>
                    <a:srgbClr val="070C13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27" name="제목 1">
                <a:extLst>
                  <a:ext uri="{FF2B5EF4-FFF2-40B4-BE49-F238E27FC236}">
                    <a16:creationId xmlns:a16="http://schemas.microsoft.com/office/drawing/2014/main" id="{8E4CCEBF-31D9-D2EC-F156-DD07E8DC1C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805581" y="3542028"/>
                <a:ext cx="1901458" cy="65108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ko-KR" altLang="en-US" sz="1600" b="1">
                    <a:solidFill>
                      <a:srgbClr val="070C13"/>
                    </a:solidFill>
                    <a:latin typeface="+mn-ea"/>
                    <a:ea typeface="+mn-ea"/>
                  </a:rPr>
                  <a:t>다음 달 계획 점검</a:t>
                </a:r>
                <a:endParaRPr lang="ko-KR" altLang="en-US" sz="1600">
                  <a:solidFill>
                    <a:srgbClr val="070C13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8" name="제목 1">
                <a:extLst>
                  <a:ext uri="{FF2B5EF4-FFF2-40B4-BE49-F238E27FC236}">
                    <a16:creationId xmlns:a16="http://schemas.microsoft.com/office/drawing/2014/main" id="{131335A7-9685-B3CC-8A3D-9D3CD18833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3152" y="3728569"/>
                <a:ext cx="1667608" cy="113636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ko-KR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한 달 실적을 정리</a:t>
                </a:r>
                <a:endParaRPr lang="ko-KR" altLang="en-US" sz="1400">
                  <a:solidFill>
                    <a:srgbClr val="070C13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9" name="제목 1">
                <a:extLst>
                  <a:ext uri="{FF2B5EF4-FFF2-40B4-BE49-F238E27FC236}">
                    <a16:creationId xmlns:a16="http://schemas.microsoft.com/office/drawing/2014/main" id="{7D13D663-D7F7-DCCC-206D-8ADA499E2A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35749" y="3931410"/>
                <a:ext cx="1667608" cy="113636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ko-KR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생산</a:t>
                </a:r>
                <a:r>
                  <a:rPr lang="en-US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, </a:t>
                </a:r>
                <a:r>
                  <a:rPr lang="ko-KR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구매</a:t>
                </a:r>
                <a:r>
                  <a:rPr lang="en-US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, </a:t>
                </a:r>
                <a:r>
                  <a:rPr lang="ko-KR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설계</a:t>
                </a:r>
                <a:r>
                  <a:rPr lang="en-US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, </a:t>
                </a:r>
                <a:r>
                  <a:rPr lang="ko-KR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재무</a:t>
                </a:r>
                <a:r>
                  <a:rPr lang="en-US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, </a:t>
                </a:r>
                <a:r>
                  <a:rPr lang="ko-KR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원가 등 여러 부서의 데이터를 모음</a:t>
                </a:r>
                <a:endParaRPr lang="ko-KR" altLang="en-US" sz="1400">
                  <a:solidFill>
                    <a:srgbClr val="070C13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0" name="제목 1">
                <a:extLst>
                  <a:ext uri="{FF2B5EF4-FFF2-40B4-BE49-F238E27FC236}">
                    <a16:creationId xmlns:a16="http://schemas.microsoft.com/office/drawing/2014/main" id="{3DD78D87-7D0C-4394-CBB8-23EAC04822B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02534" y="3762437"/>
                <a:ext cx="1820949" cy="113636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ko-KR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예산과 실제 결과가 얼마나 다른</a:t>
                </a:r>
                <a:r>
                  <a:rPr lang="en-US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ko-KR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지 확인</a:t>
                </a:r>
                <a:endParaRPr lang="ko-KR" altLang="en-US" sz="1400">
                  <a:solidFill>
                    <a:srgbClr val="070C13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1" name="제목 1">
                <a:extLst>
                  <a:ext uri="{FF2B5EF4-FFF2-40B4-BE49-F238E27FC236}">
                    <a16:creationId xmlns:a16="http://schemas.microsoft.com/office/drawing/2014/main" id="{B51C5B60-6D80-9AA8-629B-10B1D59E261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46389" y="3845327"/>
                <a:ext cx="1667608" cy="113636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ko-KR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왜 비용이 늘었는지</a:t>
                </a:r>
                <a:r>
                  <a:rPr lang="en-US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, </a:t>
                </a:r>
                <a:r>
                  <a:rPr lang="ko-KR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왜 일정이 늦어졌는지 등을 확인</a:t>
                </a:r>
                <a:endParaRPr lang="ko-KR" altLang="en-US" sz="1400">
                  <a:solidFill>
                    <a:srgbClr val="070C13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2" name="제목 1">
                <a:extLst>
                  <a:ext uri="{FF2B5EF4-FFF2-40B4-BE49-F238E27FC236}">
                    <a16:creationId xmlns:a16="http://schemas.microsoft.com/office/drawing/2014/main" id="{CC49396F-E1C2-E20B-809F-105C69B5DB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31293" y="3831792"/>
                <a:ext cx="1667608" cy="113636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ko-KR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분석한 내용을 정리해서 의사결정에 쓰이도록 보고</a:t>
                </a:r>
                <a:endParaRPr lang="ko-KR" altLang="en-US" sz="1400">
                  <a:solidFill>
                    <a:srgbClr val="070C13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3" name="제목 1">
                <a:extLst>
                  <a:ext uri="{FF2B5EF4-FFF2-40B4-BE49-F238E27FC236}">
                    <a16:creationId xmlns:a16="http://schemas.microsoft.com/office/drawing/2014/main" id="{82FCC811-27F3-9703-ECEF-7C242585F6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867078" y="3733253"/>
                <a:ext cx="1769537" cy="113636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ko-KR" altLang="ko-KR" sz="1400" kern="100">
                    <a:latin typeface="+mn-ea"/>
                    <a:ea typeface="+mn-ea"/>
                    <a:cs typeface="Times New Roman" panose="02020603050405020304" pitchFamily="18" charset="0"/>
                  </a:rPr>
                  <a:t>앞으로의 실적 전망을 수정하고 계획</a:t>
                </a:r>
                <a:endParaRPr lang="ko-KR" altLang="en-US" sz="1400">
                  <a:solidFill>
                    <a:srgbClr val="070C13"/>
                  </a:solidFill>
                  <a:latin typeface="+mn-ea"/>
                  <a:ea typeface="+mn-ea"/>
                </a:endParaRPr>
              </a:p>
            </p:txBody>
          </p:sp>
        </p:grp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A96EC6A-26DA-7D3B-2F03-575E32D483B9}"/>
              </a:ext>
            </a:extLst>
          </p:cNvPr>
          <p:cNvSpPr/>
          <p:nvPr/>
        </p:nvSpPr>
        <p:spPr>
          <a:xfrm>
            <a:off x="1409171" y="5221239"/>
            <a:ext cx="9373658" cy="77324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400" b="1">
                <a:solidFill>
                  <a:srgbClr val="424242"/>
                </a:solidFill>
                <a:latin typeface="Malgun Gothic"/>
                <a:cs typeface="Arial"/>
              </a:rPr>
              <a:t>수작업 기반 데이터 취합</a:t>
            </a:r>
            <a:r>
              <a:rPr lang="en-US" altLang="ko-KR" sz="1400" b="1">
                <a:solidFill>
                  <a:srgbClr val="424242"/>
                </a:solidFill>
                <a:latin typeface="Malgun Gothic"/>
                <a:cs typeface="Arial"/>
              </a:rPr>
              <a:t>·</a:t>
            </a:r>
            <a:r>
              <a:rPr lang="ko-KR" altLang="en-US" sz="1400" b="1">
                <a:solidFill>
                  <a:srgbClr val="424242"/>
                </a:solidFill>
                <a:latin typeface="Malgun Gothic"/>
                <a:cs typeface="Arial"/>
              </a:rPr>
              <a:t>검증으로 인해 업무 지연과 오류 리스크 발생</a:t>
            </a:r>
            <a:endParaRPr lang="en-US" altLang="ko-KR" sz="1400" b="1">
              <a:solidFill>
                <a:srgbClr val="424242"/>
              </a:solidFill>
              <a:latin typeface="Malgun Gothic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4245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40FEA-7B22-5850-0365-091D1BD8A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BDB70B-9311-461F-F665-7A9412F409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79C0C4-B299-1DE9-9E35-F4BC7E6CDD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 </a:t>
            </a:r>
            <a:r>
              <a:rPr lang="ko-KR" altLang="en-US"/>
              <a:t>실무자 인터뷰 증빙자료</a:t>
            </a:r>
            <a:endParaRPr 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E77ED9A8-C870-7746-B36E-E451EB80FE54}"/>
              </a:ext>
            </a:extLst>
          </p:cNvPr>
          <p:cNvCxnSpPr/>
          <p:nvPr/>
        </p:nvCxnSpPr>
        <p:spPr>
          <a:xfrm>
            <a:off x="210622" y="977497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86748E98-537D-ED76-68A5-7BFF97B6ED03}"/>
              </a:ext>
            </a:extLst>
          </p:cNvPr>
          <p:cNvCxnSpPr/>
          <p:nvPr/>
        </p:nvCxnSpPr>
        <p:spPr>
          <a:xfrm>
            <a:off x="210622" y="6395580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817D34B-8AEA-E558-E3C3-7BD1D6023E56}"/>
              </a:ext>
            </a:extLst>
          </p:cNvPr>
          <p:cNvSpPr txBox="1"/>
          <p:nvPr/>
        </p:nvSpPr>
        <p:spPr>
          <a:xfrm>
            <a:off x="365778" y="461366"/>
            <a:ext cx="9818745" cy="5128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3000" b="1">
                <a:latin typeface="+mj-lt"/>
              </a:rPr>
              <a:t>Pain Points</a:t>
            </a:r>
            <a:endParaRPr lang="ko-KR" altLang="en-US" sz="3000" b="1">
              <a:latin typeface="+mj-lt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95E5ED1C-11A1-E086-B8C7-536796FD6C91}"/>
              </a:ext>
            </a:extLst>
          </p:cNvPr>
          <p:cNvGrpSpPr/>
          <p:nvPr/>
        </p:nvGrpSpPr>
        <p:grpSpPr>
          <a:xfrm>
            <a:off x="623993" y="1293539"/>
            <a:ext cx="10944013" cy="1227259"/>
            <a:chOff x="623993" y="1339979"/>
            <a:chExt cx="10944013" cy="1051560"/>
          </a:xfrm>
        </p:grpSpPr>
        <p:sp>
          <p:nvSpPr>
            <p:cNvPr id="3" name="Rounded Rectangle 5">
              <a:extLst>
                <a:ext uri="{FF2B5EF4-FFF2-40B4-BE49-F238E27FC236}">
                  <a16:creationId xmlns:a16="http://schemas.microsoft.com/office/drawing/2014/main" id="{B7AC9943-DACD-475B-8AB2-0EF87EE9EE84}"/>
                </a:ext>
              </a:extLst>
            </p:cNvPr>
            <p:cNvSpPr/>
            <p:nvPr/>
          </p:nvSpPr>
          <p:spPr>
            <a:xfrm>
              <a:off x="623993" y="1339979"/>
              <a:ext cx="10944013" cy="1051560"/>
            </a:xfrm>
            <a:prstGeom prst="roundRect">
              <a:avLst/>
            </a:prstGeom>
            <a:solidFill>
              <a:srgbClr val="F5F7FA"/>
            </a:solidFill>
            <a:ln w="12700">
              <a:solidFill>
                <a:srgbClr val="DCE1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95EA054-26C0-E0E0-F5BF-9FADAA5E553C}"/>
                </a:ext>
              </a:extLst>
            </p:cNvPr>
            <p:cNvSpPr txBox="1"/>
            <p:nvPr/>
          </p:nvSpPr>
          <p:spPr>
            <a:xfrm>
              <a:off x="623993" y="1529508"/>
              <a:ext cx="10944013" cy="36317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sz="2000" b="1" i="0" u="none">
                  <a:solidFill>
                    <a:srgbClr val="1C375A"/>
                  </a:solidFill>
                  <a:latin typeface="Malgun Gothic"/>
                </a:rPr>
                <a:t>EAC </a:t>
              </a:r>
              <a:r>
                <a:rPr sz="2000" b="1" i="0" u="none" err="1">
                  <a:solidFill>
                    <a:srgbClr val="1C375A"/>
                  </a:solidFill>
                  <a:latin typeface="Malgun Gothic"/>
                </a:rPr>
                <a:t>갱신</a:t>
              </a:r>
              <a:r>
                <a:rPr sz="2000" b="1" i="0" u="none">
                  <a:solidFill>
                    <a:srgbClr val="1C375A"/>
                  </a:solidFill>
                  <a:latin typeface="Malgun Gothic"/>
                </a:rPr>
                <a:t> </a:t>
              </a:r>
              <a:r>
                <a:rPr sz="2000" b="1" i="0" u="none" err="1">
                  <a:solidFill>
                    <a:srgbClr val="1C375A"/>
                  </a:solidFill>
                  <a:latin typeface="Malgun Gothic"/>
                </a:rPr>
                <a:t>프로세스의</a:t>
              </a:r>
              <a:r>
                <a:rPr sz="2000" b="1" i="0" u="none">
                  <a:solidFill>
                    <a:srgbClr val="1C375A"/>
                  </a:solidFill>
                  <a:latin typeface="Malgun Gothic"/>
                </a:rPr>
                <a:t> </a:t>
              </a:r>
              <a:r>
                <a:rPr sz="2000" b="1" i="0" u="none" err="1">
                  <a:solidFill>
                    <a:srgbClr val="1C375A"/>
                  </a:solidFill>
                  <a:latin typeface="Malgun Gothic"/>
                </a:rPr>
                <a:t>수작업</a:t>
              </a:r>
              <a:r>
                <a:rPr sz="2000" b="1" i="0" u="none">
                  <a:solidFill>
                    <a:srgbClr val="1C375A"/>
                  </a:solidFill>
                  <a:latin typeface="Malgun Gothic"/>
                </a:rPr>
                <a:t> </a:t>
              </a:r>
              <a:r>
                <a:rPr sz="2000" b="1" i="0" u="none" err="1">
                  <a:solidFill>
                    <a:srgbClr val="1C375A"/>
                  </a:solidFill>
                  <a:latin typeface="Malgun Gothic"/>
                </a:rPr>
                <a:t>검증</a:t>
              </a:r>
              <a:r>
                <a:rPr sz="2000" b="1" i="0" u="none">
                  <a:solidFill>
                    <a:srgbClr val="1C375A"/>
                  </a:solidFill>
                  <a:latin typeface="Malgun Gothic"/>
                </a:rPr>
                <a:t> </a:t>
              </a:r>
              <a:r>
                <a:rPr sz="2000" b="1" i="0" u="none" err="1">
                  <a:solidFill>
                    <a:srgbClr val="1C375A"/>
                  </a:solidFill>
                  <a:latin typeface="Malgun Gothic"/>
                </a:rPr>
                <a:t>병목</a:t>
              </a:r>
              <a:endParaRPr sz="2000" b="1" i="0" u="none">
                <a:solidFill>
                  <a:srgbClr val="1C375A"/>
                </a:solidFill>
                <a:latin typeface="Malgun Gothic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ACFB7DF-9498-2113-3B6B-77830791F5BC}"/>
              </a:ext>
            </a:extLst>
          </p:cNvPr>
          <p:cNvSpPr txBox="1"/>
          <p:nvPr/>
        </p:nvSpPr>
        <p:spPr>
          <a:xfrm>
            <a:off x="623993" y="1997840"/>
            <a:ext cx="10944013" cy="27853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450" b="1" i="0" u="none">
                <a:solidFill>
                  <a:srgbClr val="141414"/>
                </a:solidFill>
                <a:latin typeface="Malgun Gothic"/>
              </a:rPr>
              <a:t>월 1회 </a:t>
            </a:r>
            <a:r>
              <a:rPr sz="1450" b="1" i="0" u="none" err="1">
                <a:solidFill>
                  <a:srgbClr val="141414"/>
                </a:solidFill>
                <a:latin typeface="Malgun Gothic"/>
              </a:rPr>
              <a:t>엑셀</a:t>
            </a:r>
            <a:r>
              <a:rPr sz="1450" b="1" i="0" u="none">
                <a:solidFill>
                  <a:srgbClr val="141414"/>
                </a:solidFill>
                <a:latin typeface="Malgun Gothic"/>
              </a:rPr>
              <a:t> </a:t>
            </a:r>
            <a:r>
              <a:rPr sz="1450" b="1" i="0" u="none" err="1">
                <a:solidFill>
                  <a:srgbClr val="141414"/>
                </a:solidFill>
                <a:latin typeface="Malgun Gothic"/>
              </a:rPr>
              <a:t>수작업</a:t>
            </a:r>
            <a:r>
              <a:rPr sz="1450" b="1" i="0" u="none">
                <a:solidFill>
                  <a:srgbClr val="141414"/>
                </a:solidFill>
                <a:latin typeface="Malgun Gothic"/>
              </a:rPr>
              <a:t> </a:t>
            </a:r>
            <a:r>
              <a:rPr sz="1450" b="1" i="0" u="none" err="1">
                <a:solidFill>
                  <a:srgbClr val="141414"/>
                </a:solidFill>
                <a:latin typeface="Malgun Gothic"/>
              </a:rPr>
              <a:t>기반</a:t>
            </a:r>
            <a:r>
              <a:rPr sz="1450" b="1" i="0" u="none">
                <a:solidFill>
                  <a:srgbClr val="141414"/>
                </a:solidFill>
                <a:latin typeface="Malgun Gothic"/>
              </a:rPr>
              <a:t> EAC </a:t>
            </a:r>
            <a:r>
              <a:rPr sz="1450" b="1" i="0" u="none" err="1">
                <a:solidFill>
                  <a:srgbClr val="141414"/>
                </a:solidFill>
                <a:latin typeface="Malgun Gothic"/>
              </a:rPr>
              <a:t>갱신으로</a:t>
            </a:r>
            <a:r>
              <a:rPr sz="1450" b="1" i="0" u="none">
                <a:solidFill>
                  <a:srgbClr val="141414"/>
                </a:solidFill>
                <a:latin typeface="Malgun Gothic"/>
              </a:rPr>
              <a:t> </a:t>
            </a:r>
            <a:r>
              <a:rPr sz="1450" b="1" i="0" u="none" err="1">
                <a:solidFill>
                  <a:srgbClr val="141414"/>
                </a:solidFill>
                <a:latin typeface="Malgun Gothic"/>
              </a:rPr>
              <a:t>현장</a:t>
            </a:r>
            <a:r>
              <a:rPr sz="1450" b="1" i="0" u="none">
                <a:solidFill>
                  <a:srgbClr val="141414"/>
                </a:solidFill>
                <a:latin typeface="Malgun Gothic"/>
              </a:rPr>
              <a:t> </a:t>
            </a:r>
            <a:r>
              <a:rPr sz="1450" b="1" i="0" u="none" err="1">
                <a:solidFill>
                  <a:srgbClr val="141414"/>
                </a:solidFill>
                <a:latin typeface="Malgun Gothic"/>
              </a:rPr>
              <a:t>변화</a:t>
            </a:r>
            <a:r>
              <a:rPr sz="1450" b="1" i="0" u="none">
                <a:solidFill>
                  <a:srgbClr val="141414"/>
                </a:solidFill>
                <a:latin typeface="Malgun Gothic"/>
              </a:rPr>
              <a:t> </a:t>
            </a:r>
            <a:r>
              <a:rPr sz="1450" b="1" i="0" u="none" err="1">
                <a:solidFill>
                  <a:srgbClr val="141414"/>
                </a:solidFill>
                <a:latin typeface="Malgun Gothic"/>
              </a:rPr>
              <a:t>반영이</a:t>
            </a:r>
            <a:r>
              <a:rPr sz="1450" b="1" i="0" u="none">
                <a:solidFill>
                  <a:srgbClr val="141414"/>
                </a:solidFill>
                <a:latin typeface="Malgun Gothic"/>
              </a:rPr>
              <a:t> </a:t>
            </a:r>
            <a:r>
              <a:rPr sz="1450" b="1" i="0" u="none" err="1">
                <a:solidFill>
                  <a:srgbClr val="141414"/>
                </a:solidFill>
                <a:latin typeface="Malgun Gothic"/>
              </a:rPr>
              <a:t>지연되고</a:t>
            </a:r>
            <a:r>
              <a:rPr sz="1450" b="1" i="0" u="none">
                <a:solidFill>
                  <a:srgbClr val="141414"/>
                </a:solidFill>
                <a:latin typeface="Malgun Gothic"/>
              </a:rPr>
              <a:t>, </a:t>
            </a:r>
            <a:r>
              <a:rPr sz="1450" b="1" i="0" u="none" err="1">
                <a:solidFill>
                  <a:srgbClr val="141414"/>
                </a:solidFill>
                <a:latin typeface="Malgun Gothic"/>
              </a:rPr>
              <a:t>부서별</a:t>
            </a:r>
            <a:r>
              <a:rPr sz="1450" b="1" i="0" u="none">
                <a:solidFill>
                  <a:srgbClr val="141414"/>
                </a:solidFill>
                <a:latin typeface="Malgun Gothic"/>
              </a:rPr>
              <a:t> </a:t>
            </a:r>
            <a:r>
              <a:rPr sz="1450" b="1" i="0" u="none" err="1">
                <a:solidFill>
                  <a:srgbClr val="141414"/>
                </a:solidFill>
                <a:latin typeface="Malgun Gothic"/>
              </a:rPr>
              <a:t>데이터</a:t>
            </a:r>
            <a:r>
              <a:rPr sz="1450" b="1" i="0" u="none">
                <a:solidFill>
                  <a:srgbClr val="141414"/>
                </a:solidFill>
                <a:latin typeface="Malgun Gothic"/>
              </a:rPr>
              <a:t> </a:t>
            </a:r>
            <a:r>
              <a:rPr sz="1450" b="1" i="0" u="none" err="1">
                <a:solidFill>
                  <a:srgbClr val="141414"/>
                </a:solidFill>
                <a:latin typeface="Malgun Gothic"/>
              </a:rPr>
              <a:t>비교·검증에</a:t>
            </a:r>
            <a:r>
              <a:rPr sz="1450" b="1" i="0" u="none">
                <a:solidFill>
                  <a:srgbClr val="141414"/>
                </a:solidFill>
                <a:latin typeface="Malgun Gothic"/>
              </a:rPr>
              <a:t> </a:t>
            </a:r>
            <a:r>
              <a:rPr sz="1450" b="1" i="0" u="none" err="1">
                <a:solidFill>
                  <a:srgbClr val="141414"/>
                </a:solidFill>
                <a:latin typeface="Malgun Gothic"/>
              </a:rPr>
              <a:t>과도한</a:t>
            </a:r>
            <a:r>
              <a:rPr sz="1450" b="1" i="0" u="none">
                <a:solidFill>
                  <a:srgbClr val="141414"/>
                </a:solidFill>
                <a:latin typeface="Malgun Gothic"/>
              </a:rPr>
              <a:t> </a:t>
            </a:r>
            <a:r>
              <a:rPr sz="1450" b="1" i="0" u="none" err="1">
                <a:solidFill>
                  <a:srgbClr val="141414"/>
                </a:solidFill>
                <a:latin typeface="Malgun Gothic"/>
              </a:rPr>
              <a:t>시간이</a:t>
            </a:r>
            <a:r>
              <a:rPr sz="1450" b="1" i="0" u="none">
                <a:solidFill>
                  <a:srgbClr val="141414"/>
                </a:solidFill>
                <a:latin typeface="Malgun Gothic"/>
              </a:rPr>
              <a:t> </a:t>
            </a:r>
            <a:r>
              <a:rPr sz="1450" b="1" i="0" u="none" err="1">
                <a:solidFill>
                  <a:srgbClr val="141414"/>
                </a:solidFill>
                <a:latin typeface="Malgun Gothic"/>
              </a:rPr>
              <a:t>소요됨</a:t>
            </a:r>
            <a:endParaRPr sz="1450" b="1" i="0" u="none">
              <a:solidFill>
                <a:srgbClr val="141414"/>
              </a:solidFill>
              <a:latin typeface="Malgun Gothic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1A2C549-F5A0-5194-510B-7D8FE2E82F99}"/>
              </a:ext>
            </a:extLst>
          </p:cNvPr>
          <p:cNvGrpSpPr/>
          <p:nvPr/>
        </p:nvGrpSpPr>
        <p:grpSpPr>
          <a:xfrm>
            <a:off x="1270846" y="2783904"/>
            <a:ext cx="9650308" cy="950820"/>
            <a:chOff x="1432560" y="2889504"/>
            <a:chExt cx="8595360" cy="566928"/>
          </a:xfrm>
        </p:grpSpPr>
        <p:sp>
          <p:nvSpPr>
            <p:cNvPr id="11" name="Rounded Rectangle 9">
              <a:extLst>
                <a:ext uri="{FF2B5EF4-FFF2-40B4-BE49-F238E27FC236}">
                  <a16:creationId xmlns:a16="http://schemas.microsoft.com/office/drawing/2014/main" id="{F4C3FBFB-76EE-F17F-62AB-CA297C4D866A}"/>
                </a:ext>
              </a:extLst>
            </p:cNvPr>
            <p:cNvSpPr/>
            <p:nvPr/>
          </p:nvSpPr>
          <p:spPr>
            <a:xfrm>
              <a:off x="1432560" y="2889504"/>
              <a:ext cx="2011680" cy="566928"/>
            </a:xfrm>
            <a:prstGeom prst="roundRect">
              <a:avLst/>
            </a:prstGeom>
            <a:solidFill>
              <a:srgbClr val="DDEBF7"/>
            </a:solidFill>
            <a:ln w="12700">
              <a:solidFill>
                <a:srgbClr val="5B9BD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59CF2A2-29A8-1917-27D4-32EBF705E8C4}"/>
                </a:ext>
              </a:extLst>
            </p:cNvPr>
            <p:cNvSpPr txBox="1"/>
            <p:nvPr/>
          </p:nvSpPr>
          <p:spPr>
            <a:xfrm>
              <a:off x="1478280" y="3003999"/>
              <a:ext cx="1920240" cy="161491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sz="1400" b="1" i="0" u="none" err="1">
                  <a:solidFill>
                    <a:srgbClr val="1C375A"/>
                  </a:solidFill>
                  <a:latin typeface="Malgun Gothic"/>
                </a:rPr>
                <a:t>현장</a:t>
              </a:r>
              <a:r>
                <a:rPr sz="1400" b="1" i="0" u="none">
                  <a:solidFill>
                    <a:srgbClr val="1C375A"/>
                  </a:solidFill>
                  <a:latin typeface="Malgun Gothic"/>
                </a:rPr>
                <a:t> </a:t>
              </a:r>
              <a:r>
                <a:rPr sz="1400" b="1" i="0" u="none" err="1">
                  <a:solidFill>
                    <a:srgbClr val="1C375A"/>
                  </a:solidFill>
                  <a:latin typeface="Malgun Gothic"/>
                </a:rPr>
                <a:t>변화</a:t>
              </a:r>
              <a:r>
                <a:rPr sz="1400" b="1" i="0" u="none">
                  <a:solidFill>
                    <a:srgbClr val="1C375A"/>
                  </a:solidFill>
                  <a:latin typeface="Malgun Gothic"/>
                </a:rPr>
                <a:t> </a:t>
              </a:r>
              <a:r>
                <a:rPr sz="1400" b="1" i="0" u="none" err="1">
                  <a:solidFill>
                    <a:srgbClr val="1C375A"/>
                  </a:solidFill>
                  <a:latin typeface="Malgun Gothic"/>
                </a:rPr>
                <a:t>발생</a:t>
              </a:r>
              <a:endParaRPr sz="1400" b="1" i="0" u="none">
                <a:solidFill>
                  <a:srgbClr val="1C375A"/>
                </a:solidFill>
                <a:latin typeface="Malgun Gothic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D4C33A9-7550-5231-5F2B-06F517136CBC}"/>
                </a:ext>
              </a:extLst>
            </p:cNvPr>
            <p:cNvSpPr txBox="1"/>
            <p:nvPr/>
          </p:nvSpPr>
          <p:spPr>
            <a:xfrm>
              <a:off x="1478280" y="3185254"/>
              <a:ext cx="1920240" cy="143140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설계변경·원자재가·공정지연</a:t>
              </a:r>
              <a:endParaRPr sz="1200" b="0" i="0" u="none">
                <a:solidFill>
                  <a:srgbClr val="141414"/>
                </a:solidFill>
                <a:latin typeface="Malgun Gothic"/>
              </a:endParaRPr>
            </a:p>
          </p:txBody>
        </p:sp>
        <p:cxnSp>
          <p:nvCxnSpPr>
            <p:cNvPr id="14" name="Connector 12">
              <a:extLst>
                <a:ext uri="{FF2B5EF4-FFF2-40B4-BE49-F238E27FC236}">
                  <a16:creationId xmlns:a16="http://schemas.microsoft.com/office/drawing/2014/main" id="{E35A1688-7316-65A2-BE13-2B18BAF06431}"/>
                </a:ext>
              </a:extLst>
            </p:cNvPr>
            <p:cNvCxnSpPr/>
            <p:nvPr/>
          </p:nvCxnSpPr>
          <p:spPr>
            <a:xfrm>
              <a:off x="3444240" y="3172968"/>
              <a:ext cx="182880" cy="0"/>
            </a:xfrm>
            <a:prstGeom prst="line">
              <a:avLst/>
            </a:prstGeom>
            <a:ln w="1778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3">
              <a:extLst>
                <a:ext uri="{FF2B5EF4-FFF2-40B4-BE49-F238E27FC236}">
                  <a16:creationId xmlns:a16="http://schemas.microsoft.com/office/drawing/2014/main" id="{DE4C2D39-F342-D906-891C-389A2D63A996}"/>
                </a:ext>
              </a:extLst>
            </p:cNvPr>
            <p:cNvSpPr/>
            <p:nvPr/>
          </p:nvSpPr>
          <p:spPr>
            <a:xfrm>
              <a:off x="3627120" y="2889504"/>
              <a:ext cx="2011680" cy="566928"/>
            </a:xfrm>
            <a:prstGeom prst="roundRect">
              <a:avLst/>
            </a:prstGeom>
            <a:solidFill>
              <a:srgbClr val="DDEBF7"/>
            </a:solidFill>
            <a:ln w="12700">
              <a:solidFill>
                <a:srgbClr val="5B9BD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A3DB7F5-E9B7-1C84-B0FE-8B0129BF0D76}"/>
                </a:ext>
              </a:extLst>
            </p:cNvPr>
            <p:cNvSpPr txBox="1"/>
            <p:nvPr/>
          </p:nvSpPr>
          <p:spPr>
            <a:xfrm>
              <a:off x="3672840" y="3003999"/>
              <a:ext cx="1920240" cy="161491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sz="1400" b="1" i="0" u="none" err="1">
                  <a:solidFill>
                    <a:srgbClr val="1C375A"/>
                  </a:solidFill>
                  <a:latin typeface="Malgun Gothic"/>
                </a:rPr>
                <a:t>부서별</a:t>
              </a:r>
              <a:r>
                <a:rPr sz="1400" b="1" i="0" u="none">
                  <a:solidFill>
                    <a:srgbClr val="1C375A"/>
                  </a:solidFill>
                  <a:latin typeface="Malgun Gothic"/>
                </a:rPr>
                <a:t> </a:t>
              </a:r>
              <a:r>
                <a:rPr sz="1400" b="1" i="0" u="none" err="1">
                  <a:solidFill>
                    <a:srgbClr val="1C375A"/>
                  </a:solidFill>
                  <a:latin typeface="Malgun Gothic"/>
                </a:rPr>
                <a:t>데이터</a:t>
              </a:r>
              <a:r>
                <a:rPr sz="1400" b="1" i="0" u="none">
                  <a:solidFill>
                    <a:srgbClr val="1C375A"/>
                  </a:solidFill>
                  <a:latin typeface="Malgun Gothic"/>
                </a:rPr>
                <a:t> </a:t>
              </a:r>
              <a:r>
                <a:rPr sz="1400" b="1" i="0" u="none" err="1">
                  <a:solidFill>
                    <a:srgbClr val="1C375A"/>
                  </a:solidFill>
                  <a:latin typeface="Malgun Gothic"/>
                </a:rPr>
                <a:t>생성</a:t>
              </a:r>
              <a:endParaRPr sz="1400" b="1" i="0" u="none">
                <a:solidFill>
                  <a:srgbClr val="1C375A"/>
                </a:solidFill>
                <a:latin typeface="Malgun Gothic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17052A3-2D9C-DF01-0EDD-D3865E0373BC}"/>
                </a:ext>
              </a:extLst>
            </p:cNvPr>
            <p:cNvSpPr txBox="1"/>
            <p:nvPr/>
          </p:nvSpPr>
          <p:spPr>
            <a:xfrm>
              <a:off x="3672840" y="3185254"/>
              <a:ext cx="1920240" cy="143140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설계·구매·생산·재무</a:t>
              </a:r>
            </a:p>
          </p:txBody>
        </p:sp>
        <p:cxnSp>
          <p:nvCxnSpPr>
            <p:cNvPr id="18" name="Connector 16">
              <a:extLst>
                <a:ext uri="{FF2B5EF4-FFF2-40B4-BE49-F238E27FC236}">
                  <a16:creationId xmlns:a16="http://schemas.microsoft.com/office/drawing/2014/main" id="{D2A59D4E-0715-CF1C-1E2C-0585FA584F69}"/>
                </a:ext>
              </a:extLst>
            </p:cNvPr>
            <p:cNvCxnSpPr/>
            <p:nvPr/>
          </p:nvCxnSpPr>
          <p:spPr>
            <a:xfrm>
              <a:off x="5638800" y="3172968"/>
              <a:ext cx="182880" cy="0"/>
            </a:xfrm>
            <a:prstGeom prst="line">
              <a:avLst/>
            </a:prstGeom>
            <a:ln w="1778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ounded Rectangle 17">
              <a:extLst>
                <a:ext uri="{FF2B5EF4-FFF2-40B4-BE49-F238E27FC236}">
                  <a16:creationId xmlns:a16="http://schemas.microsoft.com/office/drawing/2014/main" id="{8AEB026D-F820-C048-BD71-A13948D54742}"/>
                </a:ext>
              </a:extLst>
            </p:cNvPr>
            <p:cNvSpPr/>
            <p:nvPr/>
          </p:nvSpPr>
          <p:spPr>
            <a:xfrm>
              <a:off x="5821680" y="2889504"/>
              <a:ext cx="2011680" cy="566928"/>
            </a:xfrm>
            <a:prstGeom prst="roundRect">
              <a:avLst/>
            </a:prstGeom>
            <a:solidFill>
              <a:srgbClr val="FFE7E7"/>
            </a:solidFill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310F3F5-DC1F-CC3E-B049-18B5490DF8FA}"/>
                </a:ext>
              </a:extLst>
            </p:cNvPr>
            <p:cNvSpPr txBox="1"/>
            <p:nvPr/>
          </p:nvSpPr>
          <p:spPr>
            <a:xfrm>
              <a:off x="5867400" y="3003999"/>
              <a:ext cx="1920240" cy="161491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sz="1400" b="1" i="0" u="none">
                  <a:solidFill>
                    <a:srgbClr val="C00000"/>
                  </a:solidFill>
                  <a:latin typeface="Malgun Gothic"/>
                </a:rPr>
                <a:t>엑셀 취합/대조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F5254B1-3C05-B5C6-7762-E42523E1D10C}"/>
                </a:ext>
              </a:extLst>
            </p:cNvPr>
            <p:cNvSpPr txBox="1"/>
            <p:nvPr/>
          </p:nvSpPr>
          <p:spPr>
            <a:xfrm>
              <a:off x="5867400" y="3185254"/>
              <a:ext cx="1920240" cy="143140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수동 비교·정합성 검증</a:t>
              </a:r>
            </a:p>
          </p:txBody>
        </p:sp>
        <p:cxnSp>
          <p:nvCxnSpPr>
            <p:cNvPr id="22" name="Connector 20">
              <a:extLst>
                <a:ext uri="{FF2B5EF4-FFF2-40B4-BE49-F238E27FC236}">
                  <a16:creationId xmlns:a16="http://schemas.microsoft.com/office/drawing/2014/main" id="{9977D5E6-5CDA-05D6-790C-EC86C8DC9101}"/>
                </a:ext>
              </a:extLst>
            </p:cNvPr>
            <p:cNvCxnSpPr/>
            <p:nvPr/>
          </p:nvCxnSpPr>
          <p:spPr>
            <a:xfrm>
              <a:off x="7833360" y="3172968"/>
              <a:ext cx="182880" cy="0"/>
            </a:xfrm>
            <a:prstGeom prst="line">
              <a:avLst/>
            </a:prstGeom>
            <a:ln w="1778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ounded Rectangle 21">
              <a:extLst>
                <a:ext uri="{FF2B5EF4-FFF2-40B4-BE49-F238E27FC236}">
                  <a16:creationId xmlns:a16="http://schemas.microsoft.com/office/drawing/2014/main" id="{3A4D1C44-B743-63E6-F391-3C132519E369}"/>
                </a:ext>
              </a:extLst>
            </p:cNvPr>
            <p:cNvSpPr/>
            <p:nvPr/>
          </p:nvSpPr>
          <p:spPr>
            <a:xfrm>
              <a:off x="8016240" y="2889504"/>
              <a:ext cx="2011680" cy="566928"/>
            </a:xfrm>
            <a:prstGeom prst="roundRect">
              <a:avLst/>
            </a:prstGeom>
            <a:solidFill>
              <a:srgbClr val="DDEBF7"/>
            </a:solidFill>
            <a:ln w="12700">
              <a:solidFill>
                <a:srgbClr val="5B9BD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53B5C10-5A79-CBCE-5829-75110DB566C7}"/>
                </a:ext>
              </a:extLst>
            </p:cNvPr>
            <p:cNvSpPr txBox="1"/>
            <p:nvPr/>
          </p:nvSpPr>
          <p:spPr>
            <a:xfrm>
              <a:off x="8061960" y="3003999"/>
              <a:ext cx="1920240" cy="161491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sz="1400" b="1" i="0" u="none">
                  <a:solidFill>
                    <a:srgbClr val="1C375A"/>
                  </a:solidFill>
                  <a:latin typeface="Malgun Gothic"/>
                </a:rPr>
                <a:t>EAC/</a:t>
              </a:r>
              <a:r>
                <a:rPr sz="1400" b="1" i="0" u="none" err="1">
                  <a:solidFill>
                    <a:srgbClr val="1C375A"/>
                  </a:solidFill>
                  <a:latin typeface="Malgun Gothic"/>
                </a:rPr>
                <a:t>회계</a:t>
              </a:r>
              <a:r>
                <a:rPr sz="1400" b="1" i="0" u="none">
                  <a:solidFill>
                    <a:srgbClr val="1C375A"/>
                  </a:solidFill>
                  <a:latin typeface="Malgun Gothic"/>
                </a:rPr>
                <a:t> </a:t>
              </a:r>
              <a:r>
                <a:rPr sz="1400" b="1" i="0" u="none" err="1">
                  <a:solidFill>
                    <a:srgbClr val="1C375A"/>
                  </a:solidFill>
                  <a:latin typeface="Malgun Gothic"/>
                </a:rPr>
                <a:t>반영</a:t>
              </a:r>
              <a:endParaRPr sz="1400" b="1" i="0" u="none">
                <a:solidFill>
                  <a:srgbClr val="1C375A"/>
                </a:solidFill>
                <a:latin typeface="Malgun Gothic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F9B2A01-70A0-6597-A32E-C2944FB16CBE}"/>
                </a:ext>
              </a:extLst>
            </p:cNvPr>
            <p:cNvSpPr txBox="1"/>
            <p:nvPr/>
          </p:nvSpPr>
          <p:spPr>
            <a:xfrm>
              <a:off x="8061960" y="3185254"/>
              <a:ext cx="1920240" cy="143140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월결산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시점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재산정</a:t>
              </a:r>
              <a:endParaRPr sz="1200" b="0" i="0" u="none">
                <a:solidFill>
                  <a:srgbClr val="141414"/>
                </a:solidFill>
                <a:latin typeface="Malgun Gothic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3E349AC-CF70-B078-DB32-524A5485BDDD}"/>
              </a:ext>
            </a:extLst>
          </p:cNvPr>
          <p:cNvGrpSpPr/>
          <p:nvPr/>
        </p:nvGrpSpPr>
        <p:grpSpPr>
          <a:xfrm>
            <a:off x="1112520" y="4083533"/>
            <a:ext cx="9966960" cy="1530958"/>
            <a:chOff x="1203960" y="3822192"/>
            <a:chExt cx="9966960" cy="1325880"/>
          </a:xfrm>
        </p:grpSpPr>
        <p:sp>
          <p:nvSpPr>
            <p:cNvPr id="27" name="Rounded Rectangle 24">
              <a:extLst>
                <a:ext uri="{FF2B5EF4-FFF2-40B4-BE49-F238E27FC236}">
                  <a16:creationId xmlns:a16="http://schemas.microsoft.com/office/drawing/2014/main" id="{4116F3B4-581A-1108-C8A4-6319DAAD0D3B}"/>
                </a:ext>
              </a:extLst>
            </p:cNvPr>
            <p:cNvSpPr/>
            <p:nvPr/>
          </p:nvSpPr>
          <p:spPr>
            <a:xfrm>
              <a:off x="1203960" y="3822192"/>
              <a:ext cx="3154680" cy="1325880"/>
            </a:xfrm>
            <a:prstGeom prst="roundRect">
              <a:avLst/>
            </a:prstGeom>
            <a:solidFill>
              <a:srgbClr val="EBF4FC"/>
            </a:solidFill>
            <a:ln w="12700">
              <a:solidFill>
                <a:srgbClr val="5B9BD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ounded Rectangle 25">
              <a:extLst>
                <a:ext uri="{FF2B5EF4-FFF2-40B4-BE49-F238E27FC236}">
                  <a16:creationId xmlns:a16="http://schemas.microsoft.com/office/drawing/2014/main" id="{0721A833-EE2B-07D0-57B8-FA46E22AC8BC}"/>
                </a:ext>
              </a:extLst>
            </p:cNvPr>
            <p:cNvSpPr/>
            <p:nvPr/>
          </p:nvSpPr>
          <p:spPr>
            <a:xfrm>
              <a:off x="1368552" y="3986784"/>
              <a:ext cx="502920" cy="329184"/>
            </a:xfrm>
            <a:prstGeom prst="roundRect">
              <a:avLst/>
            </a:prstGeom>
            <a:solidFill>
              <a:srgbClr val="5B9BD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36D8817-0295-9C63-B775-F192B96BA376}"/>
                </a:ext>
              </a:extLst>
            </p:cNvPr>
            <p:cNvSpPr txBox="1"/>
            <p:nvPr/>
          </p:nvSpPr>
          <p:spPr>
            <a:xfrm>
              <a:off x="1368552" y="4032504"/>
              <a:ext cx="502920" cy="201168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sz="1050" b="1" i="0" u="none">
                  <a:solidFill>
                    <a:srgbClr val="FFFFFF"/>
                  </a:solidFill>
                  <a:latin typeface="Malgun Gothic"/>
                </a:rPr>
                <a:t>01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C54D477-13C2-BD78-560B-8EB5B63909E2}"/>
                </a:ext>
              </a:extLst>
            </p:cNvPr>
            <p:cNvSpPr txBox="1"/>
            <p:nvPr/>
          </p:nvSpPr>
          <p:spPr>
            <a:xfrm>
              <a:off x="1953768" y="4019298"/>
              <a:ext cx="2221992" cy="270843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r>
                <a:rPr sz="1400" b="1" i="0" u="none" err="1">
                  <a:solidFill>
                    <a:srgbClr val="1C375A"/>
                  </a:solidFill>
                  <a:latin typeface="Malgun Gothic"/>
                </a:rPr>
                <a:t>현장</a:t>
              </a:r>
              <a:r>
                <a:rPr sz="1400" b="1" i="0" u="none">
                  <a:solidFill>
                    <a:srgbClr val="1C375A"/>
                  </a:solidFill>
                  <a:latin typeface="Malgun Gothic"/>
                </a:rPr>
                <a:t> </a:t>
              </a:r>
              <a:r>
                <a:rPr sz="1400" b="1" i="0" u="none" err="1">
                  <a:solidFill>
                    <a:srgbClr val="1C375A"/>
                  </a:solidFill>
                  <a:latin typeface="Malgun Gothic"/>
                </a:rPr>
                <a:t>변화</a:t>
              </a:r>
              <a:r>
                <a:rPr sz="1400" b="1" i="0" u="none">
                  <a:solidFill>
                    <a:srgbClr val="1C375A"/>
                  </a:solidFill>
                  <a:latin typeface="Malgun Gothic"/>
                </a:rPr>
                <a:t> </a:t>
              </a:r>
              <a:r>
                <a:rPr sz="1400" b="1" i="0" u="none" err="1">
                  <a:solidFill>
                    <a:srgbClr val="1C375A"/>
                  </a:solidFill>
                  <a:latin typeface="Malgun Gothic"/>
                </a:rPr>
                <a:t>반영</a:t>
              </a:r>
              <a:r>
                <a:rPr sz="1400" b="1" i="0" u="none">
                  <a:solidFill>
                    <a:srgbClr val="1C375A"/>
                  </a:solidFill>
                  <a:latin typeface="Malgun Gothic"/>
                </a:rPr>
                <a:t> </a:t>
              </a:r>
              <a:r>
                <a:rPr sz="1400" b="1" i="0" u="none" err="1">
                  <a:solidFill>
                    <a:srgbClr val="1C375A"/>
                  </a:solidFill>
                  <a:latin typeface="Malgun Gothic"/>
                </a:rPr>
                <a:t>지연</a:t>
              </a:r>
              <a:endParaRPr sz="1400" b="1" i="0" u="none">
                <a:solidFill>
                  <a:srgbClr val="1C375A"/>
                </a:solidFill>
                <a:latin typeface="Malgun Gothic"/>
              </a:endParaRPr>
            </a:p>
          </p:txBody>
        </p:sp>
        <p:cxnSp>
          <p:nvCxnSpPr>
            <p:cNvPr id="31" name="Connector 28">
              <a:extLst>
                <a:ext uri="{FF2B5EF4-FFF2-40B4-BE49-F238E27FC236}">
                  <a16:creationId xmlns:a16="http://schemas.microsoft.com/office/drawing/2014/main" id="{F0C3A261-7D79-971A-08DD-03907CA1ED40}"/>
                </a:ext>
              </a:extLst>
            </p:cNvPr>
            <p:cNvCxnSpPr/>
            <p:nvPr/>
          </p:nvCxnSpPr>
          <p:spPr>
            <a:xfrm>
              <a:off x="1405128" y="4389120"/>
              <a:ext cx="2752344" cy="0"/>
            </a:xfrm>
            <a:prstGeom prst="line">
              <a:avLst/>
            </a:prstGeom>
            <a:ln w="10160">
              <a:solidFill>
                <a:srgbClr val="D2DCE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6DFB780-7126-8399-4F38-23C55205674D}"/>
                </a:ext>
              </a:extLst>
            </p:cNvPr>
            <p:cNvSpPr txBox="1"/>
            <p:nvPr/>
          </p:nvSpPr>
          <p:spPr>
            <a:xfrm>
              <a:off x="1459992" y="4491515"/>
              <a:ext cx="2697480" cy="527767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EAC가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월 1회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결산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시점에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갱신되어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
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최신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원가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변동이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회계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데이터에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
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즉시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반영되지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않음</a:t>
              </a:r>
              <a:endParaRPr sz="1200" b="0" i="0" u="none">
                <a:solidFill>
                  <a:srgbClr val="141414"/>
                </a:solidFill>
                <a:latin typeface="Malgun Gothic"/>
              </a:endParaRPr>
            </a:p>
          </p:txBody>
        </p:sp>
        <p:sp>
          <p:nvSpPr>
            <p:cNvPr id="33" name="Rounded Rectangle 30">
              <a:extLst>
                <a:ext uri="{FF2B5EF4-FFF2-40B4-BE49-F238E27FC236}">
                  <a16:creationId xmlns:a16="http://schemas.microsoft.com/office/drawing/2014/main" id="{EAD11FB9-B028-BE14-610A-259A5A307E10}"/>
                </a:ext>
              </a:extLst>
            </p:cNvPr>
            <p:cNvSpPr/>
            <p:nvPr/>
          </p:nvSpPr>
          <p:spPr>
            <a:xfrm>
              <a:off x="4614672" y="3822192"/>
              <a:ext cx="3154680" cy="1325880"/>
            </a:xfrm>
            <a:prstGeom prst="roundRect">
              <a:avLst/>
            </a:prstGeom>
            <a:solidFill>
              <a:srgbClr val="EBF4FC"/>
            </a:solidFill>
            <a:ln w="12700">
              <a:solidFill>
                <a:srgbClr val="5B9BD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ounded Rectangle 31">
              <a:extLst>
                <a:ext uri="{FF2B5EF4-FFF2-40B4-BE49-F238E27FC236}">
                  <a16:creationId xmlns:a16="http://schemas.microsoft.com/office/drawing/2014/main" id="{D5B2B233-2517-7651-C3E0-B9A84D0F900B}"/>
                </a:ext>
              </a:extLst>
            </p:cNvPr>
            <p:cNvSpPr/>
            <p:nvPr/>
          </p:nvSpPr>
          <p:spPr>
            <a:xfrm>
              <a:off x="4779264" y="3986784"/>
              <a:ext cx="502920" cy="329184"/>
            </a:xfrm>
            <a:prstGeom prst="roundRect">
              <a:avLst/>
            </a:prstGeom>
            <a:solidFill>
              <a:srgbClr val="5B9BD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71DDFF0-0EEF-C014-3143-45B1BA3E539F}"/>
                </a:ext>
              </a:extLst>
            </p:cNvPr>
            <p:cNvSpPr txBox="1"/>
            <p:nvPr/>
          </p:nvSpPr>
          <p:spPr>
            <a:xfrm>
              <a:off x="4779264" y="4032504"/>
              <a:ext cx="502920" cy="201168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sz="1050" b="1" i="0" u="none">
                  <a:solidFill>
                    <a:srgbClr val="FFFFFF"/>
                  </a:solidFill>
                  <a:latin typeface="Malgun Gothic"/>
                </a:rPr>
                <a:t>02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F4CC163-18CB-40EF-44E6-3F3335AFF271}"/>
                </a:ext>
              </a:extLst>
            </p:cNvPr>
            <p:cNvSpPr txBox="1"/>
            <p:nvPr/>
          </p:nvSpPr>
          <p:spPr>
            <a:xfrm>
              <a:off x="5364480" y="4019298"/>
              <a:ext cx="2221992" cy="270843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r>
                <a:rPr sz="1400" b="1" i="0" u="none">
                  <a:solidFill>
                    <a:srgbClr val="1C375A"/>
                  </a:solidFill>
                  <a:latin typeface="Malgun Gothic"/>
                </a:rPr>
                <a:t>부서별 데이터 수동 비교</a:t>
              </a:r>
            </a:p>
          </p:txBody>
        </p:sp>
        <p:cxnSp>
          <p:nvCxnSpPr>
            <p:cNvPr id="37" name="Connector 34">
              <a:extLst>
                <a:ext uri="{FF2B5EF4-FFF2-40B4-BE49-F238E27FC236}">
                  <a16:creationId xmlns:a16="http://schemas.microsoft.com/office/drawing/2014/main" id="{29F171F3-5849-AF98-7901-0C8B3ED9A30F}"/>
                </a:ext>
              </a:extLst>
            </p:cNvPr>
            <p:cNvCxnSpPr/>
            <p:nvPr/>
          </p:nvCxnSpPr>
          <p:spPr>
            <a:xfrm>
              <a:off x="4815840" y="4389120"/>
              <a:ext cx="2752344" cy="0"/>
            </a:xfrm>
            <a:prstGeom prst="line">
              <a:avLst/>
            </a:prstGeom>
            <a:ln w="10160">
              <a:solidFill>
                <a:srgbClr val="D2DCE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BD0D37B-2DDF-3186-2576-DB1068F7B817}"/>
                </a:ext>
              </a:extLst>
            </p:cNvPr>
            <p:cNvSpPr txBox="1"/>
            <p:nvPr/>
          </p:nvSpPr>
          <p:spPr>
            <a:xfrm>
              <a:off x="4870704" y="4491515"/>
              <a:ext cx="2697480" cy="527767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ERP/MES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데이터를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내려받아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
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엑셀로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취합·가공하고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
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부서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간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데이터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정합성을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대조</a:t>
              </a:r>
              <a:endParaRPr sz="1200" b="0" i="0" u="none">
                <a:solidFill>
                  <a:srgbClr val="141414"/>
                </a:solidFill>
                <a:latin typeface="Malgun Gothic"/>
              </a:endParaRPr>
            </a:p>
          </p:txBody>
        </p:sp>
        <p:sp>
          <p:nvSpPr>
            <p:cNvPr id="39" name="Rounded Rectangle 36">
              <a:extLst>
                <a:ext uri="{FF2B5EF4-FFF2-40B4-BE49-F238E27FC236}">
                  <a16:creationId xmlns:a16="http://schemas.microsoft.com/office/drawing/2014/main" id="{C5D685B3-0DE6-B6E9-9993-09CDFA9875E9}"/>
                </a:ext>
              </a:extLst>
            </p:cNvPr>
            <p:cNvSpPr/>
            <p:nvPr/>
          </p:nvSpPr>
          <p:spPr>
            <a:xfrm>
              <a:off x="8016240" y="3822192"/>
              <a:ext cx="3154680" cy="1325880"/>
            </a:xfrm>
            <a:prstGeom prst="roundRect">
              <a:avLst/>
            </a:prstGeom>
            <a:solidFill>
              <a:srgbClr val="FFF3EB"/>
            </a:solidFill>
            <a:ln w="12700">
              <a:solidFill>
                <a:srgbClr val="ED7D3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ounded Rectangle 37">
              <a:extLst>
                <a:ext uri="{FF2B5EF4-FFF2-40B4-BE49-F238E27FC236}">
                  <a16:creationId xmlns:a16="http://schemas.microsoft.com/office/drawing/2014/main" id="{B9CC7172-4B2A-5CBD-D329-D495B9BE123C}"/>
                </a:ext>
              </a:extLst>
            </p:cNvPr>
            <p:cNvSpPr/>
            <p:nvPr/>
          </p:nvSpPr>
          <p:spPr>
            <a:xfrm>
              <a:off x="8180832" y="3986784"/>
              <a:ext cx="502920" cy="329184"/>
            </a:xfrm>
            <a:prstGeom prst="roundRect">
              <a:avLst/>
            </a:prstGeom>
            <a:solidFill>
              <a:srgbClr val="ED7D3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DCCFF92-D305-BE67-4E56-96A6C7F65B7F}"/>
                </a:ext>
              </a:extLst>
            </p:cNvPr>
            <p:cNvSpPr txBox="1"/>
            <p:nvPr/>
          </p:nvSpPr>
          <p:spPr>
            <a:xfrm>
              <a:off x="8180832" y="4032504"/>
              <a:ext cx="502920" cy="201168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sz="1050" b="1" i="0" u="none">
                  <a:solidFill>
                    <a:srgbClr val="FFFFFF"/>
                  </a:solidFill>
                  <a:latin typeface="Malgun Gothic"/>
                </a:rPr>
                <a:t>03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B25E209-24BD-CF3A-7440-26790FB4DB56}"/>
                </a:ext>
              </a:extLst>
            </p:cNvPr>
            <p:cNvSpPr txBox="1"/>
            <p:nvPr/>
          </p:nvSpPr>
          <p:spPr>
            <a:xfrm>
              <a:off x="8766048" y="4019298"/>
              <a:ext cx="2221992" cy="270843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r>
                <a:rPr sz="1400" b="1" i="0" u="none" err="1">
                  <a:solidFill>
                    <a:srgbClr val="964614"/>
                  </a:solidFill>
                  <a:latin typeface="Malgun Gothic"/>
                </a:rPr>
                <a:t>변경</a:t>
              </a:r>
              <a:r>
                <a:rPr sz="1400" b="1" i="0" u="none">
                  <a:solidFill>
                    <a:srgbClr val="964614"/>
                  </a:solidFill>
                  <a:latin typeface="Malgun Gothic"/>
                </a:rPr>
                <a:t> </a:t>
              </a:r>
              <a:r>
                <a:rPr sz="1400" b="1" i="0" u="none" err="1">
                  <a:solidFill>
                    <a:srgbClr val="964614"/>
                  </a:solidFill>
                  <a:latin typeface="Malgun Gothic"/>
                </a:rPr>
                <a:t>사유</a:t>
              </a:r>
              <a:r>
                <a:rPr sz="1400" b="1" i="0" u="none">
                  <a:solidFill>
                    <a:srgbClr val="964614"/>
                  </a:solidFill>
                  <a:latin typeface="Malgun Gothic"/>
                </a:rPr>
                <a:t> </a:t>
              </a:r>
              <a:r>
                <a:rPr sz="1400" b="1" i="0" u="none" err="1">
                  <a:solidFill>
                    <a:srgbClr val="964614"/>
                  </a:solidFill>
                  <a:latin typeface="Malgun Gothic"/>
                </a:rPr>
                <a:t>검증</a:t>
              </a:r>
              <a:r>
                <a:rPr sz="1400" b="1" i="0" u="none">
                  <a:solidFill>
                    <a:srgbClr val="964614"/>
                  </a:solidFill>
                  <a:latin typeface="Malgun Gothic"/>
                </a:rPr>
                <a:t> </a:t>
              </a:r>
              <a:r>
                <a:rPr sz="1400" b="1" i="0" u="none" err="1">
                  <a:solidFill>
                    <a:srgbClr val="964614"/>
                  </a:solidFill>
                  <a:latin typeface="Malgun Gothic"/>
                </a:rPr>
                <a:t>시간</a:t>
              </a:r>
              <a:r>
                <a:rPr sz="1400" b="1" i="0" u="none">
                  <a:solidFill>
                    <a:srgbClr val="964614"/>
                  </a:solidFill>
                  <a:latin typeface="Malgun Gothic"/>
                </a:rPr>
                <a:t> </a:t>
              </a:r>
              <a:r>
                <a:rPr sz="1400" b="1" i="0" u="none" err="1">
                  <a:solidFill>
                    <a:srgbClr val="964614"/>
                  </a:solidFill>
                  <a:latin typeface="Malgun Gothic"/>
                </a:rPr>
                <a:t>과다</a:t>
              </a:r>
              <a:endParaRPr sz="1400" b="1" i="0" u="none">
                <a:solidFill>
                  <a:srgbClr val="964614"/>
                </a:solidFill>
                <a:latin typeface="Malgun Gothic"/>
              </a:endParaRPr>
            </a:p>
          </p:txBody>
        </p:sp>
        <p:cxnSp>
          <p:nvCxnSpPr>
            <p:cNvPr id="43" name="Connector 40">
              <a:extLst>
                <a:ext uri="{FF2B5EF4-FFF2-40B4-BE49-F238E27FC236}">
                  <a16:creationId xmlns:a16="http://schemas.microsoft.com/office/drawing/2014/main" id="{9ABCA43F-0C96-5AF7-1D77-20BBD09EF182}"/>
                </a:ext>
              </a:extLst>
            </p:cNvPr>
            <p:cNvCxnSpPr/>
            <p:nvPr/>
          </p:nvCxnSpPr>
          <p:spPr>
            <a:xfrm>
              <a:off x="8217408" y="4389120"/>
              <a:ext cx="2752344" cy="0"/>
            </a:xfrm>
            <a:prstGeom prst="line">
              <a:avLst/>
            </a:prstGeom>
            <a:ln w="10160">
              <a:solidFill>
                <a:srgbClr val="D2DCE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0148C0-4DE2-CFAA-E31F-F3D05CE8456F}"/>
                </a:ext>
              </a:extLst>
            </p:cNvPr>
            <p:cNvSpPr txBox="1"/>
            <p:nvPr/>
          </p:nvSpPr>
          <p:spPr>
            <a:xfrm>
              <a:off x="8272272" y="4491515"/>
              <a:ext cx="2697480" cy="527767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설계·구매·생산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변화의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원인과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
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비용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영향을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확인하고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조율하는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
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과정이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가장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오래</a:t>
              </a:r>
              <a:r>
                <a:rPr sz="1200" b="0" i="0" u="none">
                  <a:solidFill>
                    <a:srgbClr val="141414"/>
                  </a:solidFill>
                  <a:latin typeface="Malgun Gothic"/>
                </a:rPr>
                <a:t> </a:t>
              </a:r>
              <a:r>
                <a:rPr sz="1200" b="0" i="0" u="none" err="1">
                  <a:solidFill>
                    <a:srgbClr val="141414"/>
                  </a:solidFill>
                  <a:latin typeface="Malgun Gothic"/>
                </a:rPr>
                <a:t>걸림</a:t>
              </a:r>
              <a:endParaRPr sz="1200" b="0" i="0" u="none">
                <a:solidFill>
                  <a:srgbClr val="141414"/>
                </a:solidFill>
                <a:latin typeface="Malgun Gothic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3CDA2B48-FE23-13F2-98A9-DD9AD63CD342}"/>
              </a:ext>
            </a:extLst>
          </p:cNvPr>
          <p:cNvGrpSpPr/>
          <p:nvPr/>
        </p:nvGrpSpPr>
        <p:grpSpPr>
          <a:xfrm>
            <a:off x="1112519" y="5925539"/>
            <a:ext cx="9966960" cy="384048"/>
            <a:chOff x="1203960" y="5358384"/>
            <a:chExt cx="9966960" cy="384048"/>
          </a:xfrm>
        </p:grpSpPr>
        <p:sp>
          <p:nvSpPr>
            <p:cNvPr id="45" name="Rectangle 42">
              <a:extLst>
                <a:ext uri="{FF2B5EF4-FFF2-40B4-BE49-F238E27FC236}">
                  <a16:creationId xmlns:a16="http://schemas.microsoft.com/office/drawing/2014/main" id="{5EE7687E-4644-041C-1251-E68BA226061F}"/>
                </a:ext>
              </a:extLst>
            </p:cNvPr>
            <p:cNvSpPr/>
            <p:nvPr/>
          </p:nvSpPr>
          <p:spPr>
            <a:xfrm>
              <a:off x="1203960" y="5358384"/>
              <a:ext cx="9966960" cy="384048"/>
            </a:xfrm>
            <a:prstGeom prst="rect">
              <a:avLst/>
            </a:prstGeom>
            <a:solidFill>
              <a:srgbClr val="F8F8F8"/>
            </a:solidFill>
            <a:ln w="1270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325F7C8-2648-B879-8499-8795FEE72ADA}"/>
                </a:ext>
              </a:extLst>
            </p:cNvPr>
            <p:cNvSpPr txBox="1"/>
            <p:nvPr/>
          </p:nvSpPr>
          <p:spPr>
            <a:xfrm>
              <a:off x="1359408" y="5413248"/>
              <a:ext cx="9646920" cy="237744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Interview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근거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 |  “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가장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많은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시간을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쓰는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업무는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데이터를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취합하고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검증하는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일”  ·  “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여러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부서의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데이터를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일치시키고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변경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사유를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확인하는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과정이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가장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오래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</a:t>
              </a:r>
              <a:r>
                <a:rPr sz="950" b="0" i="1" u="none" err="1">
                  <a:solidFill>
                    <a:srgbClr val="505050"/>
                  </a:solidFill>
                  <a:latin typeface="Malgun Gothic"/>
                </a:rPr>
                <a:t>걸림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”</a:t>
              </a:r>
              <a:r>
                <a:rPr sz="950" b="0" i="1" u="none">
                  <a:solidFill>
                    <a:srgbClr val="505050"/>
                  </a:solidFill>
                  <a:latin typeface="Malgun Gothic"/>
                </a:rPr>
                <a:t>  ·  한화오션 현직 확인: 변경 자동 감지 없음 · 인당 최대 40개 호선 동시 관리 · 자재비 변경 반영에 3일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9563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97BEC-5104-9C09-79BA-248247064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CF2B78C-C402-47D2-2205-A184EDEAF5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4A1183-AD30-058B-3DC2-B0C429635C42}"/>
              </a:ext>
            </a:extLst>
          </p:cNvPr>
          <p:cNvSpPr txBox="1"/>
          <p:nvPr/>
        </p:nvSpPr>
        <p:spPr>
          <a:xfrm>
            <a:off x="6534384" y="1068387"/>
            <a:ext cx="5118538" cy="52467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35000">
                <a:solidFill>
                  <a:srgbClr val="223D60"/>
                </a:solidFill>
              </a:rPr>
              <a:t>03</a:t>
            </a:r>
            <a:endParaRPr lang="ko-KR" altLang="en-US" sz="35000" err="1">
              <a:solidFill>
                <a:srgbClr val="223D60"/>
              </a:solidFill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0FCD1DEA-ECE4-2D94-C016-EB2A06B3499C}"/>
              </a:ext>
            </a:extLst>
          </p:cNvPr>
          <p:cNvCxnSpPr/>
          <p:nvPr/>
        </p:nvCxnSpPr>
        <p:spPr>
          <a:xfrm>
            <a:off x="210622" y="977497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DF10EAF9-EFE6-6D56-B985-17D4918D0EB6}"/>
              </a:ext>
            </a:extLst>
          </p:cNvPr>
          <p:cNvCxnSpPr/>
          <p:nvPr/>
        </p:nvCxnSpPr>
        <p:spPr>
          <a:xfrm>
            <a:off x="210622" y="6395580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C0FC975-49FF-8793-F4AC-49C3A0193909}"/>
              </a:ext>
            </a:extLst>
          </p:cNvPr>
          <p:cNvSpPr txBox="1"/>
          <p:nvPr/>
        </p:nvSpPr>
        <p:spPr>
          <a:xfrm>
            <a:off x="378372" y="1355836"/>
            <a:ext cx="4309242" cy="121593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5400" b="1">
                <a:latin typeface="+mj-lt"/>
              </a:rPr>
              <a:t>Proposed Solution</a:t>
            </a:r>
            <a:endParaRPr lang="ko-KR" altLang="en-US" sz="5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41270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6F4E9-8466-18FB-85E6-07E303877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직사각형 92">
            <a:extLst>
              <a:ext uri="{FF2B5EF4-FFF2-40B4-BE49-F238E27FC236}">
                <a16:creationId xmlns:a16="http://schemas.microsoft.com/office/drawing/2014/main" id="{F597179F-D7CC-3C7F-2B5B-A3FEF24AE05C}"/>
              </a:ext>
            </a:extLst>
          </p:cNvPr>
          <p:cNvSpPr/>
          <p:nvPr/>
        </p:nvSpPr>
        <p:spPr>
          <a:xfrm>
            <a:off x="246889" y="2125196"/>
            <a:ext cx="2098238" cy="288192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621285D-EB42-0E55-4FFB-41B4EF057B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dirty="0" smtClean="0">
                <a:cs typeface="Arial"/>
              </a:rPr>
              <a:pPr/>
              <a:t>10</a:t>
            </a:fld>
            <a:endParaRPr lang="en-US">
              <a:cs typeface="Arial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143898-F4B6-27DB-4F8A-B36E06E74D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 실무자 인터뷰 증빙자료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E9CB2B44-C290-8F72-37CC-38757701475F}"/>
              </a:ext>
            </a:extLst>
          </p:cNvPr>
          <p:cNvCxnSpPr/>
          <p:nvPr/>
        </p:nvCxnSpPr>
        <p:spPr>
          <a:xfrm>
            <a:off x="210622" y="977497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680409B-7AEE-4B1B-DE85-FAE19B6C815C}"/>
              </a:ext>
            </a:extLst>
          </p:cNvPr>
          <p:cNvCxnSpPr/>
          <p:nvPr/>
        </p:nvCxnSpPr>
        <p:spPr>
          <a:xfrm>
            <a:off x="210622" y="6395580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58B5F79-3566-1B8D-C63D-327C94C36C96}"/>
              </a:ext>
            </a:extLst>
          </p:cNvPr>
          <p:cNvSpPr txBox="1"/>
          <p:nvPr/>
        </p:nvSpPr>
        <p:spPr>
          <a:xfrm>
            <a:off x="365778" y="461366"/>
            <a:ext cx="10979555" cy="5128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altLang="ko-KR" sz="3000" b="1">
                <a:latin typeface="+mj-lt"/>
              </a:rPr>
              <a:t>AI Agent</a:t>
            </a:r>
            <a:r>
              <a:rPr lang="ko-KR" altLang="en-US" sz="3000" b="1">
                <a:latin typeface="+mj-lt"/>
              </a:rPr>
              <a:t>를 통한 총예정원가 갱신의 상시화</a:t>
            </a:r>
            <a:r>
              <a:rPr lang="en-US" altLang="ko-KR" sz="3000" b="1">
                <a:latin typeface="+mj-lt"/>
              </a:rPr>
              <a:t>: </a:t>
            </a:r>
            <a:r>
              <a:rPr lang="ko-KR" altLang="en-US" sz="3000" b="1">
                <a:latin typeface="+mj-lt"/>
              </a:rPr>
              <a:t>감지 </a:t>
            </a:r>
            <a:r>
              <a:rPr lang="en-US" altLang="ko-KR" sz="3000" b="1">
                <a:latin typeface="+mj-lt"/>
              </a:rPr>
              <a:t>· </a:t>
            </a:r>
            <a:r>
              <a:rPr lang="ko-KR" altLang="en-US" sz="3000" b="1">
                <a:latin typeface="+mj-lt"/>
              </a:rPr>
              <a:t>대조 </a:t>
            </a:r>
            <a:r>
              <a:rPr lang="en-US" altLang="ko-KR" sz="3000" b="1">
                <a:latin typeface="+mj-lt"/>
              </a:rPr>
              <a:t>· </a:t>
            </a:r>
            <a:r>
              <a:rPr lang="ko-KR" altLang="en-US" sz="3000" b="1">
                <a:latin typeface="+mj-lt"/>
              </a:rPr>
              <a:t>경보</a:t>
            </a:r>
          </a:p>
        </p:txBody>
      </p:sp>
      <p:sp>
        <p:nvSpPr>
          <p:cNvPr id="65" name="Rounded Rectangle 5">
            <a:extLst>
              <a:ext uri="{FF2B5EF4-FFF2-40B4-BE49-F238E27FC236}">
                <a16:creationId xmlns:a16="http://schemas.microsoft.com/office/drawing/2014/main" id="{55051CD1-2549-05D4-4E4E-E605E6104731}"/>
              </a:ext>
            </a:extLst>
          </p:cNvPr>
          <p:cNvSpPr/>
          <p:nvPr/>
        </p:nvSpPr>
        <p:spPr>
          <a:xfrm>
            <a:off x="457200" y="2459736"/>
            <a:ext cx="16459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719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100" b="0">
                <a:solidFill>
                  <a:srgbClr val="213B5D"/>
                </a:solidFill>
                <a:latin typeface="맑은 고딕"/>
                <a:ea typeface="맑은 고딕"/>
              </a:rPr>
              <a:t>계약 변경</a:t>
            </a:r>
          </a:p>
        </p:txBody>
      </p:sp>
      <p:cxnSp>
        <p:nvCxnSpPr>
          <p:cNvPr id="66" name="Connector 6">
            <a:extLst>
              <a:ext uri="{FF2B5EF4-FFF2-40B4-BE49-F238E27FC236}">
                <a16:creationId xmlns:a16="http://schemas.microsoft.com/office/drawing/2014/main" id="{0C41C4D5-B804-CB47-50BE-8B7C01703DA4}"/>
              </a:ext>
            </a:extLst>
          </p:cNvPr>
          <p:cNvCxnSpPr/>
          <p:nvPr/>
        </p:nvCxnSpPr>
        <p:spPr>
          <a:xfrm>
            <a:off x="2103120" y="2743200"/>
            <a:ext cx="960120" cy="0"/>
          </a:xfrm>
          <a:prstGeom prst="line">
            <a:avLst/>
          </a:prstGeom>
          <a:ln w="25400">
            <a:solidFill>
              <a:srgbClr val="7198C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7">
            <a:extLst>
              <a:ext uri="{FF2B5EF4-FFF2-40B4-BE49-F238E27FC236}">
                <a16:creationId xmlns:a16="http://schemas.microsoft.com/office/drawing/2014/main" id="{C9E42B86-2BBC-699D-1F20-BEC24F609840}"/>
              </a:ext>
            </a:extLst>
          </p:cNvPr>
          <p:cNvSpPr/>
          <p:nvPr/>
        </p:nvSpPr>
        <p:spPr>
          <a:xfrm>
            <a:off x="457200" y="3282696"/>
            <a:ext cx="16459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719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100" b="0">
                <a:solidFill>
                  <a:srgbClr val="213B5D"/>
                </a:solidFill>
                <a:latin typeface="맑은 고딕"/>
                <a:ea typeface="맑은 고딕"/>
              </a:rPr>
              <a:t>설계 변경</a:t>
            </a:r>
          </a:p>
        </p:txBody>
      </p:sp>
      <p:cxnSp>
        <p:nvCxnSpPr>
          <p:cNvPr id="68" name="Connector 8">
            <a:extLst>
              <a:ext uri="{FF2B5EF4-FFF2-40B4-BE49-F238E27FC236}">
                <a16:creationId xmlns:a16="http://schemas.microsoft.com/office/drawing/2014/main" id="{D3D09E22-0189-21FC-F709-81D576A86ABA}"/>
              </a:ext>
            </a:extLst>
          </p:cNvPr>
          <p:cNvCxnSpPr/>
          <p:nvPr/>
        </p:nvCxnSpPr>
        <p:spPr>
          <a:xfrm>
            <a:off x="2103120" y="3566160"/>
            <a:ext cx="960120" cy="0"/>
          </a:xfrm>
          <a:prstGeom prst="line">
            <a:avLst/>
          </a:prstGeom>
          <a:ln w="25400">
            <a:solidFill>
              <a:srgbClr val="7198C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9">
            <a:extLst>
              <a:ext uri="{FF2B5EF4-FFF2-40B4-BE49-F238E27FC236}">
                <a16:creationId xmlns:a16="http://schemas.microsoft.com/office/drawing/2014/main" id="{AB38ECDF-ED48-4AB1-42BA-CEA9FC66F405}"/>
              </a:ext>
            </a:extLst>
          </p:cNvPr>
          <p:cNvSpPr/>
          <p:nvPr/>
        </p:nvSpPr>
        <p:spPr>
          <a:xfrm>
            <a:off x="457200" y="4105656"/>
            <a:ext cx="16459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719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100" b="0">
                <a:solidFill>
                  <a:srgbClr val="213B5D"/>
                </a:solidFill>
                <a:latin typeface="맑은 고딕"/>
                <a:ea typeface="맑은 고딕"/>
              </a:rPr>
              <a:t>발주 원가 변경</a:t>
            </a:r>
          </a:p>
        </p:txBody>
      </p:sp>
      <p:cxnSp>
        <p:nvCxnSpPr>
          <p:cNvPr id="70" name="Connector 10">
            <a:extLst>
              <a:ext uri="{FF2B5EF4-FFF2-40B4-BE49-F238E27FC236}">
                <a16:creationId xmlns:a16="http://schemas.microsoft.com/office/drawing/2014/main" id="{23D55616-818B-316E-72C7-D9B5F800F300}"/>
              </a:ext>
            </a:extLst>
          </p:cNvPr>
          <p:cNvCxnSpPr/>
          <p:nvPr/>
        </p:nvCxnSpPr>
        <p:spPr>
          <a:xfrm>
            <a:off x="2103120" y="4389120"/>
            <a:ext cx="960120" cy="0"/>
          </a:xfrm>
          <a:prstGeom prst="line">
            <a:avLst/>
          </a:prstGeom>
          <a:ln w="25400">
            <a:solidFill>
              <a:srgbClr val="7198C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11">
            <a:extLst>
              <a:ext uri="{FF2B5EF4-FFF2-40B4-BE49-F238E27FC236}">
                <a16:creationId xmlns:a16="http://schemas.microsoft.com/office/drawing/2014/main" id="{2B18EECF-8FCE-05AA-BFC9-2FBE0AA752BF}"/>
              </a:ext>
            </a:extLst>
          </p:cNvPr>
          <p:cNvSpPr/>
          <p:nvPr/>
        </p:nvSpPr>
        <p:spPr>
          <a:xfrm>
            <a:off x="3063240" y="2514600"/>
            <a:ext cx="1691640" cy="2103120"/>
          </a:xfrm>
          <a:prstGeom prst="rect">
            <a:avLst/>
          </a:prstGeom>
          <a:solidFill>
            <a:srgbClr val="213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AI Age</a:t>
            </a:r>
            <a:r>
              <a:rPr lang="en-US" sz="1600" b="1">
                <a:solidFill>
                  <a:srgbClr val="FFFFFF"/>
                </a:solidFill>
                <a:latin typeface="맑은 고딕"/>
                <a:ea typeface="맑은 고딕"/>
              </a:rPr>
              <a:t>nt</a:t>
            </a:r>
          </a:p>
        </p:txBody>
      </p:sp>
      <p:sp>
        <p:nvSpPr>
          <p:cNvPr id="72" name="Can 12">
            <a:extLst>
              <a:ext uri="{FF2B5EF4-FFF2-40B4-BE49-F238E27FC236}">
                <a16:creationId xmlns:a16="http://schemas.microsoft.com/office/drawing/2014/main" id="{89655AFB-C335-C348-998A-48DDFBD8C596}"/>
              </a:ext>
            </a:extLst>
          </p:cNvPr>
          <p:cNvSpPr/>
          <p:nvPr/>
        </p:nvSpPr>
        <p:spPr>
          <a:xfrm>
            <a:off x="3108960" y="1143000"/>
            <a:ext cx="1600200" cy="868680"/>
          </a:xfrm>
          <a:prstGeom prst="can">
            <a:avLst/>
          </a:prstGeom>
          <a:solidFill>
            <a:srgbClr val="EAF0F8"/>
          </a:solidFill>
          <a:ln w="19050">
            <a:solidFill>
              <a:srgbClr val="376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50" b="1">
                <a:solidFill>
                  <a:srgbClr val="213B5D"/>
                </a:solidFill>
                <a:latin typeface="맑은 고딕"/>
                <a:ea typeface="맑은 고딕"/>
              </a:rPr>
              <a:t>문서 DB</a:t>
            </a:r>
          </a:p>
          <a:p>
            <a:pPr algn="ctr">
              <a:spcBef>
                <a:spcPts val="100"/>
              </a:spcBef>
            </a:pPr>
            <a:r>
              <a:rPr sz="850" b="0">
                <a:solidFill>
                  <a:srgbClr val="52514E"/>
                </a:solidFill>
                <a:latin typeface="맑은 고딕"/>
                <a:ea typeface="맑은 고딕"/>
              </a:rPr>
              <a:t>계약서 · 회의록 · 변경통지 메일</a:t>
            </a:r>
          </a:p>
        </p:txBody>
      </p:sp>
      <p:cxnSp>
        <p:nvCxnSpPr>
          <p:cNvPr id="73" name="Connector 13">
            <a:extLst>
              <a:ext uri="{FF2B5EF4-FFF2-40B4-BE49-F238E27FC236}">
                <a16:creationId xmlns:a16="http://schemas.microsoft.com/office/drawing/2014/main" id="{99E3DECF-0763-1A96-9FD7-3A42080FEB56}"/>
              </a:ext>
            </a:extLst>
          </p:cNvPr>
          <p:cNvCxnSpPr/>
          <p:nvPr/>
        </p:nvCxnSpPr>
        <p:spPr>
          <a:xfrm flipV="1">
            <a:off x="3909060" y="2011680"/>
            <a:ext cx="0" cy="502920"/>
          </a:xfrm>
          <a:prstGeom prst="line">
            <a:avLst/>
          </a:prstGeom>
          <a:ln w="22225">
            <a:solidFill>
              <a:srgbClr val="37629B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Can 14">
            <a:extLst>
              <a:ext uri="{FF2B5EF4-FFF2-40B4-BE49-F238E27FC236}">
                <a16:creationId xmlns:a16="http://schemas.microsoft.com/office/drawing/2014/main" id="{65159CD3-915C-7483-259D-F6C3904A2BBA}"/>
              </a:ext>
            </a:extLst>
          </p:cNvPr>
          <p:cNvSpPr/>
          <p:nvPr/>
        </p:nvSpPr>
        <p:spPr>
          <a:xfrm>
            <a:off x="3108960" y="5029200"/>
            <a:ext cx="1600200" cy="1005840"/>
          </a:xfrm>
          <a:prstGeom prst="can">
            <a:avLst/>
          </a:prstGeom>
          <a:solidFill>
            <a:srgbClr val="EAF0F8"/>
          </a:solidFill>
          <a:ln w="19050">
            <a:solidFill>
              <a:srgbClr val="376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50" b="1">
                <a:solidFill>
                  <a:srgbClr val="213B5D"/>
                </a:solidFill>
                <a:latin typeface="맑은 고딕"/>
                <a:ea typeface="맑은 고딕"/>
              </a:rPr>
              <a:t>현재 추정치 DB</a:t>
            </a:r>
          </a:p>
          <a:p>
            <a:pPr algn="ctr">
              <a:spcBef>
                <a:spcPts val="100"/>
              </a:spcBef>
            </a:pPr>
            <a:r>
              <a:rPr sz="850" b="0">
                <a:solidFill>
                  <a:srgbClr val="52514E"/>
                </a:solidFill>
                <a:latin typeface="맑은 고딕"/>
                <a:ea typeface="맑은 고딕"/>
              </a:rPr>
              <a:t>ERP · 실행예산 · 총예정원가</a:t>
            </a:r>
          </a:p>
        </p:txBody>
      </p:sp>
      <p:cxnSp>
        <p:nvCxnSpPr>
          <p:cNvPr id="75" name="Connector 15">
            <a:extLst>
              <a:ext uri="{FF2B5EF4-FFF2-40B4-BE49-F238E27FC236}">
                <a16:creationId xmlns:a16="http://schemas.microsoft.com/office/drawing/2014/main" id="{7174DBFA-BB66-A4EB-9C90-E7A9B0F61099}"/>
              </a:ext>
            </a:extLst>
          </p:cNvPr>
          <p:cNvCxnSpPr/>
          <p:nvPr/>
        </p:nvCxnSpPr>
        <p:spPr>
          <a:xfrm>
            <a:off x="3909060" y="4617720"/>
            <a:ext cx="0" cy="411480"/>
          </a:xfrm>
          <a:prstGeom prst="line">
            <a:avLst/>
          </a:prstGeom>
          <a:ln w="22225">
            <a:solidFill>
              <a:srgbClr val="37629B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16">
            <a:extLst>
              <a:ext uri="{FF2B5EF4-FFF2-40B4-BE49-F238E27FC236}">
                <a16:creationId xmlns:a16="http://schemas.microsoft.com/office/drawing/2014/main" id="{96A07511-6E59-09BD-8CD5-FED967DEA958}"/>
              </a:ext>
            </a:extLst>
          </p:cNvPr>
          <p:cNvCxnSpPr/>
          <p:nvPr/>
        </p:nvCxnSpPr>
        <p:spPr>
          <a:xfrm>
            <a:off x="4754880" y="3566160"/>
            <a:ext cx="384048" cy="0"/>
          </a:xfrm>
          <a:prstGeom prst="line">
            <a:avLst/>
          </a:prstGeom>
          <a:ln w="22225">
            <a:solidFill>
              <a:srgbClr val="37629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Diamond 17">
            <a:extLst>
              <a:ext uri="{FF2B5EF4-FFF2-40B4-BE49-F238E27FC236}">
                <a16:creationId xmlns:a16="http://schemas.microsoft.com/office/drawing/2014/main" id="{8773EBB8-3B16-5135-7E98-A8104212D27F}"/>
              </a:ext>
            </a:extLst>
          </p:cNvPr>
          <p:cNvSpPr/>
          <p:nvPr/>
        </p:nvSpPr>
        <p:spPr>
          <a:xfrm>
            <a:off x="5138928" y="2971800"/>
            <a:ext cx="1325880" cy="1188720"/>
          </a:xfrm>
          <a:prstGeom prst="diamond">
            <a:avLst/>
          </a:prstGeom>
          <a:solidFill>
            <a:srgbClr val="FFFFFF"/>
          </a:solidFill>
          <a:ln w="22225">
            <a:solidFill>
              <a:srgbClr val="213B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50" b="1">
                <a:solidFill>
                  <a:srgbClr val="213B5D"/>
                </a:solidFill>
                <a:latin typeface="맑은 고딕"/>
                <a:ea typeface="맑은 고딕"/>
              </a:rPr>
              <a:t>큰 변동</a:t>
            </a:r>
          </a:p>
          <a:p>
            <a:pPr algn="ctr"/>
            <a:r>
              <a:rPr sz="1050" b="1">
                <a:solidFill>
                  <a:srgbClr val="213B5D"/>
                </a:solidFill>
                <a:latin typeface="맑은 고딕"/>
                <a:ea typeface="맑은 고딕"/>
              </a:rPr>
              <a:t>발생?</a:t>
            </a:r>
          </a:p>
        </p:txBody>
      </p:sp>
      <p:cxnSp>
        <p:nvCxnSpPr>
          <p:cNvPr id="78" name="Connector 18">
            <a:extLst>
              <a:ext uri="{FF2B5EF4-FFF2-40B4-BE49-F238E27FC236}">
                <a16:creationId xmlns:a16="http://schemas.microsoft.com/office/drawing/2014/main" id="{4E88BE01-8657-432E-23B6-9418B0BCFF73}"/>
              </a:ext>
            </a:extLst>
          </p:cNvPr>
          <p:cNvCxnSpPr/>
          <p:nvPr/>
        </p:nvCxnSpPr>
        <p:spPr>
          <a:xfrm flipV="1">
            <a:off x="5801868" y="2194560"/>
            <a:ext cx="0" cy="777240"/>
          </a:xfrm>
          <a:prstGeom prst="line">
            <a:avLst/>
          </a:prstGeom>
          <a:ln w="22225">
            <a:solidFill>
              <a:srgbClr val="3762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19">
            <a:extLst>
              <a:ext uri="{FF2B5EF4-FFF2-40B4-BE49-F238E27FC236}">
                <a16:creationId xmlns:a16="http://schemas.microsoft.com/office/drawing/2014/main" id="{5FE10AB4-10FF-C537-D9BD-1874E2B224CA}"/>
              </a:ext>
            </a:extLst>
          </p:cNvPr>
          <p:cNvCxnSpPr/>
          <p:nvPr/>
        </p:nvCxnSpPr>
        <p:spPr>
          <a:xfrm>
            <a:off x="5801868" y="2194560"/>
            <a:ext cx="1010412" cy="0"/>
          </a:xfrm>
          <a:prstGeom prst="line">
            <a:avLst/>
          </a:prstGeom>
          <a:ln w="22225">
            <a:solidFill>
              <a:srgbClr val="37629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3B5588C6-BD4F-D0D7-5ABB-F60417DBD81F}"/>
              </a:ext>
            </a:extLst>
          </p:cNvPr>
          <p:cNvSpPr txBox="1"/>
          <p:nvPr/>
        </p:nvSpPr>
        <p:spPr>
          <a:xfrm>
            <a:off x="5897880" y="2395728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50" b="0">
                <a:solidFill>
                  <a:srgbClr val="52514E"/>
                </a:solidFill>
                <a:latin typeface="맑은 고딕"/>
                <a:ea typeface="맑은 고딕"/>
              </a:rPr>
              <a:t>아니요</a:t>
            </a:r>
          </a:p>
        </p:txBody>
      </p:sp>
      <p:cxnSp>
        <p:nvCxnSpPr>
          <p:cNvPr id="81" name="Connector 21">
            <a:extLst>
              <a:ext uri="{FF2B5EF4-FFF2-40B4-BE49-F238E27FC236}">
                <a16:creationId xmlns:a16="http://schemas.microsoft.com/office/drawing/2014/main" id="{5BF33A75-C096-10B3-BD87-9F7CF3CB66F4}"/>
              </a:ext>
            </a:extLst>
          </p:cNvPr>
          <p:cNvCxnSpPr/>
          <p:nvPr/>
        </p:nvCxnSpPr>
        <p:spPr>
          <a:xfrm>
            <a:off x="5801868" y="4160520"/>
            <a:ext cx="0" cy="777240"/>
          </a:xfrm>
          <a:prstGeom prst="line">
            <a:avLst/>
          </a:prstGeom>
          <a:ln w="22225">
            <a:solidFill>
              <a:srgbClr val="B0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22">
            <a:extLst>
              <a:ext uri="{FF2B5EF4-FFF2-40B4-BE49-F238E27FC236}">
                <a16:creationId xmlns:a16="http://schemas.microsoft.com/office/drawing/2014/main" id="{A19169FA-B575-7264-B338-63A3F71B70E2}"/>
              </a:ext>
            </a:extLst>
          </p:cNvPr>
          <p:cNvCxnSpPr/>
          <p:nvPr/>
        </p:nvCxnSpPr>
        <p:spPr>
          <a:xfrm>
            <a:off x="5801868" y="4937760"/>
            <a:ext cx="1010412" cy="0"/>
          </a:xfrm>
          <a:prstGeom prst="line">
            <a:avLst/>
          </a:prstGeom>
          <a:ln w="22225">
            <a:solidFill>
              <a:srgbClr val="B03A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FB7E7205-245B-C284-7122-D12FD3E54DD7}"/>
              </a:ext>
            </a:extLst>
          </p:cNvPr>
          <p:cNvSpPr txBox="1"/>
          <p:nvPr/>
        </p:nvSpPr>
        <p:spPr>
          <a:xfrm>
            <a:off x="5897880" y="4224528"/>
            <a:ext cx="457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50" b="1">
                <a:solidFill>
                  <a:srgbClr val="B03A3A"/>
                </a:solidFill>
                <a:latin typeface="맑은 고딕"/>
                <a:ea typeface="맑은 고딕"/>
              </a:rPr>
              <a:t>예</a:t>
            </a:r>
          </a:p>
        </p:txBody>
      </p:sp>
      <p:sp>
        <p:nvSpPr>
          <p:cNvPr id="84" name="Rounded Rectangle 24">
            <a:extLst>
              <a:ext uri="{FF2B5EF4-FFF2-40B4-BE49-F238E27FC236}">
                <a16:creationId xmlns:a16="http://schemas.microsoft.com/office/drawing/2014/main" id="{F67C0C83-BC07-FEFF-E5A7-A8169F2496CC}"/>
              </a:ext>
            </a:extLst>
          </p:cNvPr>
          <p:cNvSpPr/>
          <p:nvPr/>
        </p:nvSpPr>
        <p:spPr>
          <a:xfrm>
            <a:off x="6812280" y="1709928"/>
            <a:ext cx="23317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76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ko-KR" altLang="en-US" sz="1150" b="1" err="1">
                <a:solidFill>
                  <a:srgbClr val="213B5D"/>
                </a:solidFill>
                <a:latin typeface="맑은 고딕"/>
                <a:ea typeface="맑은 고딕"/>
              </a:rPr>
              <a:t>총예정원가</a:t>
            </a:r>
            <a:r>
              <a:rPr sz="1150" b="1">
                <a:solidFill>
                  <a:srgbClr val="213B5D"/>
                </a:solidFill>
                <a:latin typeface="맑은 고딕"/>
                <a:ea typeface="맑은 고딕"/>
              </a:rPr>
              <a:t> </a:t>
            </a:r>
            <a:r>
              <a:rPr lang="ko-KR" altLang="en-US" sz="1150" b="1" err="1">
                <a:solidFill>
                  <a:srgbClr val="213B5D"/>
                </a:solidFill>
                <a:latin typeface="맑은 고딕"/>
                <a:ea typeface="맑은 고딕"/>
              </a:rPr>
              <a:t>갱신안</a:t>
            </a:r>
            <a:endParaRPr sz="1150" b="1">
              <a:solidFill>
                <a:srgbClr val="213B5D"/>
              </a:solidFill>
              <a:latin typeface="맑은 고딕"/>
              <a:ea typeface="맑은 고딕"/>
            </a:endParaRPr>
          </a:p>
        </p:txBody>
      </p:sp>
      <p:sp>
        <p:nvSpPr>
          <p:cNvPr id="85" name="Rounded Rectangle 25">
            <a:extLst>
              <a:ext uri="{FF2B5EF4-FFF2-40B4-BE49-F238E27FC236}">
                <a16:creationId xmlns:a16="http://schemas.microsoft.com/office/drawing/2014/main" id="{33BB906B-5E77-1C5B-BF7E-EBEB6D2E2E7E}"/>
              </a:ext>
            </a:extLst>
          </p:cNvPr>
          <p:cNvSpPr/>
          <p:nvPr/>
        </p:nvSpPr>
        <p:spPr>
          <a:xfrm>
            <a:off x="6812280" y="4453128"/>
            <a:ext cx="23317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76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ko-KR" altLang="en-US" sz="1150" b="1" err="1">
                <a:solidFill>
                  <a:srgbClr val="213B5D"/>
                </a:solidFill>
                <a:latin typeface="맑은 고딕"/>
                <a:ea typeface="맑은 고딕"/>
              </a:rPr>
              <a:t>변동</a:t>
            </a:r>
            <a:r>
              <a:rPr sz="1150" b="1">
                <a:solidFill>
                  <a:srgbClr val="213B5D"/>
                </a:solidFill>
                <a:latin typeface="맑은 고딕"/>
                <a:ea typeface="맑은 고딕"/>
              </a:rPr>
              <a:t> </a:t>
            </a:r>
            <a:r>
              <a:rPr lang="ko-KR" altLang="en-US" sz="1150" b="1" err="1">
                <a:solidFill>
                  <a:srgbClr val="213B5D"/>
                </a:solidFill>
                <a:latin typeface="맑은 고딕"/>
                <a:ea typeface="맑은 고딕"/>
              </a:rPr>
              <a:t>요인</a:t>
            </a:r>
            <a:r>
              <a:rPr sz="1150" b="1">
                <a:solidFill>
                  <a:srgbClr val="213B5D"/>
                </a:solidFill>
                <a:latin typeface="맑은 고딕"/>
                <a:ea typeface="맑은 고딕"/>
              </a:rPr>
              <a:t> </a:t>
            </a:r>
            <a:r>
              <a:rPr lang="ko-KR" altLang="en-US" sz="1150" b="1" err="1">
                <a:solidFill>
                  <a:srgbClr val="213B5D"/>
                </a:solidFill>
                <a:latin typeface="맑은 고딕"/>
                <a:ea typeface="맑은 고딕"/>
              </a:rPr>
              <a:t>분석</a:t>
            </a:r>
            <a:r>
              <a:rPr sz="1150" b="1">
                <a:solidFill>
                  <a:srgbClr val="213B5D"/>
                </a:solidFill>
                <a:latin typeface="맑은 고딕"/>
                <a:ea typeface="맑은 고딕"/>
              </a:rPr>
              <a:t> </a:t>
            </a:r>
            <a:r>
              <a:rPr lang="ko-KR" altLang="en-US" sz="1150" b="1" err="1">
                <a:solidFill>
                  <a:srgbClr val="213B5D"/>
                </a:solidFill>
                <a:latin typeface="맑은 고딕"/>
                <a:ea typeface="맑은 고딕"/>
              </a:rPr>
              <a:t>리포트</a:t>
            </a:r>
            <a:endParaRPr sz="1150" b="1">
              <a:solidFill>
                <a:srgbClr val="213B5D"/>
              </a:solidFill>
              <a:latin typeface="맑은 고딕"/>
              <a:ea typeface="맑은 고딕"/>
            </a:endParaRPr>
          </a:p>
        </p:txBody>
      </p:sp>
      <p:cxnSp>
        <p:nvCxnSpPr>
          <p:cNvPr id="86" name="Connector 26">
            <a:extLst>
              <a:ext uri="{FF2B5EF4-FFF2-40B4-BE49-F238E27FC236}">
                <a16:creationId xmlns:a16="http://schemas.microsoft.com/office/drawing/2014/main" id="{B87F533F-83A7-F371-22AA-8447135C80DE}"/>
              </a:ext>
            </a:extLst>
          </p:cNvPr>
          <p:cNvCxnSpPr/>
          <p:nvPr/>
        </p:nvCxnSpPr>
        <p:spPr>
          <a:xfrm>
            <a:off x="9144000" y="2194560"/>
            <a:ext cx="320040" cy="0"/>
          </a:xfrm>
          <a:prstGeom prst="line">
            <a:avLst/>
          </a:prstGeom>
          <a:ln w="22225">
            <a:solidFill>
              <a:srgbClr val="3762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27">
            <a:extLst>
              <a:ext uri="{FF2B5EF4-FFF2-40B4-BE49-F238E27FC236}">
                <a16:creationId xmlns:a16="http://schemas.microsoft.com/office/drawing/2014/main" id="{C2D5D14D-4F6E-7B11-08F6-28021A255E85}"/>
              </a:ext>
            </a:extLst>
          </p:cNvPr>
          <p:cNvCxnSpPr/>
          <p:nvPr/>
        </p:nvCxnSpPr>
        <p:spPr>
          <a:xfrm>
            <a:off x="9464040" y="2194560"/>
            <a:ext cx="0" cy="1005840"/>
          </a:xfrm>
          <a:prstGeom prst="line">
            <a:avLst/>
          </a:prstGeom>
          <a:ln w="22225">
            <a:solidFill>
              <a:srgbClr val="3762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28">
            <a:extLst>
              <a:ext uri="{FF2B5EF4-FFF2-40B4-BE49-F238E27FC236}">
                <a16:creationId xmlns:a16="http://schemas.microsoft.com/office/drawing/2014/main" id="{5C791F22-C8F9-D438-BAD2-ED8E95F89B71}"/>
              </a:ext>
            </a:extLst>
          </p:cNvPr>
          <p:cNvCxnSpPr/>
          <p:nvPr/>
        </p:nvCxnSpPr>
        <p:spPr>
          <a:xfrm>
            <a:off x="9464040" y="3200400"/>
            <a:ext cx="365760" cy="0"/>
          </a:xfrm>
          <a:prstGeom prst="line">
            <a:avLst/>
          </a:prstGeom>
          <a:ln w="22225">
            <a:solidFill>
              <a:srgbClr val="37629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29">
            <a:extLst>
              <a:ext uri="{FF2B5EF4-FFF2-40B4-BE49-F238E27FC236}">
                <a16:creationId xmlns:a16="http://schemas.microsoft.com/office/drawing/2014/main" id="{7A989099-A035-E199-8252-C3FCE67A06C2}"/>
              </a:ext>
            </a:extLst>
          </p:cNvPr>
          <p:cNvCxnSpPr/>
          <p:nvPr/>
        </p:nvCxnSpPr>
        <p:spPr>
          <a:xfrm>
            <a:off x="9144000" y="4937760"/>
            <a:ext cx="320040" cy="0"/>
          </a:xfrm>
          <a:prstGeom prst="line">
            <a:avLst/>
          </a:prstGeom>
          <a:ln w="22225">
            <a:solidFill>
              <a:srgbClr val="B0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30">
            <a:extLst>
              <a:ext uri="{FF2B5EF4-FFF2-40B4-BE49-F238E27FC236}">
                <a16:creationId xmlns:a16="http://schemas.microsoft.com/office/drawing/2014/main" id="{F1E532D3-8D01-1A83-BFBC-BA084F160BBD}"/>
              </a:ext>
            </a:extLst>
          </p:cNvPr>
          <p:cNvCxnSpPr/>
          <p:nvPr/>
        </p:nvCxnSpPr>
        <p:spPr>
          <a:xfrm flipV="1">
            <a:off x="9464040" y="3931920"/>
            <a:ext cx="0" cy="1005840"/>
          </a:xfrm>
          <a:prstGeom prst="line">
            <a:avLst/>
          </a:prstGeom>
          <a:ln w="22225">
            <a:solidFill>
              <a:srgbClr val="B0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31">
            <a:extLst>
              <a:ext uri="{FF2B5EF4-FFF2-40B4-BE49-F238E27FC236}">
                <a16:creationId xmlns:a16="http://schemas.microsoft.com/office/drawing/2014/main" id="{AF5F7FE1-F6EE-3E65-AED8-7275BADEC32E}"/>
              </a:ext>
            </a:extLst>
          </p:cNvPr>
          <p:cNvCxnSpPr/>
          <p:nvPr/>
        </p:nvCxnSpPr>
        <p:spPr>
          <a:xfrm>
            <a:off x="9464040" y="3931920"/>
            <a:ext cx="365760" cy="0"/>
          </a:xfrm>
          <a:prstGeom prst="line">
            <a:avLst/>
          </a:prstGeom>
          <a:ln w="22225">
            <a:solidFill>
              <a:srgbClr val="B03A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32">
            <a:extLst>
              <a:ext uri="{FF2B5EF4-FFF2-40B4-BE49-F238E27FC236}">
                <a16:creationId xmlns:a16="http://schemas.microsoft.com/office/drawing/2014/main" id="{AD92D8E6-D708-67D1-D97C-F555981C2AD9}"/>
              </a:ext>
            </a:extLst>
          </p:cNvPr>
          <p:cNvSpPr/>
          <p:nvPr/>
        </p:nvSpPr>
        <p:spPr>
          <a:xfrm>
            <a:off x="9829800" y="2651760"/>
            <a:ext cx="1965960" cy="1828800"/>
          </a:xfrm>
          <a:prstGeom prst="roundRect">
            <a:avLst>
              <a:gd name="adj" fmla="val 8000"/>
            </a:avLst>
          </a:prstGeom>
          <a:solidFill>
            <a:srgbClr val="213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Bef>
                <a:spcPts val="400"/>
              </a:spcBef>
            </a:pPr>
            <a:r>
              <a:rPr lang="ko-KR" altLang="en-US" sz="1350" b="1" err="1">
                <a:solidFill>
                  <a:srgbClr val="FFFFFF"/>
                </a:solidFill>
                <a:latin typeface="맑은 고딕"/>
                <a:ea typeface="맑은 고딕"/>
              </a:rPr>
              <a:t>회계</a:t>
            </a: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lang="ko-KR" altLang="en-US" sz="1350" b="1" err="1">
                <a:solidFill>
                  <a:srgbClr val="FFFFFF"/>
                </a:solidFill>
                <a:latin typeface="맑은 고딕"/>
                <a:ea typeface="맑은 고딕"/>
              </a:rPr>
              <a:t>담당</a:t>
            </a:r>
            <a:endParaRPr sz="1350" b="1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ctr">
              <a:spcBef>
                <a:spcPts val="200"/>
              </a:spcBef>
            </a:pPr>
            <a:r>
              <a:rPr lang="ko-KR" altLang="en-US" sz="1350" b="1" err="1">
                <a:solidFill>
                  <a:srgbClr val="FFFFFF"/>
                </a:solidFill>
                <a:latin typeface="맑은 고딕"/>
                <a:ea typeface="맑은 고딕"/>
              </a:rPr>
              <a:t>최종</a:t>
            </a: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lang="ko-KR" altLang="en-US" sz="1350" b="1" err="1">
                <a:solidFill>
                  <a:srgbClr val="FFFFFF"/>
                </a:solidFill>
                <a:latin typeface="맑은 고딕"/>
                <a:ea typeface="맑은 고딕"/>
              </a:rPr>
              <a:t>검토</a:t>
            </a: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 · </a:t>
            </a:r>
            <a:r>
              <a:rPr lang="ko-KR" altLang="en-US" sz="1350" b="1" err="1">
                <a:solidFill>
                  <a:srgbClr val="FFFFFF"/>
                </a:solidFill>
                <a:latin typeface="맑은 고딕"/>
                <a:ea typeface="맑은 고딕"/>
              </a:rPr>
              <a:t>승인</a:t>
            </a:r>
            <a:endParaRPr lang="ko-KR" altLang="en-US" sz="135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5AFAD3A-90C4-5B5E-812B-1B7D2D95CB25}"/>
              </a:ext>
            </a:extLst>
          </p:cNvPr>
          <p:cNvSpPr txBox="1"/>
          <p:nvPr/>
        </p:nvSpPr>
        <p:spPr>
          <a:xfrm>
            <a:off x="457200" y="1718761"/>
            <a:ext cx="2542029" cy="5128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ko-KR" altLang="en-US" sz="2000" b="1">
                <a:latin typeface="+mj-lt"/>
              </a:rPr>
              <a:t>변경사항 감지</a:t>
            </a:r>
          </a:p>
        </p:txBody>
      </p:sp>
      <p:sp>
        <p:nvSpPr>
          <p:cNvPr id="900" name="ArchNote"/>
          <p:cNvSpPr txBox="1"/>
          <p:nvPr/>
        </p:nvSpPr>
        <p:spPr>
          <a:xfrm>
            <a:off x="4700000" y="5700000"/>
            <a:ext cx="7200000" cy="3800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/>
            <a:r>
              <a:rPr lang="ko-KR" sz="1100" b="1">
                <a:solidFill>
                  <a:srgbClr val="213B5D"/>
                </a:solidFill>
                <a:latin typeface="Malgun Gothic"/>
                <a:ea typeface="Malgun Gothic"/>
              </a:rPr>
              <a:t>전 구성 사내망 구축(온프레미스) · 외부 클라우드 전송 없음</a:t>
            </a:r>
          </a:p>
        </p:txBody>
      </p:sp>
    </p:spTree>
    <p:extLst>
      <p:ext uri="{BB962C8B-B14F-4D97-AF65-F5344CB8AC3E}">
        <p14:creationId xmlns:p14="http://schemas.microsoft.com/office/powerpoint/2010/main" val="4249466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88704-2C97-E4FE-45D5-7C28A379F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DC1A77-D7B0-5641-1423-0DF13BE65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>
                <a:latin typeface="맑은 고딕"/>
                <a:ea typeface="맑은 고딕"/>
              </a:rPr>
              <a:pPr/>
              <a:t>11</a:t>
            </a:fld>
            <a:endParaRPr lang="en-US">
              <a:latin typeface="맑은 고딕"/>
              <a:ea typeface="맑은 고딕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6547E2-A7E2-322F-DF6D-326C8B9311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latin typeface="맑은 고딕"/>
                <a:ea typeface="맑은 고딕"/>
              </a:rPr>
              <a:t>Source: 실무자 인터뷰 증빙자료, DART 공시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6EC69DF-7B96-84DA-7971-62048DD0CF98}"/>
              </a:ext>
            </a:extLst>
          </p:cNvPr>
          <p:cNvCxnSpPr/>
          <p:nvPr/>
        </p:nvCxnSpPr>
        <p:spPr>
          <a:xfrm>
            <a:off x="210622" y="1006526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8338D28-1695-39FC-5CBE-6DE572857710}"/>
              </a:ext>
            </a:extLst>
          </p:cNvPr>
          <p:cNvCxnSpPr/>
          <p:nvPr/>
        </p:nvCxnSpPr>
        <p:spPr>
          <a:xfrm>
            <a:off x="210622" y="6395580"/>
            <a:ext cx="11710190" cy="108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3A8099C-63C3-C200-A1A4-F826E0D2BB34}"/>
              </a:ext>
            </a:extLst>
          </p:cNvPr>
          <p:cNvSpPr txBox="1"/>
          <p:nvPr/>
        </p:nvSpPr>
        <p:spPr>
          <a:xfrm>
            <a:off x="344007" y="425080"/>
            <a:ext cx="9818745" cy="51286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altLang="ko-KR" sz="3000" b="1" err="1">
                <a:latin typeface="맑은 고딕"/>
                <a:ea typeface="맑은 고딕"/>
              </a:rPr>
              <a:t>기대</a:t>
            </a:r>
            <a:r>
              <a:rPr lang="en-US" altLang="ko-KR" sz="3000" b="1">
                <a:latin typeface="맑은 고딕"/>
                <a:ea typeface="맑은 고딕"/>
              </a:rPr>
              <a:t> </a:t>
            </a:r>
            <a:r>
              <a:rPr lang="en-US" altLang="ko-KR" sz="3000" b="1" err="1">
                <a:latin typeface="맑은 고딕"/>
                <a:ea typeface="맑은 고딕"/>
              </a:rPr>
              <a:t>가치</a:t>
            </a:r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603A7218-8441-FB3B-2377-683BE8609A80}"/>
              </a:ext>
            </a:extLst>
          </p:cNvPr>
          <p:cNvSpPr/>
          <p:nvPr/>
        </p:nvSpPr>
        <p:spPr>
          <a:xfrm>
            <a:off x="370114" y="1379584"/>
            <a:ext cx="4828177" cy="1616310"/>
          </a:xfrm>
          <a:prstGeom prst="rect">
            <a:avLst/>
          </a:prstGeom>
          <a:solidFill>
            <a:srgbClr val="F4F5F7"/>
          </a:solidFill>
          <a:ln w="12700">
            <a:solidFill>
              <a:srgbClr val="DFE3E8"/>
            </a:solidFill>
            <a:prstDash val="solid"/>
          </a:ln>
        </p:spPr>
        <p:txBody>
          <a:bodyPr/>
          <a:lstStyle/>
          <a:p>
            <a:endParaRPr lang="en-US">
              <a:latin typeface="맑은 고딕"/>
              <a:ea typeface="맑은 고딕"/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883C12CA-67C7-4CDE-0C3E-7EDD8797ABD1}"/>
              </a:ext>
            </a:extLst>
          </p:cNvPr>
          <p:cNvSpPr/>
          <p:nvPr/>
        </p:nvSpPr>
        <p:spPr>
          <a:xfrm>
            <a:off x="591457" y="14224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8C97A5"/>
                </a:solidFill>
                <a:latin typeface="맑은 고딕"/>
                <a:ea typeface="맑은 고딕"/>
                <a:cs typeface="Malgun Gothic" pitchFamily="34" charset="-120"/>
              </a:rPr>
              <a:t>현재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F48A2AE6-AC6D-7C8B-EF50-F2B1A09F30D6}"/>
              </a:ext>
            </a:extLst>
          </p:cNvPr>
          <p:cNvSpPr/>
          <p:nvPr/>
        </p:nvSpPr>
        <p:spPr>
          <a:xfrm>
            <a:off x="591457" y="1689463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B2A3A"/>
                </a:solidFill>
                <a:latin typeface="맑은 고딕"/>
                <a:ea typeface="맑은 고딕"/>
                <a:cs typeface="Malgun Gothic" pitchFamily="34" charset="-120"/>
              </a:rPr>
              <a:t>월 단위 사후관리</a:t>
            </a:r>
            <a:endParaRPr lang="en-US" sz="1800">
              <a:latin typeface="맑은 고딕"/>
              <a:ea typeface="맑은 고딕"/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49C62D5A-0A5B-3708-3CB3-70617D29BB3D}"/>
              </a:ext>
            </a:extLst>
          </p:cNvPr>
          <p:cNvSpPr/>
          <p:nvPr/>
        </p:nvSpPr>
        <p:spPr>
          <a:xfrm>
            <a:off x="685800" y="210312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>
                <a:solidFill>
                  <a:srgbClr val="1B2A3A"/>
                </a:solidFill>
                <a:latin typeface="맑은 고딕"/>
                <a:ea typeface="맑은 고딕"/>
                <a:cs typeface="Malgun Gothic" pitchFamily="34" charset="-120"/>
              </a:rPr>
              <a:t>설계변경·계약조건 변화 발생  →  월말 수작업 취합·검증  →  장부 반영 시차 발생</a:t>
            </a:r>
            <a:endParaRPr lang="en-US" sz="1250">
              <a:latin typeface="맑은 고딕"/>
              <a:ea typeface="맑은 고딕"/>
            </a:endParaRPr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779D9A7C-1EC9-69DF-77FB-79FEF44B27E5}"/>
              </a:ext>
            </a:extLst>
          </p:cNvPr>
          <p:cNvSpPr/>
          <p:nvPr/>
        </p:nvSpPr>
        <p:spPr>
          <a:xfrm>
            <a:off x="5331968" y="1700784"/>
            <a:ext cx="960120" cy="640080"/>
          </a:xfrm>
          <a:prstGeom prst="rightArrow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>
              <a:latin typeface="맑은 고딕"/>
              <a:ea typeface="맑은 고딕"/>
            </a:endParaRPr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789AD53B-12D7-432F-0F3D-3D90594E8E0E}"/>
              </a:ext>
            </a:extLst>
          </p:cNvPr>
          <p:cNvSpPr/>
          <p:nvPr/>
        </p:nvSpPr>
        <p:spPr>
          <a:xfrm>
            <a:off x="5016863" y="1899775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0B2E4F"/>
                </a:solidFill>
                <a:latin typeface="맑은 고딕"/>
                <a:ea typeface="맑은 고딕"/>
                <a:cs typeface="Malgun Gothic" pitchFamily="34" charset="-120"/>
              </a:rPr>
              <a:t>AI 도입</a:t>
            </a:r>
            <a:endParaRPr lang="en-US" sz="1150">
              <a:latin typeface="맑은 고딕"/>
              <a:ea typeface="맑은 고딕"/>
            </a:endParaRPr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D83747F2-0FE9-FE75-10B2-F407AFBEF48C}"/>
              </a:ext>
            </a:extLst>
          </p:cNvPr>
          <p:cNvSpPr/>
          <p:nvPr/>
        </p:nvSpPr>
        <p:spPr>
          <a:xfrm>
            <a:off x="6347822" y="1379582"/>
            <a:ext cx="5304101" cy="1601796"/>
          </a:xfrm>
          <a:prstGeom prst="rect">
            <a:avLst/>
          </a:prstGeom>
          <a:solidFill>
            <a:srgbClr val="0B2E4F"/>
          </a:solidFill>
          <a:ln/>
          <a:effectLst>
            <a:outerShdw blurRad="127000" dist="38100" dir="5400000" algn="bl" rotWithShape="0">
              <a:srgbClr val="0B2E4F">
                <a:alpha val="35000"/>
              </a:srgbClr>
            </a:outerShdw>
          </a:effectLst>
        </p:spPr>
        <p:txBody>
          <a:bodyPr/>
          <a:lstStyle/>
          <a:p>
            <a:endParaRPr lang="en-US">
              <a:latin typeface="맑은 고딕"/>
              <a:ea typeface="맑은 고딕"/>
            </a:endParaRPr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6584571D-73A1-C7FE-14BB-8386976E2AEF}"/>
              </a:ext>
            </a:extLst>
          </p:cNvPr>
          <p:cNvSpPr/>
          <p:nvPr/>
        </p:nvSpPr>
        <p:spPr>
          <a:xfrm>
            <a:off x="6665686" y="1422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8A33D"/>
                </a:solidFill>
                <a:latin typeface="맑은 고딕"/>
                <a:ea typeface="맑은 고딕"/>
                <a:cs typeface="Malgun Gothic" pitchFamily="34" charset="-120"/>
              </a:rPr>
              <a:t>AI 도입 후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DC355B0C-E798-F364-60FB-AB7093C22DAE}"/>
              </a:ext>
            </a:extLst>
          </p:cNvPr>
          <p:cNvSpPr/>
          <p:nvPr/>
        </p:nvSpPr>
        <p:spPr>
          <a:xfrm>
            <a:off x="6636657" y="1740263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맑은 고딕"/>
                <a:ea typeface="맑은 고딕"/>
                <a:cs typeface="Malgun Gothic" pitchFamily="34" charset="-120"/>
              </a:rPr>
              <a:t>상시 감지 · 조기 대응</a:t>
            </a:r>
            <a:endParaRPr lang="en-US" sz="1800">
              <a:latin typeface="맑은 고딕"/>
              <a:ea typeface="맑은 고딕"/>
            </a:endParaRPr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DBF78691-53F9-39EE-7621-F2F386725AFD}"/>
              </a:ext>
            </a:extLst>
          </p:cNvPr>
          <p:cNvSpPr/>
          <p:nvPr/>
        </p:nvSpPr>
        <p:spPr>
          <a:xfrm>
            <a:off x="6636657" y="2037806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>
                <a:solidFill>
                  <a:srgbClr val="E6EBF0"/>
                </a:solidFill>
                <a:latin typeface="맑은 고딕"/>
                <a:ea typeface="맑은 고딕"/>
                <a:cs typeface="Malgun Gothic" pitchFamily="34" charset="-120"/>
              </a:rPr>
              <a:t>설계변경·계약조건 변화를 AI가 상시 분석  →  원가 변동 신호 조기 포착  →  예산조정·계약협의·충당금 검토 신속화</a:t>
            </a:r>
            <a:endParaRPr lang="en-US" sz="1250">
              <a:latin typeface="맑은 고딕"/>
              <a:ea typeface="맑은 고딕"/>
            </a:endParaRPr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621BC05C-4142-44E1-E76B-A2E06A8E11D3}"/>
              </a:ext>
            </a:extLst>
          </p:cNvPr>
          <p:cNvSpPr/>
          <p:nvPr/>
        </p:nvSpPr>
        <p:spPr>
          <a:xfrm>
            <a:off x="370114" y="3100832"/>
            <a:ext cx="4828903" cy="2987911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>
              <a:latin typeface="맑은 고딕"/>
              <a:ea typeface="맑은 고딕"/>
            </a:endParaRPr>
          </a:p>
        </p:txBody>
      </p:sp>
      <p:sp>
        <p:nvSpPr>
          <p:cNvPr id="40" name="Shape 13">
            <a:extLst>
              <a:ext uri="{FF2B5EF4-FFF2-40B4-BE49-F238E27FC236}">
                <a16:creationId xmlns:a16="http://schemas.microsoft.com/office/drawing/2014/main" id="{A650F890-2C71-C05F-027C-4B1CA5D5EF81}"/>
              </a:ext>
            </a:extLst>
          </p:cNvPr>
          <p:cNvSpPr/>
          <p:nvPr/>
        </p:nvSpPr>
        <p:spPr>
          <a:xfrm>
            <a:off x="777240" y="3291840"/>
            <a:ext cx="566928" cy="566928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>
              <a:latin typeface="맑은 고딕"/>
              <a:ea typeface="맑은 고딕"/>
            </a:endParaRPr>
          </a:p>
        </p:txBody>
      </p:sp>
      <p:pic>
        <p:nvPicPr>
          <p:cNvPr id="42" name="Image 1" descr="/home/claude/icon_ship.png">
            <a:extLst>
              <a:ext uri="{FF2B5EF4-FFF2-40B4-BE49-F238E27FC236}">
                <a16:creationId xmlns:a16="http://schemas.microsoft.com/office/drawing/2014/main" id="{9974FD31-457B-E89E-90E0-416AABA3D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29000"/>
            <a:ext cx="292608" cy="292608"/>
          </a:xfrm>
          <a:prstGeom prst="rect">
            <a:avLst/>
          </a:prstGeom>
        </p:spPr>
      </p:pic>
      <p:sp>
        <p:nvSpPr>
          <p:cNvPr id="44" name="Text 14">
            <a:extLst>
              <a:ext uri="{FF2B5EF4-FFF2-40B4-BE49-F238E27FC236}">
                <a16:creationId xmlns:a16="http://schemas.microsoft.com/office/drawing/2014/main" id="{66375825-5F22-BBB6-4113-8CDF57E87BE9}"/>
              </a:ext>
            </a:extLst>
          </p:cNvPr>
          <p:cNvSpPr/>
          <p:nvPr/>
        </p:nvSpPr>
        <p:spPr>
          <a:xfrm>
            <a:off x="1508760" y="3291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8A33D"/>
                </a:solidFill>
                <a:latin typeface="맑은 고딕"/>
                <a:ea typeface="맑은 고딕"/>
                <a:cs typeface="Malgun Gothic" pitchFamily="34" charset="-120"/>
              </a:rPr>
              <a:t>미래 사업 대응력 확보</a:t>
            </a:r>
            <a:endParaRPr lang="en-US" sz="1100">
              <a:latin typeface="맑은 고딕"/>
              <a:ea typeface="맑은 고딕"/>
            </a:endParaRPr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42374C12-F5DD-002D-54B5-058B9DDB7A46}"/>
              </a:ext>
            </a:extLst>
          </p:cNvPr>
          <p:cNvSpPr/>
          <p:nvPr/>
        </p:nvSpPr>
        <p:spPr>
          <a:xfrm>
            <a:off x="1414417" y="352958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2E4F"/>
                </a:solidFill>
                <a:latin typeface="맑은 고딕"/>
                <a:ea typeface="맑은 고딕"/>
                <a:cs typeface="Malgun Gothic" pitchFamily="34" charset="-120"/>
              </a:rPr>
              <a:t>KDDX · 함정 MRO · 친환경 선박</a:t>
            </a:r>
            <a:endParaRPr lang="en-US" sz="1800">
              <a:latin typeface="맑은 고딕"/>
              <a:ea typeface="맑은 고딕"/>
            </a:endParaRPr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888F28D6-52E3-B077-7956-D47DB79F2387}"/>
              </a:ext>
            </a:extLst>
          </p:cNvPr>
          <p:cNvSpPr/>
          <p:nvPr/>
        </p:nvSpPr>
        <p:spPr>
          <a:xfrm>
            <a:off x="777240" y="3959352"/>
            <a:ext cx="475488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1D5C8A"/>
                </a:solidFill>
                <a:latin typeface="맑은 고딕"/>
                <a:ea typeface="맑은 고딕"/>
                <a:cs typeface="Malgun Gothic" pitchFamily="34" charset="-120"/>
              </a:rPr>
              <a:t>과제  </a:t>
            </a:r>
            <a:endParaRPr lang="en-US" sz="1200">
              <a:latin typeface="맑은 고딕"/>
              <a:ea typeface="맑은 고딕"/>
            </a:endParaRPr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>
                <a:solidFill>
                  <a:srgbClr val="1B2A3A"/>
                </a:solidFill>
                <a:latin typeface="맑은 고딕"/>
                <a:ea typeface="맑은 고딕"/>
                <a:cs typeface="Malgun Gothic" pitchFamily="34" charset="-120"/>
              </a:rPr>
              <a:t>과거 원가 데이터 부족 → 수익성 예측 어려움</a:t>
            </a:r>
            <a:r>
              <a:rPr lang="en-US" sz="1200" b="1">
                <a:solidFill>
                  <a:srgbClr val="1D5C8A"/>
                </a:solidFill>
                <a:latin typeface="맑은 고딕"/>
                <a:ea typeface="맑은 고딕"/>
                <a:cs typeface="Malgun Gothic" pitchFamily="34" charset="-120"/>
              </a:rPr>
              <a:t>AI 분석  </a:t>
            </a:r>
            <a:endParaRPr lang="en-US" sz="1200">
              <a:latin typeface="맑은 고딕"/>
              <a:ea typeface="맑은 고딕"/>
            </a:endParaRPr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>
                <a:solidFill>
                  <a:srgbClr val="1B2A3A"/>
                </a:solidFill>
                <a:latin typeface="맑은 고딕"/>
                <a:ea typeface="맑은 고딕"/>
                <a:cs typeface="Malgun Gothic" pitchFamily="34" charset="-120"/>
              </a:rPr>
              <a:t>계약조건 · 자재가격 · 공정리스크 · 회계기준 종합 분석</a:t>
            </a:r>
            <a:r>
              <a:rPr lang="en-US" sz="1200" b="1">
                <a:solidFill>
                  <a:srgbClr val="1D5C8A"/>
                </a:solidFill>
                <a:latin typeface="맑은 고딕"/>
                <a:ea typeface="맑은 고딕"/>
                <a:cs typeface="Malgun Gothic" pitchFamily="34" charset="-120"/>
              </a:rPr>
              <a:t>효과  </a:t>
            </a:r>
            <a:endParaRPr lang="en-US" sz="1200">
              <a:latin typeface="맑은 고딕"/>
              <a:ea typeface="맑은 고딕"/>
            </a:endParaRPr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>
                <a:solidFill>
                  <a:srgbClr val="1B2A3A"/>
                </a:solidFill>
                <a:latin typeface="맑은 고딕"/>
                <a:ea typeface="맑은 고딕"/>
                <a:cs typeface="Malgun Gothic" pitchFamily="34" charset="-120"/>
              </a:rPr>
              <a:t>원가 상승 가능성 사전 점검</a:t>
            </a:r>
            <a:r>
              <a:rPr lang="en-US" sz="1200" b="1">
                <a:solidFill>
                  <a:srgbClr val="1D5C8A"/>
                </a:solidFill>
                <a:latin typeface="맑은 고딕"/>
                <a:ea typeface="맑은 고딕"/>
                <a:cs typeface="Malgun Gothic" pitchFamily="34" charset="-120"/>
              </a:rPr>
              <a:t>결과  </a:t>
            </a:r>
            <a:endParaRPr lang="en-US" sz="1200">
              <a:latin typeface="맑은 고딕"/>
              <a:ea typeface="맑은 고딕"/>
            </a:endParaRPr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>
                <a:solidFill>
                  <a:srgbClr val="1B2A3A"/>
                </a:solidFill>
                <a:latin typeface="맑은 고딕"/>
                <a:ea typeface="맑은 고딕"/>
                <a:cs typeface="Malgun Gothic" pitchFamily="34" charset="-120"/>
              </a:rPr>
              <a:t>무리한 수주 손실 축소, 핵심 사업 안정적 확대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50" name="Shape 17">
            <a:extLst>
              <a:ext uri="{FF2B5EF4-FFF2-40B4-BE49-F238E27FC236}">
                <a16:creationId xmlns:a16="http://schemas.microsoft.com/office/drawing/2014/main" id="{2C6D5283-E4DD-E656-14AC-5F423F36124D}"/>
              </a:ext>
            </a:extLst>
          </p:cNvPr>
          <p:cNvSpPr/>
          <p:nvPr/>
        </p:nvSpPr>
        <p:spPr>
          <a:xfrm>
            <a:off x="6347823" y="3100832"/>
            <a:ext cx="5307875" cy="2987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>
              <a:latin typeface="맑은 고딕"/>
              <a:ea typeface="맑은 고딕"/>
            </a:endParaRPr>
          </a:p>
        </p:txBody>
      </p:sp>
      <p:sp>
        <p:nvSpPr>
          <p:cNvPr id="52" name="Shape 18">
            <a:extLst>
              <a:ext uri="{FF2B5EF4-FFF2-40B4-BE49-F238E27FC236}">
                <a16:creationId xmlns:a16="http://schemas.microsoft.com/office/drawing/2014/main" id="{88B5D2EC-7B30-8FD0-E299-E09C3D721779}"/>
              </a:ext>
            </a:extLst>
          </p:cNvPr>
          <p:cNvSpPr/>
          <p:nvPr/>
        </p:nvSpPr>
        <p:spPr>
          <a:xfrm>
            <a:off x="6675120" y="3291840"/>
            <a:ext cx="566928" cy="566928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>
              <a:latin typeface="맑은 고딕"/>
              <a:ea typeface="맑은 고딕"/>
            </a:endParaRPr>
          </a:p>
        </p:txBody>
      </p:sp>
      <p:pic>
        <p:nvPicPr>
          <p:cNvPr id="54" name="Image 2" descr="/home/claude/icon_search.png">
            <a:extLst>
              <a:ext uri="{FF2B5EF4-FFF2-40B4-BE49-F238E27FC236}">
                <a16:creationId xmlns:a16="http://schemas.microsoft.com/office/drawing/2014/main" id="{0D0C873E-54F5-B972-47A1-A40DD4829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3429000"/>
            <a:ext cx="292608" cy="292608"/>
          </a:xfrm>
          <a:prstGeom prst="rect">
            <a:avLst/>
          </a:prstGeom>
        </p:spPr>
      </p:pic>
      <p:sp>
        <p:nvSpPr>
          <p:cNvPr id="56" name="Text 19">
            <a:extLst>
              <a:ext uri="{FF2B5EF4-FFF2-40B4-BE49-F238E27FC236}">
                <a16:creationId xmlns:a16="http://schemas.microsoft.com/office/drawing/2014/main" id="{166D5306-5C3C-46AE-68AE-6D8357DA42E6}"/>
              </a:ext>
            </a:extLst>
          </p:cNvPr>
          <p:cNvSpPr/>
          <p:nvPr/>
        </p:nvSpPr>
        <p:spPr>
          <a:xfrm>
            <a:off x="7406640" y="3291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8A33D"/>
                </a:solidFill>
                <a:latin typeface="맑은 고딕"/>
                <a:ea typeface="맑은 고딕"/>
                <a:cs typeface="Malgun Gothic" pitchFamily="34" charset="-120"/>
              </a:rPr>
              <a:t>회계 리스크 조기 감지</a:t>
            </a:r>
            <a:endParaRPr lang="en-US" sz="1100">
              <a:latin typeface="맑은 고딕"/>
              <a:ea typeface="맑은 고딕"/>
            </a:endParaRPr>
          </a:p>
        </p:txBody>
      </p:sp>
      <p:sp>
        <p:nvSpPr>
          <p:cNvPr id="58" name="Text 20">
            <a:extLst>
              <a:ext uri="{FF2B5EF4-FFF2-40B4-BE49-F238E27FC236}">
                <a16:creationId xmlns:a16="http://schemas.microsoft.com/office/drawing/2014/main" id="{A3F95006-49B8-7546-4A3A-6E46FC0627CE}"/>
              </a:ext>
            </a:extLst>
          </p:cNvPr>
          <p:cNvSpPr/>
          <p:nvPr/>
        </p:nvSpPr>
        <p:spPr>
          <a:xfrm>
            <a:off x="7406640" y="352958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2E4F"/>
                </a:solidFill>
                <a:latin typeface="맑은 고딕"/>
                <a:ea typeface="맑은 고딕"/>
                <a:cs typeface="Malgun Gothic" pitchFamily="34" charset="-120"/>
              </a:rPr>
              <a:t>설계변경 · 공정지연 · 자재비 변동</a:t>
            </a:r>
            <a:endParaRPr lang="en-US" sz="1800">
              <a:latin typeface="맑은 고딕"/>
              <a:ea typeface="맑은 고딕"/>
            </a:endParaRPr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3B79921D-E9D3-590D-EA2B-68F4CF42FEF8}"/>
              </a:ext>
            </a:extLst>
          </p:cNvPr>
          <p:cNvSpPr/>
          <p:nvPr/>
        </p:nvSpPr>
        <p:spPr>
          <a:xfrm>
            <a:off x="6675120" y="3959352"/>
            <a:ext cx="475488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700"/>
              </a:spcAft>
              <a:buNone/>
            </a:pPr>
            <a:r>
              <a:rPr lang="en-US" sz="1200" b="1">
                <a:solidFill>
                  <a:srgbClr val="1D5C8A"/>
                </a:solidFill>
                <a:latin typeface="맑은 고딕"/>
                <a:ea typeface="맑은 고딕"/>
                <a:cs typeface="Malgun Gothic" pitchFamily="34" charset="-120"/>
              </a:rPr>
              <a:t>탐지 대상  </a:t>
            </a:r>
            <a:endParaRPr lang="en-US" sz="1200">
              <a:latin typeface="맑은 고딕"/>
              <a:ea typeface="맑은 고딕"/>
            </a:endParaRPr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>
                <a:solidFill>
                  <a:srgbClr val="1B2A3A"/>
                </a:solidFill>
                <a:latin typeface="맑은 고딕"/>
                <a:ea typeface="맑은 고딕"/>
                <a:cs typeface="Malgun Gothic" pitchFamily="34" charset="-120"/>
              </a:rPr>
              <a:t>설계변경 · 공정지연 · 자재비 변동 신호</a:t>
            </a:r>
            <a:r>
              <a:rPr lang="en-US" sz="1200" b="1">
                <a:solidFill>
                  <a:srgbClr val="1D5C8A"/>
                </a:solidFill>
                <a:latin typeface="맑은 고딕"/>
                <a:ea typeface="맑은 고딕"/>
                <a:cs typeface="Malgun Gothic" pitchFamily="34" charset="-120"/>
              </a:rPr>
              <a:t>AI 역할  </a:t>
            </a:r>
            <a:endParaRPr lang="en-US" sz="1200">
              <a:latin typeface="맑은 고딕"/>
              <a:ea typeface="맑은 고딕"/>
            </a:endParaRPr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>
                <a:solidFill>
                  <a:srgbClr val="1B2A3A"/>
                </a:solidFill>
                <a:latin typeface="맑은 고딕"/>
                <a:ea typeface="맑은 고딕"/>
                <a:cs typeface="Malgun Gothic" pitchFamily="34" charset="-120"/>
              </a:rPr>
              <a:t>메일·docx 변경 통지를 발생 단계부터 상시 탐지</a:t>
            </a:r>
            <a:r>
              <a:rPr lang="en-US" sz="1200" b="1">
                <a:solidFill>
                  <a:srgbClr val="1D5C8A"/>
                </a:solidFill>
                <a:latin typeface="맑은 고딕"/>
                <a:ea typeface="맑은 고딕"/>
                <a:cs typeface="Malgun Gothic" pitchFamily="34" charset="-120"/>
              </a:rPr>
              <a:t>효과  </a:t>
            </a:r>
            <a:endParaRPr lang="en-US" sz="1200">
              <a:latin typeface="맑은 고딕"/>
              <a:ea typeface="맑은 고딕"/>
            </a:endParaRPr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>
                <a:solidFill>
                  <a:srgbClr val="1B2A3A"/>
                </a:solidFill>
                <a:latin typeface="맑은 고딕"/>
                <a:ea typeface="맑은 고딕"/>
                <a:cs typeface="Malgun Gothic" pitchFamily="34" charset="-120"/>
              </a:rPr>
              <a:t>손실 반영 지연 · 누락 가능성 조기 확인</a:t>
            </a:r>
            <a:r>
              <a:rPr lang="en-US" sz="1200" b="1">
                <a:solidFill>
                  <a:srgbClr val="1D5C8A"/>
                </a:solidFill>
                <a:latin typeface="맑은 고딕"/>
                <a:ea typeface="맑은 고딕"/>
                <a:cs typeface="Malgun Gothic" pitchFamily="34" charset="-120"/>
              </a:rPr>
              <a:t>후속 조치  </a:t>
            </a:r>
            <a:endParaRPr lang="en-US" sz="1200">
              <a:latin typeface="맑은 고딕"/>
              <a:ea typeface="맑은 고딕"/>
            </a:endParaRPr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>
                <a:solidFill>
                  <a:srgbClr val="1B2A3A"/>
                </a:solidFill>
                <a:latin typeface="맑은 고딕"/>
                <a:ea typeface="맑은 고딕"/>
                <a:cs typeface="Malgun Gothic" pitchFamily="34" charset="-120"/>
              </a:rPr>
              <a:t>예산조정 · 계약협의 · 충당금 검토 신속화</a:t>
            </a:r>
            <a:endParaRPr lang="en-US" sz="120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630565104"/>
      </p:ext>
    </p:extLst>
  </p:cSld>
  <p:clrMapOvr>
    <a:masterClrMapping/>
  </p:clrMapOvr>
</p:sld>
</file>

<file path=ppt/theme/theme1.xml><?xml version="1.0" encoding="utf-8"?>
<a:theme xmlns:a="http://schemas.openxmlformats.org/drawingml/2006/main" name="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Samil PwC">
      <a:majorFont>
        <a:latin typeface="Georgia"/>
        <a:ea typeface="바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0B296F49-9839-BE48-A6B0-07FAE54AD4FB}" vid="{251455FA-3AFB-1547-9744-D9A806732972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55e898-b404-4e69-be7d-419172c0db6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6AE4ACC694DB40A05614A9050B2FCA" ma:contentTypeVersion="9" ma:contentTypeDescription="Create a new document." ma:contentTypeScope="" ma:versionID="7ce3cb111783ecc9057600cc1dc3ff07">
  <xsd:schema xmlns:xsd="http://www.w3.org/2001/XMLSchema" xmlns:xs="http://www.w3.org/2001/XMLSchema" xmlns:p="http://schemas.microsoft.com/office/2006/metadata/properties" xmlns:ns3="9155e898-b404-4e69-be7d-419172c0db6c" targetNamespace="http://schemas.microsoft.com/office/2006/metadata/properties" ma:root="true" ma:fieldsID="12d4999811cb288e9817defa540e3d3b" ns3:_="">
    <xsd:import namespace="9155e898-b404-4e69-be7d-419172c0db6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55e898-b404-4e69-be7d-419172c0db6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9C038D1-3569-4B77-A6F2-BB0E4E72CFEE}">
  <ds:schemaRefs>
    <ds:schemaRef ds:uri="http://www.w3.org/XML/1998/namespace"/>
    <ds:schemaRef ds:uri="http://purl.org/dc/dcmitype/"/>
    <ds:schemaRef ds:uri="http://purl.org/dc/terms/"/>
    <ds:schemaRef ds:uri="http://schemas.microsoft.com/office/infopath/2007/PartnerControls"/>
    <ds:schemaRef ds:uri="9155e898-b404-4e69-be7d-419172c0db6c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D610059E-367E-4E31-AD55-502345E5AE66}">
  <ds:schemaRefs>
    <ds:schemaRef ds:uri="9155e898-b404-4e69-be7d-419172c0db6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7B3CC27-72C6-430F-A0A8-CB518226308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792</Words>
  <Application>Microsoft Office PowerPoint</Application>
  <PresentationFormat>와이드스크린</PresentationFormat>
  <Paragraphs>151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WordVisiCarriageReturn_MSFontService</vt:lpstr>
      <vt:lpstr>맑은 고딕</vt:lpstr>
      <vt:lpstr>맑은 고딕</vt:lpstr>
      <vt:lpstr>Arial</vt:lpstr>
      <vt:lpstr>Georgia</vt:lpstr>
      <vt:lpstr>HancomEQN</vt:lpstr>
      <vt:lpstr>Wingdings</vt:lpstr>
      <vt:lpstr>PwC Slide Master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PricewaterhouseCoopers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Seojin Baek (KR - Tax)</dc:creator>
  <cp:lastModifiedBy>Youngseung Lee (KR - ADVS)</cp:lastModifiedBy>
  <cp:revision>3</cp:revision>
  <dcterms:created xsi:type="dcterms:W3CDTF">2026-07-16T05:33:04Z</dcterms:created>
  <dcterms:modified xsi:type="dcterms:W3CDTF">2026-07-21T06:19:36Z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0x010100936AE4ACC694DB40A05614A9050B2FCA</vt:lpwstr>
  </property>
</Properties>
</file>