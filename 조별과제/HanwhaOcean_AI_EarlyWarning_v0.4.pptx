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147471719" r:id="rId5"/>
    <p:sldId id="2147471758" r:id="rId6"/>
    <p:sldId id="2147471761" r:id="rId7"/>
    <p:sldId id="2147471767" r:id="rId9"/>
    <p:sldId id="2147471759" r:id="rId10"/>
    <p:sldId id="2147471763" r:id="rId11"/>
    <p:sldId id="2147471774" r:id="rId12"/>
    <p:sldId id="2147471760" r:id="rId13"/>
    <p:sldId id="2147471771" r:id="rId14"/>
    <p:sldId id="21474717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F8"/>
    <a:srgbClr val="37629B"/>
    <a:srgbClr val="0C84D6"/>
    <a:srgbClr val="F9ECEC"/>
    <a:srgbClr val="EBEBEB"/>
    <a:srgbClr val="070C13"/>
    <a:srgbClr val="132235"/>
    <a:srgbClr val="223D60"/>
    <a:srgbClr val="213B5D"/>
    <a:srgbClr val="0A7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>
        <p:guide pos="325"/>
        <p:guide pos="735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D9F09-C6DE-4399-B481-A3D82C452A1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EAF4D-DD1B-4099-92D7-FA1E7F7254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06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 panose="021100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w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 latinLnBrk="0">
              <a:lnSpc>
                <a:spcPct val="100000"/>
              </a:lnSpc>
              <a:spcBef>
                <a:spcPts val="0"/>
              </a:spcBef>
              <a:defRPr sz="4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170B56-D4FB-3832-62FB-8A0FD72ED10B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6" name="Graphic 37">
              <a:extLst>
                <a:ext uri="{FF2B5EF4-FFF2-40B4-BE49-F238E27FC236}">
                  <a16:creationId xmlns:a16="http://schemas.microsoft.com/office/drawing/2014/main" id="{C3C0CFE9-F917-A0A6-C95C-6B0841BD8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88A383E-057E-401A-8EA4-38FAB7F7A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6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5289B8-85DB-9CDF-B187-1C91C485EA3C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4" name="Graphic 37">
              <a:extLst>
                <a:ext uri="{FF2B5EF4-FFF2-40B4-BE49-F238E27FC236}">
                  <a16:creationId xmlns:a16="http://schemas.microsoft.com/office/drawing/2014/main" id="{CCDD0882-C842-DED6-129C-460943B17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FCD6532-6A57-D7FA-7B2D-CAEDE0775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294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E847C2-FDF0-2666-281D-0E7BA9C6D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50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56A325-BD6F-C5BC-CCA9-E3CD13BF3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103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09F94D-8D09-1BAD-D4D4-CF74DB855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537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85DEA1-6BE0-FAB6-014C-4BD4DCF34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8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1FEBD7-F7AA-C327-4BF3-7A7226483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057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 latinLnBrk="0">
              <a:defRPr lang="en-US" sz="4800" dirty="0"/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96C72D-99B3-A59D-3B8F-82994CAB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1343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170D3E2-15AF-1A83-5331-D07A37FE5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835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spcAft>
                <a:spcPts val="0"/>
              </a:spcAft>
              <a:defRPr sz="14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391B3-FAB2-57D2-D639-330BF7D03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97553-21FE-267B-399B-8A82749A8571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64631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B221CD7-8C1F-AC7C-81CD-14A3D8D7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AC8F1-044B-CA3F-A5AA-B1BBA6E3B97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220973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4D060-2DF3-9812-318B-BA374C44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A37D-6306-1D8D-A6EC-CE9A50EA9FEB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1918336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534F-9070-2526-199E-F1E4ECFF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5C548-2BA1-56A8-1628-216F8C2B14AA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3158746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7382-F49F-D07F-2E88-4E9660208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A575-4618-D880-E2D0-42D43C6DE62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4003122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B9F1EC1-EAD2-AAC7-D88F-1A9B10D18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74473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5504"/>
            <a:ext cx="4182718" cy="1846659"/>
          </a:xfrm>
        </p:spPr>
        <p:txBody>
          <a:bodyPr wrap="square" anchor="b" anchorCtr="0">
            <a:spAutoFit/>
          </a:bodyPr>
          <a:lstStyle>
            <a:lvl1pPr latinLnBrk="0">
              <a:lnSpc>
                <a:spcPct val="10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EA2C28-A5AF-E976-CA7E-10785AC48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64543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F92F9D-4603-4E22-6B2D-293F458D7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00107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281363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619309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CD8E761-0F43-B30A-C04D-0F8043FB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5337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6893168-8476-2543-98DE-03343D99F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5479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067027-47B9-E695-A24C-1792F34C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458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mtClean="0"/>
            </a:lvl1pPr>
            <a:lvl2pPr>
              <a:defRPr lang="ko-KR" altLang="en-US" smtClean="0">
                <a:latin typeface="+mn-lt"/>
              </a:defRPr>
            </a:lvl2pPr>
            <a:lvl3pPr>
              <a:defRPr lang="ko-KR" altLang="en-US" smtClean="0">
                <a:latin typeface="+mn-lt"/>
              </a:defRPr>
            </a:lvl3pPr>
            <a:lvl4pPr>
              <a:defRPr lang="ko-KR" altLang="en-US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FD7BF1E-3B55-C3EA-F1A9-8FBE1404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602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402432"/>
            <a:ext cx="2514282" cy="245506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0436BDD-C70B-A8C6-A9B4-D6104827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3895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402336"/>
            <a:ext cx="2514283" cy="24551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F3426C9-35DE-4F39-4A5D-C5BE0501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4336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D14A64E-64B4-8591-EB11-F73A20150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1186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B17E41-9C66-3146-B374-F4EE7CAB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98324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B74FBD-332C-1D36-4AA9-1E36A0F76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4705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ACC21C-B431-050A-654B-071D0D988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22173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A6F816-0190-05EE-AB74-109D8AE38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846592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C9E6B-5B17-A950-147A-ABA2D452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60059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E04EDD-A168-5DB0-4D27-AFE0E430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3225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A1E08A-92BA-B730-5F58-CCC1B3935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832373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304528-2A18-F534-DB1F-C688A838F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119280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0D0E3D-44AA-F788-7D0E-6D381C822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04545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AE82FD-0055-0A27-B41F-BDF28E6B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10593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FBFB5-BA91-AA02-B93D-D9D8EAC29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905973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0050" y="1428750"/>
            <a:ext cx="5639514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AB0EEB4-382A-4329-E7B8-972AB50F5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37682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0716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 latinLnBrk="0"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5832B9-C082-99BB-4F47-2F2EA666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780248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394851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0050" y="1443674"/>
            <a:ext cx="2596899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AEC589B-A325-BA88-011B-A3B77E90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7958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7BF6FB-C0E6-A748-6D23-5EA595E10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53080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B60B1A-071B-35FD-25DB-C518ED2B2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164864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ECFBA4A-72DC-1514-2150-DE3C44E01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63135" y="593396"/>
            <a:ext cx="628253" cy="5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883" y="4983333"/>
            <a:ext cx="4684467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E639035-43A1-2F9E-CCD8-0EB17F6A3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2092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6386AA-AFD4-DD3A-1EA2-E08A1949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4CB02A23-CA94-C535-D36E-6B240D9F35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092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1BCA3-5F06-69DF-905E-B2F05185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270A733-09D9-897F-C8C2-69F83980D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48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F89228-5FCD-F6E6-C031-BAD76F48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10930C58-035E-8597-4888-0400EC94B9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197" y="769470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72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 latinLnBrk="0">
              <a:lnSpc>
                <a:spcPct val="100000"/>
              </a:lnSpc>
              <a:spcAft>
                <a:spcPts val="0"/>
              </a:spcAft>
              <a:defRPr sz="66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C7C1E-51AB-5CD6-ECC2-15496D90C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808849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580D993-B3C4-0C87-4A56-2CC4C262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323922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8B61B2-F9F6-50DC-CA56-B1A105AF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14749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4249B3-38D3-D354-9630-B932DAC1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29376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84" y="3480486"/>
            <a:ext cx="4499480" cy="245835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94D1C47-791A-4FC0-C33B-8D876A009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418810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defRPr sz="1400">
                <a:latin typeface="+mj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5804F4D-E855-71FB-DFF6-DAD75ADD3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450771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defRPr lang="en-US" b="1" dirty="0"/>
            </a:lvl1pPr>
          </a:lstStyle>
          <a:p>
            <a:pPr lvl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4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3CEF231-6669-F7D4-2B96-EB3B03BA9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419652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spcAft>
                <a:spcPts val="0"/>
              </a:spcAft>
              <a:defRPr lang="ko-KR" altLang="en-US" sz="6600" b="0">
                <a:latin typeface="+mj-lt"/>
              </a:defRPr>
            </a:lvl1pPr>
          </a:lstStyle>
          <a:p>
            <a:pPr lvl="0" latinLnBrk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1800" smtClean="0"/>
            </a:lvl1pPr>
            <a:lvl2pPr>
              <a:defRPr lang="ko-KR" altLang="en-US" sz="1800" b="0" smtClean="0">
                <a:latin typeface="+mj-lt"/>
              </a:defRPr>
            </a:lvl2pPr>
          </a:lstStyle>
          <a:p>
            <a:pPr lvl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  <a:p>
            <a:pPr lvl="1">
              <a:spcAft>
                <a:spcPts val="0"/>
              </a:spcAft>
            </a:pPr>
            <a:r>
              <a:rPr lang="ko-KR" altLang="en-US"/>
              <a:t>두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4F92D-ACD0-2F2F-FAEB-B7C663242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275051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B1BA28-FBEC-E69D-91E4-0B45C0B67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6332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3E1692-F26F-FA4E-9EAC-FCCE6F677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329481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B7A958-D841-4E70-411D-B4894E2BE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730846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3CB4B1C-FADE-E38B-512B-139985C0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573696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lnSpc>
                <a:spcPct val="10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560841-DF72-7C47-0883-6455DB3A8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73229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3656C8-113A-5B0F-0D22-1816DB805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886278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57DA70E-92A2-7A84-9955-F87BB5A1D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048892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1C7458-6D6B-D813-4D02-F5EE7C8B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161508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BA29514-D6C0-349D-E9F2-F579ABD4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883078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39874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E439D45-6E17-4197-9306-6ED7851D5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636444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93A30CA-76EA-28B6-17BA-824389C17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201321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A66A1-E1BB-BD5A-7C86-A2988E18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ko-KR" altLang="en-US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FA7DA-BA20-E953-EC95-F6C7E57F6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5D19F-ED8E-4EF2-B32E-7AA3DEAAD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5CEC34-E8FA-2FBE-3C03-D07B0229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9" y="917575"/>
            <a:ext cx="11401425" cy="40005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F365F2-A93D-8409-F17E-FBF381E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676771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2222ABF-B741-7AB3-39B1-0394B867B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074402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5774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0" y="1946275"/>
            <a:ext cx="8520907" cy="1482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 baseline="0">
                <a:latin typeface="+mj-lt"/>
                <a:ea typeface="+mj-ea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54D0A-AFA5-B7A6-3DF8-C43FD1F0FFE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33218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428750"/>
            <a:ext cx="8520907" cy="193334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15054690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957425"/>
            <a:ext cx="5229304" cy="24415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5574E-8DFA-E647-0C62-275E06AA6E45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5708265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582" y="4410115"/>
            <a:ext cx="5630031" cy="154146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F52AF-25E6-89D0-6353-29F84C0B72E7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9190727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9482934" cy="40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7DF15-6EE7-BB6F-218E-E221CDD6785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780260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7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6606382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7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2800" b="1" kern="12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b="1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Georgia" panose="02040502050405020303" pitchFamily="18" charset="0"/>
        <a:buChar char="–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lang="en-US" alt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75000"/>
            <a:alpha val="3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we do">
            <a:extLst>
              <a:ext uri="{FF2B5EF4-FFF2-40B4-BE49-F238E27FC236}">
                <a16:creationId xmlns:a16="http://schemas.microsoft.com/office/drawing/2014/main" id="{1D80B9A7-8ECC-DD73-2415-CA1EF7B6D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210" r="6225" b="15608"/>
          <a:stretch>
            <a:fillRect/>
          </a:stretch>
        </p:blipFill>
        <p:spPr bwMode="auto">
          <a:xfrm>
            <a:off x="0" y="0"/>
            <a:ext cx="12306676" cy="69841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5" name="Slide Number Placeholder 4">
            <a:extLst>
              <a:ext uri="{FF2B5EF4-FFF2-40B4-BE49-F238E27FC236}">
                <a16:creationId xmlns:a16="http://schemas.microsoft.com/office/drawing/2014/main" id="{711DE19C-48C2-E518-0197-29733095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>
              <a:spcAft>
                <a:spcPts val="600"/>
              </a:spcAft>
            </a:pPr>
            <a:fld id="{3E6AC032-1535-134B-A583-D5E1DDD0D16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89A4BF-7160-50B2-D1A6-E41CC202FB92}"/>
              </a:ext>
            </a:extLst>
          </p:cNvPr>
          <p:cNvSpPr/>
          <p:nvPr/>
        </p:nvSpPr>
        <p:spPr>
          <a:xfrm>
            <a:off x="0" y="0"/>
            <a:ext cx="12306676" cy="6984124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866" y="586999"/>
            <a:ext cx="6313774" cy="281866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 b="1" noProof="0"/>
              <a:t>Hanwha</a:t>
            </a:r>
            <a:r>
              <a:rPr lang="ko-KR" altLang="en-US" sz="5400" b="1" noProof="0"/>
              <a:t> </a:t>
            </a:r>
            <a:r>
              <a:rPr lang="en-US" altLang="ko-KR" sz="5400" b="1" noProof="0"/>
              <a:t>Ocean</a:t>
            </a:r>
            <a:r>
              <a:rPr lang="en-US" altLang="ko-KR" sz="5400" b="1"/>
              <a:t>:</a:t>
            </a:r>
            <a:br>
              <a:rPr lang="en-US" altLang="ko-KR" sz="5400" b="1"/>
            </a:br>
            <a:r>
              <a:rPr lang="en-US" altLang="ko-KR" sz="5400" b="1"/>
              <a:t>Accounting Early-Warning AI</a:t>
            </a:r>
            <a:endParaRPr lang="en-GB" sz="5400" b="1" noProof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22C02CD2-4A7B-9447-76F0-CC0CB7A38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09" y="220585"/>
            <a:ext cx="1276348" cy="1000124"/>
          </a:xfrm>
          <a:prstGeom prst="rect">
            <a:avLst/>
          </a:prstGeom>
        </p:spPr>
      </p:pic>
      <p:sp>
        <p:nvSpPr>
          <p:cNvPr id="3" name="바닥글 개체 틀 5">
            <a:extLst>
              <a:ext uri="{FF2B5EF4-FFF2-40B4-BE49-F238E27FC236}">
                <a16:creationId xmlns:a16="http://schemas.microsoft.com/office/drawing/2014/main" id="{A1BC39EB-EB24-B42A-C762-BAE332B0B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3866" y="6582175"/>
            <a:ext cx="8519541" cy="1615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CONFIDENTIAL AND PROPRIETARY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3866" y="3898206"/>
            <a:ext cx="2603623" cy="535897"/>
          </a:xfrm>
        </p:spPr>
        <p:txBody>
          <a:bodyPr vert="horz" lIns="0" tIns="0" rIns="0" bIns="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altLang="ko-KR" b="0"/>
              <a:t>Presentation by Group 9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1600" b="0"/>
              <a:t>July</a:t>
            </a:r>
            <a:r>
              <a:rPr lang="en-GB" altLang="ko-KR" sz="1600" b="0"/>
              <a:t> </a:t>
            </a:r>
            <a:r>
              <a:rPr lang="en-US" altLang="ko-KR" sz="1600" b="0"/>
              <a:t>2026</a:t>
            </a:r>
            <a:endParaRPr lang="en-GB" altLang="ko-KR" sz="1600" b="0"/>
          </a:p>
        </p:txBody>
      </p:sp>
    </p:spTree>
    <p:extLst>
      <p:ext uri="{BB962C8B-B14F-4D97-AF65-F5344CB8AC3E}">
        <p14:creationId xmlns:p14="http://schemas.microsoft.com/office/powerpoint/2010/main" val="301132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8A85A-964A-396B-A6A6-86EE50225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79069D6-8A18-552E-EDD4-C24791D14DA2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50095B5-42A5-A02E-D9D9-B5ECA446938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7E71C5-9822-BEA0-CE9F-F654F0BDF81E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Background</a:t>
            </a:r>
            <a:endParaRPr lang="ko-KR" altLang="en-US" sz="5400" b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D8699-223A-7385-3231-94EDA1954B34}"/>
              </a:ext>
            </a:extLst>
          </p:cNvPr>
          <p:cNvSpPr txBox="1"/>
          <p:nvPr/>
        </p:nvSpPr>
        <p:spPr>
          <a:xfrm>
            <a:off x="6686784" y="12207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01</a:t>
            </a:r>
            <a:endParaRPr lang="ko-KR" altLang="en-US" sz="35000">
              <a:solidFill>
                <a:srgbClr val="223D6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BBEC3F-7102-6373-86FD-E36E97EAC7D7}"/>
              </a:ext>
            </a:extLst>
          </p:cNvPr>
          <p:cNvSpPr/>
          <p:nvPr/>
        </p:nvSpPr>
        <p:spPr>
          <a:xfrm>
            <a:off x="424868" y="5074960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615E64-2691-0837-C7E0-9CCCA828D3E3}"/>
              </a:ext>
            </a:extLst>
          </p:cNvPr>
          <p:cNvSpPr/>
          <p:nvPr/>
        </p:nvSpPr>
        <p:spPr>
          <a:xfrm>
            <a:off x="424868" y="2522615"/>
            <a:ext cx="1855850" cy="1016000"/>
          </a:xfrm>
          <a:prstGeom prst="rect">
            <a:avLst/>
          </a:prstGeom>
          <a:solidFill>
            <a:srgbClr val="7198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021A4D-7C4E-1413-40EE-8DB354320E70}"/>
              </a:ext>
            </a:extLst>
          </p:cNvPr>
          <p:cNvSpPr/>
          <p:nvPr/>
        </p:nvSpPr>
        <p:spPr>
          <a:xfrm>
            <a:off x="424868" y="3762501"/>
            <a:ext cx="1855850" cy="1016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A4B7AE-2291-6F46-642B-19B1FFB1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86D9A-F2D3-498C-CCCC-A338EC63C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CD0BC7C-043F-9239-EACC-8C7EBEAF6110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8C3051F-B7F9-327C-05D9-B729996E2E34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763674-BE37-8BA5-CB10-FAF43ADF9920}"/>
              </a:ext>
            </a:extLst>
          </p:cNvPr>
          <p:cNvSpPr txBox="1"/>
          <p:nvPr/>
        </p:nvSpPr>
        <p:spPr>
          <a:xfrm>
            <a:off x="329164" y="445967"/>
            <a:ext cx="5048547" cy="388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기업 소개와 선정 이유</a:t>
            </a:r>
          </a:p>
        </p:txBody>
      </p:sp>
      <p:sp>
        <p:nvSpPr>
          <p:cNvPr id="500" name="라벨 기업 개요"/>
          <p:cNvSpPr/>
          <p:nvPr/>
        </p:nvSpPr>
        <p:spPr>
          <a:xfrm>
            <a:off x="210622" y="1180000"/>
            <a:ext cx="1700000" cy="520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</a:rPr>
              <a:t>기업 개요</a:t>
            </a:r>
          </a:p>
        </p:txBody>
      </p:sp>
      <p:sp>
        <p:nvSpPr>
          <p:cNvPr id="501" name="개요 1"/>
          <p:cNvSpPr txBox="1"/>
          <p:nvPr/>
        </p:nvSpPr>
        <p:spPr>
          <a:xfrm>
            <a:off x="2160622" y="1180000"/>
            <a:ext cx="31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국내 대표 조선·해양 전문기업</a:t>
            </a:r>
          </a:p>
        </p:txBody>
      </p:sp>
      <p:sp>
        <p:nvSpPr>
          <p:cNvPr id="502" name="개요 2"/>
          <p:cNvSpPr txBox="1"/>
          <p:nvPr/>
        </p:nvSpPr>
        <p:spPr>
          <a:xfrm>
            <a:off x="5460622" y="1180000"/>
            <a:ext cx="29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상선, 해양플랜트, 특수선</a:t>
            </a:r>
          </a:p>
        </p:txBody>
      </p:sp>
      <p:sp>
        <p:nvSpPr>
          <p:cNvPr id="503" name="개요 3"/>
          <p:cNvSpPr txBox="1"/>
          <p:nvPr/>
        </p:nvSpPr>
        <p:spPr>
          <a:xfrm>
            <a:off x="8560622" y="1180000"/>
            <a:ext cx="336019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2023년 한화그룹 편입</a:t>
            </a:r>
          </a:p>
        </p:txBody>
      </p:sp>
      <p:sp>
        <p:nvSpPr>
          <p:cNvPr id="504" name="패널 과거"/>
          <p:cNvSpPr/>
          <p:nvPr/>
        </p:nvSpPr>
        <p:spPr>
          <a:xfrm>
            <a:off x="210622" y="2050000"/>
            <a:ext cx="5760000" cy="2950000"/>
          </a:xfrm>
          <a:prstGeom prst="rect">
            <a:avLst/>
          </a:prstGeom>
          <a:solidFill>
            <a:srgbClr val="EAF0F8"/>
          </a:solidFill>
          <a:ln>
            <a:noFill/>
          </a:ln>
        </p:spPr>
        <p:txBody>
          <a:bodyPr wrap="square" lIns="420000" tIns="250000" rIns="420000" bIns="250000" rtlCol="0" anchor="ctr"/>
          <a:lstStyle/>
          <a:p>
            <a:pPr/>
            <a:r>
              <a:rPr lang="ko-KR" altLang="en-US" sz="1300" b="1">
                <a:solidFill>
                  <a:srgbClr val="37629B"/>
                </a:solidFill>
                <a:latin typeface="맑은 고딕"/>
                <a:ea typeface="맑은 고딕"/>
              </a:rPr>
              <a:t>과거</a:t>
            </a:r>
          </a:p>
          <a:p>
            <a:pPr>
              <a:spcBef>
                <a:spcPts val="400"/>
              </a:spcBef>
            </a:pPr>
            <a:r>
              <a:rPr lang="ko-KR" altLang="en-US" sz="1900" b="1">
                <a:solidFill>
                  <a:srgbClr val="213B5D"/>
                </a:solidFill>
                <a:latin typeface="맑은 고딕"/>
                <a:ea typeface="맑은 고딕"/>
              </a:rPr>
              <a:t>대우조선해양 시절</a:t>
            </a:r>
          </a:p>
          <a:p>
            <a:pPr>
              <a:spcBef>
                <a:spcPts val="600"/>
              </a:spcBef>
            </a:pPr>
            <a:r>
              <a:rPr lang="ko-KR" altLang="en-US" sz="4400" b="1">
                <a:solidFill>
                  <a:srgbClr val="D04A02"/>
                </a:solidFill>
                <a:latin typeface="맑은 고딕"/>
                <a:ea typeface="맑은 고딕"/>
              </a:rPr>
              <a:t>약 5조 원</a:t>
            </a:r>
          </a:p>
          <a:p>
            <a:pPr>
              <a:spcBef>
                <a:spcPts val="300"/>
              </a:spcBef>
            </a:pPr>
            <a:r>
              <a:rPr lang="ko-KR" altLang="en-US" sz="1600" b="1">
                <a:solidFill>
                  <a:srgbClr val="213B5D"/>
                </a:solidFill>
                <a:latin typeface="맑은 고딕"/>
                <a:ea typeface="맑은 고딕"/>
              </a:rPr>
              <a:t>규모 분식회계</a:t>
            </a:r>
          </a:p>
          <a:p>
            <a:pPr>
              <a:spcBef>
                <a:spcPts val="700"/>
              </a:spcBef>
            </a:pPr>
            <a:r>
              <a:rPr lang="ko-KR" altLang="en-US" sz="1300">
                <a:solidFill>
                  <a:srgbClr val="223D60"/>
                </a:solidFill>
                <a:latin typeface="맑은 고딕"/>
                <a:ea typeface="맑은 고딕"/>
              </a:rPr>
              <a:t>전 CEO 징역 9년 확정(2017)</a:t>
            </a:r>
          </a:p>
        </p:txBody>
      </p:sp>
      <p:sp>
        <p:nvSpPr>
          <p:cNvPr id="505" name="패널 현재"/>
          <p:cNvSpPr/>
          <p:nvPr/>
        </p:nvSpPr>
        <p:spPr>
          <a:xfrm>
            <a:off x="6160622" y="2050000"/>
            <a:ext cx="5760190" cy="2950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txBody>
          <a:bodyPr wrap="square" lIns="420000" tIns="250000" rIns="420000" bIns="250000" rtlCol="0" anchor="ctr"/>
          <a:lstStyle/>
          <a:p>
            <a:pPr/>
            <a:r>
              <a:rPr lang="ko-KR" altLang="en-US" sz="1300" b="1">
                <a:solidFill>
                  <a:srgbClr val="7198CD"/>
                </a:solidFill>
                <a:latin typeface="맑은 고딕"/>
                <a:ea typeface="맑은 고딕"/>
              </a:rPr>
              <a:t>현재</a:t>
            </a:r>
          </a:p>
          <a:p>
            <a:pPr>
              <a:spcBef>
                <a:spcPts val="400"/>
              </a:spcBef>
            </a:pPr>
            <a:r>
              <a:rPr lang="ko-KR" altLang="en-US" sz="1900" b="1">
                <a:solidFill>
                  <a:srgbClr val="FFFFFF"/>
                </a:solidFill>
                <a:latin typeface="맑은 고딕"/>
                <a:ea typeface="맑은 고딕"/>
              </a:rPr>
              <a:t>한화오션</a:t>
            </a:r>
          </a:p>
          <a:p>
            <a:pPr>
              <a:spcBef>
                <a:spcPts val="800"/>
              </a:spcBef>
            </a:pPr>
            <a:r>
              <a:rPr lang="ko-KR" altLang="en-US" sz="1400">
                <a:solidFill>
                  <a:srgbClr val="FFFFFF"/>
                </a:solidFill>
                <a:latin typeface="맑은 고딕"/>
                <a:ea typeface="맑은 고딕"/>
              </a:rPr>
              <a:t>사상 최대 실적 기록</a:t>
            </a:r>
          </a:p>
          <a:p>
            <a:pPr>
              <a:spcBef>
                <a:spcPts val="500"/>
              </a:spcBef>
            </a:pPr>
            <a:r>
              <a:rPr lang="ko-KR" altLang="en-US" sz="1400">
                <a:solidFill>
                  <a:srgbClr val="FFFFFF"/>
                </a:solidFill>
                <a:latin typeface="맑은 고딕"/>
                <a:ea typeface="맑은 고딕"/>
              </a:rPr>
              <a:t>미청구공사 잔액이 2년 만에 2배 증가</a:t>
            </a:r>
          </a:p>
          <a:p>
            <a:pPr>
              <a:spcBef>
                <a:spcPts val="500"/>
              </a:spcBef>
            </a:pPr>
            <a:r>
              <a:rPr lang="ko-KR" altLang="en-US" sz="1400">
                <a:solidFill>
                  <a:srgbClr val="FFFFFF"/>
                </a:solidFill>
                <a:latin typeface="맑은 고딕"/>
                <a:ea typeface="맑은 고딕"/>
              </a:rPr>
              <a:t>KDDX 사업</a:t>
            </a:r>
          </a:p>
          <a:p>
            <a:pPr>
              <a:spcBef>
                <a:spcPts val="500"/>
              </a:spcBef>
            </a:pPr>
            <a:r>
              <a:rPr lang="ko-KR" altLang="en-US" sz="1400">
                <a:solidFill>
                  <a:srgbClr val="FFFFFF"/>
                </a:solidFill>
                <a:latin typeface="맑은 고딕"/>
                <a:ea typeface="맑은 고딕"/>
              </a:rPr>
              <a:t>미 해군 함정 정비(MRO) 사업</a:t>
            </a:r>
          </a:p>
        </p:txBody>
      </p:sp>
      <p:sp>
        <p:nvSpPr>
          <p:cNvPr id="506" name="라벨 분석 포인트"/>
          <p:cNvSpPr/>
          <p:nvPr/>
        </p:nvSpPr>
        <p:spPr>
          <a:xfrm>
            <a:off x="210622" y="5330000"/>
            <a:ext cx="1700000" cy="520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</a:rPr>
              <a:t>분석 포인트</a:t>
            </a:r>
          </a:p>
        </p:txBody>
      </p:sp>
      <p:sp>
        <p:nvSpPr>
          <p:cNvPr id="507" name="포인트 1"/>
          <p:cNvSpPr txBox="1"/>
          <p:nvPr/>
        </p:nvSpPr>
        <p:spPr>
          <a:xfrm>
            <a:off x="2160622" y="5330000"/>
            <a:ext cx="31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300" b="1">
                <a:solidFill>
                  <a:srgbClr val="213B5D"/>
                </a:solidFill>
                <a:latin typeface="맑은 고딕"/>
                <a:ea typeface="맑은 고딕"/>
              </a:rPr>
              <a:t>➡ 원가 추정의 적정성 검증 필요</a:t>
            </a:r>
          </a:p>
        </p:txBody>
      </p:sp>
      <p:sp>
        <p:nvSpPr>
          <p:cNvPr id="508" name="포인트 2"/>
          <p:cNvSpPr txBox="1"/>
          <p:nvPr/>
        </p:nvSpPr>
        <p:spPr>
          <a:xfrm>
            <a:off x="5460622" y="5330000"/>
            <a:ext cx="29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300" b="1">
                <a:solidFill>
                  <a:srgbClr val="213B5D"/>
                </a:solidFill>
                <a:latin typeface="맑은 고딕"/>
                <a:ea typeface="맑은 고딕"/>
              </a:rPr>
              <a:t>➡ 회계 투명성 검토 필요</a:t>
            </a:r>
          </a:p>
        </p:txBody>
      </p:sp>
      <p:sp>
        <p:nvSpPr>
          <p:cNvPr id="509" name="포인트 3"/>
          <p:cNvSpPr txBox="1"/>
          <p:nvPr/>
        </p:nvSpPr>
        <p:spPr>
          <a:xfrm>
            <a:off x="8560622" y="5330000"/>
            <a:ext cx="336019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300" b="1">
                <a:solidFill>
                  <a:srgbClr val="213B5D"/>
                </a:solidFill>
                <a:latin typeface="맑은 고딕"/>
                <a:ea typeface="맑은 고딕"/>
              </a:rPr>
              <a:t>➡ 수주 확대 과정에서의 리스크 점검 필요</a:t>
            </a:r>
          </a:p>
        </p:txBody>
      </p:sp>
    </p:spTree>
    <p:extLst>
      <p:ext uri="{BB962C8B-B14F-4D97-AF65-F5344CB8AC3E}">
        <p14:creationId xmlns:p14="http://schemas.microsoft.com/office/powerpoint/2010/main" val="62120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C14F-4DC6-4227-184E-7F09BE3B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699704-FEC6-8E15-F4D7-32B16C1C2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93D6B78-E47D-23EE-A1F4-8A0FBAD7038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D1214E8-1FC0-5754-2DBB-C3D4B4F40CBF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29AFB6-7E9E-2125-FC7D-017F0D51CEE7}"/>
              </a:ext>
            </a:extLst>
          </p:cNvPr>
          <p:cNvSpPr txBox="1"/>
          <p:nvPr/>
        </p:nvSpPr>
        <p:spPr>
          <a:xfrm>
            <a:off x="329164" y="445967"/>
            <a:ext cx="3869890" cy="3595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현재 상황</a:t>
            </a:r>
          </a:p>
        </p:txBody>
      </p:sp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97EEC1-9066-6A13-983C-3082E628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4" y="1135551"/>
            <a:ext cx="6001515" cy="3419586"/>
          </a:xfrm>
          <a:prstGeom prst="rect">
            <a:avLst/>
          </a:prstGeom>
        </p:spPr>
      </p:pic>
      <p:pic>
        <p:nvPicPr>
          <p:cNvPr id="11" name="그림 10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300ABB-6DBE-8B25-0BC9-07A7AEF62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5" y="4680079"/>
            <a:ext cx="5414554" cy="1515291"/>
          </a:xfrm>
          <a:prstGeom prst="rect">
            <a:avLst/>
          </a:prstGeom>
        </p:spPr>
      </p:pic>
      <p:sp>
        <p:nvSpPr>
          <p:cNvPr id="14" name="바닥글 개체 틀 5">
            <a:extLst>
              <a:ext uri="{FF2B5EF4-FFF2-40B4-BE49-F238E27FC236}">
                <a16:creationId xmlns:a16="http://schemas.microsoft.com/office/drawing/2014/main" id="{2F56AAD6-4A5C-8D8B-C4B4-EFB8C1B2B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</p:spPr>
        <p:txBody>
          <a:bodyPr/>
          <a:lstStyle/>
          <a:p>
            <a:r>
              <a:rPr lang="en-US"/>
              <a:t>Source: </a:t>
            </a:r>
            <a:r>
              <a:rPr lang="ko-KR" altLang="en-US" err="1"/>
              <a:t>한화오션</a:t>
            </a:r>
            <a:r>
              <a:rPr lang="ko-KR" altLang="en-US"/>
              <a:t> 제25기(2024 회계연도) 사업보고서(2025.3.14 제출), 2026년 1분기 분기보고서(2026.5.13 제출), DART 전자공시시스템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F8DD56-0021-EC49-9305-355BD3F38C45}"/>
              </a:ext>
            </a:extLst>
          </p:cNvPr>
          <p:cNvSpPr/>
          <p:nvPr/>
        </p:nvSpPr>
        <p:spPr>
          <a:xfrm>
            <a:off x="6992582" y="4813703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70억 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9FD9F5-7AA9-3430-2B8A-5DB7AD4D376B}"/>
              </a:ext>
            </a:extLst>
          </p:cNvPr>
          <p:cNvSpPr/>
          <p:nvPr/>
        </p:nvSpPr>
        <p:spPr>
          <a:xfrm>
            <a:off x="9743038" y="4813702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0원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B41DB35-DAA6-D4F2-1AAA-0804501B85B3}"/>
              </a:ext>
            </a:extLst>
          </p:cNvPr>
          <p:cNvSpPr/>
          <p:nvPr/>
        </p:nvSpPr>
        <p:spPr>
          <a:xfrm>
            <a:off x="9053938" y="5146112"/>
            <a:ext cx="521208" cy="34674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BF01BA4-993A-E9C8-15C0-294E7BE20046}"/>
              </a:ext>
            </a:extLst>
          </p:cNvPr>
          <p:cNvCxnSpPr>
            <a:cxnSpLocks/>
          </p:cNvCxnSpPr>
          <p:nvPr/>
        </p:nvCxnSpPr>
        <p:spPr>
          <a:xfrm flipV="1">
            <a:off x="6519793" y="1135551"/>
            <a:ext cx="0" cy="511495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0" name="미청구공사 라벨"/>
          <p:cNvSpPr txBox="1"/>
          <p:nvPr/>
        </p:nvSpPr>
        <p:spPr>
          <a:xfrm>
            <a:off x="6992582" y="1230000"/>
            <a:ext cx="4640617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/>
            <a:r>
              <a:rPr lang="ko-KR" altLang="en-US" sz="1500" b="1">
                <a:solidFill>
                  <a:srgbClr val="213B5D"/>
                </a:solidFill>
                <a:latin typeface="맑은 고딕"/>
                <a:ea typeface="맑은 고딕"/>
              </a:rPr>
              <a:t>미청구공사 잔액이 2년 만에</a:t>
            </a:r>
          </a:p>
        </p:txBody>
      </p:sp>
      <p:sp>
        <p:nvSpPr>
          <p:cNvPr id="511" name="2배 강조"/>
          <p:cNvSpPr txBox="1"/>
          <p:nvPr/>
        </p:nvSpPr>
        <p:spPr>
          <a:xfrm>
            <a:off x="6992582" y="1700000"/>
            <a:ext cx="4640617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6600" b="1">
                <a:solidFill>
                  <a:srgbClr val="D04A02"/>
                </a:solidFill>
                <a:latin typeface="맑은 고딕"/>
                <a:ea typeface="맑은 고딕"/>
              </a:rPr>
              <a:t>2배</a:t>
            </a:r>
          </a:p>
        </p:txBody>
      </p:sp>
      <p:sp>
        <p:nvSpPr>
          <p:cNvPr id="512" name="금액 변화"/>
          <p:cNvSpPr txBox="1"/>
          <p:nvPr/>
        </p:nvSpPr>
        <p:spPr>
          <a:xfrm>
            <a:off x="6992582" y="2980000"/>
            <a:ext cx="4640617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500" b="1">
                <a:solidFill>
                  <a:srgbClr val="223D60"/>
                </a:solidFill>
                <a:latin typeface="맑은 고딕"/>
                <a:ea typeface="맑은 고딕"/>
              </a:rPr>
              <a:t>2조5,243억 원 → 5조5,061억 원</a:t>
            </a:r>
          </a:p>
        </p:txBody>
      </p:sp>
      <p:sp>
        <p:nvSpPr>
          <p:cNvPr id="513" name="메시지 박스"/>
          <p:cNvSpPr/>
          <p:nvPr/>
        </p:nvSpPr>
        <p:spPr>
          <a:xfrm>
            <a:off x="6992582" y="3620000"/>
            <a:ext cx="4640617" cy="93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300">
                <a:solidFill>
                  <a:srgbClr val="223D60"/>
                </a:solidFill>
                <a:latin typeface="맑은 고딕"/>
                <a:ea typeface="맑은 고딕"/>
              </a:rPr>
              <a:t>신규 사업의 원가 추정 불확실성 때문에</a:t>
            </a:r>
          </a:p>
          <a:p>
            <a:pPr algn="ctr">
              <a:lnSpc>
                <a:spcPct val="130000"/>
              </a:lnSpc>
            </a:pPr>
            <a:r>
              <a:rPr lang="ko-KR" altLang="en-US" sz="1300">
                <a:solidFill>
                  <a:srgbClr val="223D60"/>
                </a:solidFill>
                <a:latin typeface="맑은 고딕"/>
                <a:ea typeface="맑은 고딕"/>
              </a:rPr>
              <a:t>실적 왜곡이나 잠재 손실이 숨겨질 위험이 커지고 있다</a:t>
            </a:r>
          </a:p>
        </p:txBody>
      </p:sp>
    </p:spTree>
    <p:extLst>
      <p:ext uri="{BB962C8B-B14F-4D97-AF65-F5344CB8AC3E}">
        <p14:creationId xmlns:p14="http://schemas.microsoft.com/office/powerpoint/2010/main" val="49365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39E6-2F82-20CA-1280-EF11F4B6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EF92D3-C6ED-F336-838A-3C437280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4896B-5EF7-B6F3-D196-CA66CF706E00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  <a:cs typeface="Arial"/>
              </a:rPr>
              <a:t>02</a:t>
            </a:r>
            <a:endParaRPr lang="ko-KR" altLang="en-US" sz="35000">
              <a:solidFill>
                <a:srgbClr val="223D60"/>
              </a:solidFill>
              <a:cs typeface="Arial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A2D4E0E-F952-908F-D75D-9C77BE4BFFCD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7268B-A8EF-0FE4-0D30-226194F4F294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D82B0-018E-F7EA-3711-87CFF8149A2D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Pain Point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73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FB7B-79A1-393A-A19A-FD68E0D5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5BEE9B-6C57-055C-4AE3-DB58CD624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813785-97E8-2CF0-DCCE-DB594C8C4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</a:t>
            </a:r>
            <a:r>
              <a:rPr lang="en-US"/>
              <a:t> </a:t>
            </a:r>
            <a:r>
              <a:rPr lang="ko-KR" altLang="en-US"/>
              <a:t>증빙자료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64ECCCC-60E7-A5E3-634A-4B8A60EB8D8A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B29B5D2-5E3C-90F9-B015-CD0EF543390B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47F312-2D50-8BF9-5EE8-0650D69421E2}"/>
              </a:ext>
            </a:extLst>
          </p:cNvPr>
          <p:cNvSpPr txBox="1"/>
          <p:nvPr/>
        </p:nvSpPr>
        <p:spPr>
          <a:xfrm>
            <a:off x="329164" y="445967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업무 흐름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96EC6A-26DA-7D3B-2F03-575E32D483B9}"/>
              </a:ext>
            </a:extLst>
          </p:cNvPr>
          <p:cNvSpPr/>
          <p:nvPr/>
        </p:nvSpPr>
        <p:spPr>
          <a:xfrm>
            <a:off x="1409171" y="5221239"/>
            <a:ext cx="9373658" cy="773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solidFill>
                  <a:srgbClr val="223D60"/>
                </a:solidFill>
                <a:latin typeface="Malgun Gothic"/>
                <a:cs typeface="Arial"/>
              </a:rPr>
              <a:t>수작업 기반 데이터 취합</a:t>
            </a:r>
            <a:r>
              <a:rPr lang="en-US" altLang="ko-KR" sz="1400" b="1">
                <a:solidFill>
                  <a:srgbClr val="223D60"/>
                </a:solidFill>
                <a:latin typeface="Malgun Gothic"/>
                <a:cs typeface="Arial"/>
              </a:rPr>
              <a:t>·</a:t>
            </a:r>
            <a:r>
              <a:rPr lang="ko-KR" altLang="en-US" sz="1400" b="1">
                <a:solidFill>
                  <a:srgbClr val="223D60"/>
                </a:solidFill>
                <a:latin typeface="Malgun Gothic"/>
                <a:cs typeface="Arial"/>
              </a:rPr>
              <a:t>검증으로 인해 업무 지연과 오류 리스크 발생</a:t>
            </a:r>
            <a:endParaRPr lang="en-US" altLang="ko-KR" sz="1400" b="1">
              <a:solidFill>
                <a:srgbClr val="223D60"/>
              </a:solidFill>
              <a:latin typeface="Malgun Gothic"/>
              <a:cs typeface="Arial"/>
            </a:endParaRPr>
          </a:p>
        </p:txBody>
      </p:sp>
      <p:sp>
        <p:nvSpPr>
          <p:cNvPr id="514" name="단계 1"/>
          <p:cNvSpPr/>
          <p:nvPr/>
        </p:nvSpPr>
        <p:spPr>
          <a:xfrm>
            <a:off x="36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EEF3F9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37629B"/>
                </a:solidFill>
                <a:latin typeface="맑은 고딕"/>
                <a:ea typeface="맑은 고딕"/>
              </a:rPr>
              <a:t>01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월 마감</a:t>
            </a:r>
          </a:p>
        </p:txBody>
      </p:sp>
      <p:sp>
        <p:nvSpPr>
          <p:cNvPr id="515" name="단계 2"/>
          <p:cNvSpPr/>
          <p:nvPr/>
        </p:nvSpPr>
        <p:spPr>
          <a:xfrm>
            <a:off x="227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D9E4F2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37629B"/>
                </a:solidFill>
                <a:latin typeface="맑은 고딕"/>
                <a:ea typeface="맑은 고딕"/>
              </a:rPr>
              <a:t>02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실적 집계</a:t>
            </a:r>
          </a:p>
        </p:txBody>
      </p:sp>
      <p:sp>
        <p:nvSpPr>
          <p:cNvPr id="516" name="단계 3"/>
          <p:cNvSpPr/>
          <p:nvPr/>
        </p:nvSpPr>
        <p:spPr>
          <a:xfrm>
            <a:off x="418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B9CDE6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37629B"/>
                </a:solidFill>
                <a:latin typeface="맑은 고딕"/>
                <a:ea typeface="맑은 고딕"/>
              </a:rPr>
              <a:t>03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실적 분석</a:t>
            </a:r>
          </a:p>
        </p:txBody>
      </p:sp>
      <p:sp>
        <p:nvSpPr>
          <p:cNvPr id="517" name="단계 4"/>
          <p:cNvSpPr/>
          <p:nvPr/>
        </p:nvSpPr>
        <p:spPr>
          <a:xfrm>
            <a:off x="609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7198CD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EAF0F8"/>
                </a:solidFill>
                <a:latin typeface="맑은 고딕"/>
                <a:ea typeface="맑은 고딕"/>
              </a:rPr>
              <a:t>04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변경 사유 확인</a:t>
            </a:r>
          </a:p>
        </p:txBody>
      </p:sp>
      <p:sp>
        <p:nvSpPr>
          <p:cNvPr id="518" name="단계 5"/>
          <p:cNvSpPr/>
          <p:nvPr/>
        </p:nvSpPr>
        <p:spPr>
          <a:xfrm>
            <a:off x="800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37629B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EAF0F8"/>
                </a:solidFill>
                <a:latin typeface="맑은 고딕"/>
                <a:ea typeface="맑은 고딕"/>
              </a:rPr>
              <a:t>05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보고 자료 작성</a:t>
            </a:r>
          </a:p>
        </p:txBody>
      </p:sp>
      <p:sp>
        <p:nvSpPr>
          <p:cNvPr id="519" name="단계 6"/>
          <p:cNvSpPr/>
          <p:nvPr/>
        </p:nvSpPr>
        <p:spPr>
          <a:xfrm>
            <a:off x="9915717" y="2150000"/>
            <a:ext cx="1850000" cy="1900000"/>
          </a:xfrm>
          <a:prstGeom prst="homePlate">
            <a:avLst>
              <a:gd name="adj" fmla="val 25000"/>
            </a:avLst>
          </a:prstGeom>
          <a:solidFill>
            <a:srgbClr val="213B5D"/>
          </a:solidFill>
          <a:ln>
            <a:noFill/>
          </a:ln>
        </p:spPr>
        <p:txBody>
          <a:bodyPr wrap="square" lIns="120000" tIns="45720" rIns="260000" bIns="45720" rtlCol="0" anchor="ctr"/>
          <a:lstStyle/>
          <a:p>
            <a:pPr algn="ctr"/>
            <a:r>
              <a:rPr lang="ko-KR" altLang="en-US" sz="1800" b="1">
                <a:solidFill>
                  <a:srgbClr val="EAF0F8"/>
                </a:solidFill>
                <a:latin typeface="맑은 고딕"/>
                <a:ea typeface="맑은 고딕"/>
              </a:rPr>
              <a:t>06</a:t>
            </a:r>
          </a:p>
          <a:p>
            <a:pPr algn="ctr">
              <a:spcBef>
                <a:spcPts val="400"/>
              </a:spcBef>
            </a:pPr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다음 달 계획 점검</a:t>
            </a:r>
          </a:p>
        </p:txBody>
      </p:sp>
    </p:spTree>
    <p:extLst>
      <p:ext uri="{BB962C8B-B14F-4D97-AF65-F5344CB8AC3E}">
        <p14:creationId xmlns:p14="http://schemas.microsoft.com/office/powerpoint/2010/main" val="186424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0FEA-7B22-5850-0365-091D1BD8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DB70B-9311-461F-F665-7A9412F40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9C0C4-B299-1DE9-9E35-F4BC7E6CD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 증빙자료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77ED9A8-C870-7746-B36E-E451EB80FE5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6748E98-537D-ED76-68A5-7BFF97B6ED0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17D34B-8AEA-E558-E3C3-7BD1D6023E56}"/>
              </a:ext>
            </a:extLst>
          </p:cNvPr>
          <p:cNvSpPr txBox="1"/>
          <p:nvPr/>
        </p:nvSpPr>
        <p:spPr>
          <a:xfrm>
            <a:off x="329164" y="445967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000" b="1">
                <a:latin typeface="+mj-lt"/>
              </a:rPr>
              <a:t>Pain Points</a:t>
            </a:r>
            <a:endParaRPr lang="ko-KR" altLang="en-US" sz="3000" b="1">
              <a:latin typeface="+mj-lt"/>
            </a:endParaRPr>
          </a:p>
        </p:txBody>
      </p:sp>
      <p:sp>
        <p:nvSpPr>
          <p:cNvPr id="520" name="리드 메시지"/>
          <p:cNvSpPr txBox="1"/>
          <p:nvPr/>
        </p:nvSpPr>
        <p:spPr>
          <a:xfrm>
            <a:off x="210622" y="1120000"/>
            <a:ext cx="1171019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800" b="1">
                <a:solidFill>
                  <a:srgbClr val="213B5D"/>
                </a:solidFill>
                <a:latin typeface="맑은 고딕"/>
                <a:ea typeface="맑은 고딕"/>
              </a:rPr>
              <a:t>EAC 갱신 프로세스의 수작업 검증 병목</a:t>
            </a:r>
          </a:p>
        </p:txBody>
      </p:sp>
      <p:sp>
        <p:nvSpPr>
          <p:cNvPr id="521" name="프로세스 1"/>
          <p:cNvSpPr/>
          <p:nvPr/>
        </p:nvSpPr>
        <p:spPr>
          <a:xfrm>
            <a:off x="420717" y="1780000"/>
            <a:ext cx="2650000" cy="760000"/>
          </a:xfrm>
          <a:prstGeom prst="rect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250" b="1">
                <a:solidFill>
                  <a:srgbClr val="213B5D"/>
                </a:solidFill>
                <a:latin typeface="맑은 고딕"/>
                <a:ea typeface="맑은 고딕"/>
              </a:rPr>
              <a:t>현장 변화 발생</a:t>
            </a:r>
          </a:p>
          <a:p>
            <a:pPr algn="ctr">
              <a:spcBef>
                <a:spcPts val="200"/>
              </a:spcBef>
            </a:pPr>
            <a:r>
              <a:rPr lang="ko-KR" altLang="en-US" sz="1000">
                <a:solidFill>
                  <a:srgbClr val="223D60"/>
                </a:solidFill>
                <a:latin typeface="맑은 고딕"/>
                <a:ea typeface="맑은 고딕"/>
              </a:rPr>
              <a:t>설계변경·원자재가·공정지연</a:t>
            </a:r>
          </a:p>
        </p:txBody>
      </p:sp>
      <p:cxnSp>
        <p:nvCxnSpPr>
          <p:cNvPr id="522" name="커넥터"/>
          <p:cNvCxnSpPr/>
          <p:nvPr/>
        </p:nvCxnSpPr>
        <p:spPr>
          <a:xfrm>
            <a:off x="3070717" y="2160000"/>
            <a:ext cx="23000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</p:spPr>
      </p:cxnSp>
      <p:sp>
        <p:nvSpPr>
          <p:cNvPr id="523" name="프로세스 2"/>
          <p:cNvSpPr/>
          <p:nvPr/>
        </p:nvSpPr>
        <p:spPr>
          <a:xfrm>
            <a:off x="3300717" y="1780000"/>
            <a:ext cx="2650000" cy="760000"/>
          </a:xfrm>
          <a:prstGeom prst="rect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250" b="1">
                <a:solidFill>
                  <a:srgbClr val="213B5D"/>
                </a:solidFill>
                <a:latin typeface="맑은 고딕"/>
                <a:ea typeface="맑은 고딕"/>
              </a:rPr>
              <a:t>부서별 데이터 생성</a:t>
            </a:r>
          </a:p>
          <a:p>
            <a:pPr algn="ctr">
              <a:spcBef>
                <a:spcPts val="200"/>
              </a:spcBef>
            </a:pPr>
            <a:r>
              <a:rPr lang="ko-KR" altLang="en-US" sz="1000">
                <a:solidFill>
                  <a:srgbClr val="223D60"/>
                </a:solidFill>
                <a:latin typeface="맑은 고딕"/>
                <a:ea typeface="맑은 고딕"/>
              </a:rPr>
              <a:t>설계·구매·생산·재무</a:t>
            </a:r>
          </a:p>
        </p:txBody>
      </p:sp>
      <p:cxnSp>
        <p:nvCxnSpPr>
          <p:cNvPr id="524" name="커넥터"/>
          <p:cNvCxnSpPr/>
          <p:nvPr/>
        </p:nvCxnSpPr>
        <p:spPr>
          <a:xfrm>
            <a:off x="5950717" y="2160000"/>
            <a:ext cx="23000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</p:spPr>
      </p:cxnSp>
      <p:sp>
        <p:nvSpPr>
          <p:cNvPr id="525" name="프로세스 3"/>
          <p:cNvSpPr/>
          <p:nvPr/>
        </p:nvSpPr>
        <p:spPr>
          <a:xfrm>
            <a:off x="6180717" y="1780000"/>
            <a:ext cx="2650000" cy="760000"/>
          </a:xfrm>
          <a:prstGeom prst="rect">
            <a:avLst/>
          </a:prstGeom>
          <a:solidFill>
            <a:srgbClr val="213B5D"/>
          </a:solidFill>
          <a:ln w="19050">
            <a:solidFill>
              <a:srgbClr val="213B5D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250" b="1">
                <a:solidFill>
                  <a:srgbClr val="FFFFFF"/>
                </a:solidFill>
                <a:latin typeface="맑은 고딕"/>
                <a:ea typeface="맑은 고딕"/>
              </a:rPr>
              <a:t>엑셀 취합/대조</a:t>
            </a:r>
          </a:p>
          <a:p>
            <a:pPr algn="ctr">
              <a:spcBef>
                <a:spcPts val="200"/>
              </a:spcBef>
            </a:pPr>
            <a:r>
              <a:rPr lang="ko-KR" altLang="en-US" sz="1000">
                <a:solidFill>
                  <a:srgbClr val="EAF0F8"/>
                </a:solidFill>
                <a:latin typeface="맑은 고딕"/>
                <a:ea typeface="맑은 고딕"/>
              </a:rPr>
              <a:t>수동 비교·정합성 검증</a:t>
            </a:r>
          </a:p>
        </p:txBody>
      </p:sp>
      <p:cxnSp>
        <p:nvCxnSpPr>
          <p:cNvPr id="526" name="커넥터"/>
          <p:cNvCxnSpPr/>
          <p:nvPr/>
        </p:nvCxnSpPr>
        <p:spPr>
          <a:xfrm>
            <a:off x="8830717" y="2160000"/>
            <a:ext cx="23000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</p:spPr>
      </p:cxnSp>
      <p:sp>
        <p:nvSpPr>
          <p:cNvPr id="527" name="프로세스 4"/>
          <p:cNvSpPr/>
          <p:nvPr/>
        </p:nvSpPr>
        <p:spPr>
          <a:xfrm>
            <a:off x="9060717" y="1780000"/>
            <a:ext cx="2650000" cy="760000"/>
          </a:xfrm>
          <a:prstGeom prst="rect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250" b="1">
                <a:solidFill>
                  <a:srgbClr val="213B5D"/>
                </a:solidFill>
                <a:latin typeface="맑은 고딕"/>
                <a:ea typeface="맑은 고딕"/>
              </a:rPr>
              <a:t>EAC/회계 반영</a:t>
            </a:r>
          </a:p>
          <a:p>
            <a:pPr algn="ctr">
              <a:spcBef>
                <a:spcPts val="200"/>
              </a:spcBef>
            </a:pPr>
            <a:r>
              <a:rPr lang="ko-KR" altLang="en-US" sz="1000">
                <a:solidFill>
                  <a:srgbClr val="223D60"/>
                </a:solidFill>
                <a:latin typeface="맑은 고딕"/>
                <a:ea typeface="맑은 고딕"/>
              </a:rPr>
              <a:t>월결산 시점 재산정</a:t>
            </a:r>
          </a:p>
        </p:txBody>
      </p:sp>
      <p:sp>
        <p:nvSpPr>
          <p:cNvPr id="528" name="번호 01"/>
          <p:cNvSpPr/>
          <p:nvPr/>
        </p:nvSpPr>
        <p:spPr>
          <a:xfrm>
            <a:off x="210622" y="2900000"/>
            <a:ext cx="660000" cy="660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29" name="페인 1"/>
          <p:cNvSpPr txBox="1"/>
          <p:nvPr/>
        </p:nvSpPr>
        <p:spPr>
          <a:xfrm>
            <a:off x="1080622" y="2900000"/>
            <a:ext cx="575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500" b="1">
                <a:solidFill>
                  <a:srgbClr val="213B5D"/>
                </a:solidFill>
                <a:latin typeface="맑은 고딕"/>
                <a:ea typeface="맑은 고딕"/>
              </a:rPr>
              <a:t>현장 변화 반영 지연</a:t>
            </a:r>
          </a:p>
        </p:txBody>
      </p:sp>
      <p:sp>
        <p:nvSpPr>
          <p:cNvPr id="530" name="번호 02"/>
          <p:cNvSpPr/>
          <p:nvPr/>
        </p:nvSpPr>
        <p:spPr>
          <a:xfrm>
            <a:off x="210622" y="3720000"/>
            <a:ext cx="660000" cy="660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31" name="페인 2"/>
          <p:cNvSpPr txBox="1"/>
          <p:nvPr/>
        </p:nvSpPr>
        <p:spPr>
          <a:xfrm>
            <a:off x="1080622" y="3720000"/>
            <a:ext cx="575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500" b="1">
                <a:solidFill>
                  <a:srgbClr val="213B5D"/>
                </a:solidFill>
                <a:latin typeface="맑은 고딕"/>
                <a:ea typeface="맑은 고딕"/>
              </a:rPr>
              <a:t>부서별 데이터 수동 비교</a:t>
            </a:r>
          </a:p>
        </p:txBody>
      </p:sp>
      <p:sp>
        <p:nvSpPr>
          <p:cNvPr id="532" name="번호 03"/>
          <p:cNvSpPr/>
          <p:nvPr/>
        </p:nvSpPr>
        <p:spPr>
          <a:xfrm>
            <a:off x="210622" y="4540000"/>
            <a:ext cx="660000" cy="660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33" name="페인 3"/>
          <p:cNvSpPr txBox="1"/>
          <p:nvPr/>
        </p:nvSpPr>
        <p:spPr>
          <a:xfrm>
            <a:off x="1080622" y="4540000"/>
            <a:ext cx="575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500" b="1">
                <a:solidFill>
                  <a:srgbClr val="213B5D"/>
                </a:solidFill>
                <a:latin typeface="맑은 고딕"/>
                <a:ea typeface="맑은 고딕"/>
              </a:rPr>
              <a:t>변경 사유 검증 시간 과다</a:t>
            </a:r>
          </a:p>
        </p:txBody>
      </p:sp>
      <p:sp>
        <p:nvSpPr>
          <p:cNvPr id="534" name="스탯 40"/>
          <p:cNvSpPr txBox="1"/>
          <p:nvPr/>
        </p:nvSpPr>
        <p:spPr>
          <a:xfrm>
            <a:off x="7500000" y="2820000"/>
            <a:ext cx="4420812" cy="1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200">
                <a:solidFill>
                  <a:srgbClr val="223D60"/>
                </a:solidFill>
                <a:latin typeface="맑은 고딕"/>
                <a:ea typeface="맑은 고딕"/>
              </a:rPr>
              <a:t>인당 최대</a:t>
            </a:r>
          </a:p>
          <a:p>
            <a:pPr>
              <a:spcBef>
                <a:spcPts val="200"/>
              </a:spcBef>
            </a:pPr>
            <a:r>
              <a:rPr lang="ko-KR" altLang="en-US" sz="4400" b="1">
                <a:solidFill>
                  <a:srgbClr val="D04A02"/>
                </a:solidFill>
                <a:latin typeface="맑은 고딕"/>
                <a:ea typeface="맑은 고딕"/>
              </a:rPr>
              <a:t>40개 호선</a:t>
            </a:r>
          </a:p>
          <a:p>
            <a:pPr>
              <a:spcBef>
                <a:spcPts val="200"/>
              </a:spcBef>
            </a:pPr>
            <a:r>
              <a:rPr lang="ko-KR" altLang="en-US" sz="1200">
                <a:solidFill>
                  <a:srgbClr val="223D60"/>
                </a:solidFill>
                <a:latin typeface="맑은 고딕"/>
                <a:ea typeface="맑은 고딕"/>
              </a:rPr>
              <a:t>동시 관리</a:t>
            </a:r>
          </a:p>
        </p:txBody>
      </p:sp>
      <p:sp>
        <p:nvSpPr>
          <p:cNvPr id="535" name="스탯 3일"/>
          <p:cNvSpPr txBox="1"/>
          <p:nvPr/>
        </p:nvSpPr>
        <p:spPr>
          <a:xfrm>
            <a:off x="7500000" y="4140000"/>
            <a:ext cx="4420812" cy="1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/>
            <a:r>
              <a:rPr lang="ko-KR" altLang="en-US" sz="1200">
                <a:solidFill>
                  <a:srgbClr val="223D60"/>
                </a:solidFill>
                <a:latin typeface="맑은 고딕"/>
                <a:ea typeface="맑은 고딕"/>
              </a:rPr>
              <a:t>자재비 변경 반영에</a:t>
            </a:r>
          </a:p>
          <a:p>
            <a:pPr>
              <a:spcBef>
                <a:spcPts val="200"/>
              </a:spcBef>
            </a:pPr>
            <a:r>
              <a:rPr lang="ko-KR" altLang="en-US" sz="4400" b="1">
                <a:solidFill>
                  <a:srgbClr val="D04A02"/>
                </a:solidFill>
                <a:latin typeface="맑은 고딕"/>
                <a:ea typeface="맑은 고딕"/>
              </a:rPr>
              <a:t>3일</a:t>
            </a:r>
          </a:p>
        </p:txBody>
      </p:sp>
      <p:sp>
        <p:nvSpPr>
          <p:cNvPr id="536" name="인터뷰 근거"/>
          <p:cNvSpPr/>
          <p:nvPr/>
        </p:nvSpPr>
        <p:spPr>
          <a:xfrm>
            <a:off x="210622" y="5590000"/>
            <a:ext cx="11710190" cy="56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100" b="1">
                <a:solidFill>
                  <a:srgbClr val="213B5D"/>
                </a:solidFill>
                <a:latin typeface="맑은 고딕"/>
                <a:ea typeface="맑은 고딕"/>
              </a:rPr>
              <a:t>Interview 근거  |</a:t>
            </a:r>
            <a:r>
              <a:rPr lang="ko-KR" altLang="en-US" sz="1100">
                <a:solidFill>
                  <a:srgbClr val="223D60"/>
                </a:solidFill>
                <a:latin typeface="맑은 고딕"/>
                <a:ea typeface="맑은 고딕"/>
              </a:rPr>
              <a:t>  “가장 많은 시간을 쓰는 업무는 데이터를 취합하고 검증하는 일”  ·  “여러 부서의 데이터를 일치시키고 변경 사유를 확인하는 과정이 가장 오래 걸림”  ·  한화오션 현직 확인: 변경 자동 감지 없음</a:t>
            </a:r>
          </a:p>
        </p:txBody>
      </p:sp>
    </p:spTree>
    <p:extLst>
      <p:ext uri="{BB962C8B-B14F-4D97-AF65-F5344CB8AC3E}">
        <p14:creationId xmlns:p14="http://schemas.microsoft.com/office/powerpoint/2010/main" val="390956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7BEC-5104-9C09-79BA-24824706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F2B78C-C402-47D2-2205-A184EDEAF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A1183-AD30-058B-3DC2-B0C429635C42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03</a:t>
            </a:r>
            <a:endParaRPr lang="ko-KR" altLang="en-US" sz="35000" err="1">
              <a:solidFill>
                <a:srgbClr val="223D6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FCD1DEA-ECE4-2D94-C016-EB2A06B3499C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F10EAF9-EFE6-6D56-B985-17D4918D0EB6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0FC975-49FF-8793-F4AC-49C3A0193909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Proposed Solution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12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F4E9-8466-18FB-85E6-07E30387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97179F-D7CC-3C7F-2B5B-A3FEF24AE05C}"/>
              </a:ext>
            </a:extLst>
          </p:cNvPr>
          <p:cNvSpPr/>
          <p:nvPr/>
        </p:nvSpPr>
        <p:spPr>
          <a:xfrm>
            <a:off x="246889" y="2125196"/>
            <a:ext cx="2098238" cy="28819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21285D-EB42-0E55-4FFB-41B4EF057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dirty="0" smtClean="0">
                <a:cs typeface="Arial"/>
              </a:rPr>
              <a:pPr/>
              <a:t>10</a:t>
            </a:fld>
            <a:endParaRPr lang="en-US">
              <a:cs typeface="Arial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143898-F4B6-27DB-4F8A-B36E06E74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실무자 인터뷰 증빙자료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9CB2B44-C290-8F72-37CC-38757701475F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80409B-7AEE-4B1B-DE85-FAE19B6C815C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8B5F79-3566-1B8D-C63D-327C94C36C96}"/>
              </a:ext>
            </a:extLst>
          </p:cNvPr>
          <p:cNvSpPr txBox="1"/>
          <p:nvPr/>
        </p:nvSpPr>
        <p:spPr>
          <a:xfrm>
            <a:off x="365778" y="461366"/>
            <a:ext cx="1097955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3000" b="1">
                <a:latin typeface="+mj-lt"/>
              </a:rPr>
              <a:t>AI Agent</a:t>
            </a:r>
            <a:r>
              <a:rPr lang="ko-KR" altLang="en-US" sz="3000" b="1">
                <a:latin typeface="+mj-lt"/>
              </a:rPr>
              <a:t>를 통한 총예정원가 갱신의 상시화</a:t>
            </a:r>
            <a:r>
              <a:rPr lang="en-US" altLang="ko-KR" sz="3000" b="1">
                <a:latin typeface="+mj-lt"/>
              </a:rPr>
              <a:t>: </a:t>
            </a:r>
            <a:r>
              <a:rPr lang="ko-KR" altLang="en-US" sz="3000" b="1">
                <a:latin typeface="+mj-lt"/>
              </a:rPr>
              <a:t>감지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대조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경보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55051CD1-2549-05D4-4E4E-E605E6104731}"/>
              </a:ext>
            </a:extLst>
          </p:cNvPr>
          <p:cNvSpPr/>
          <p:nvPr/>
        </p:nvSpPr>
        <p:spPr>
          <a:xfrm>
            <a:off x="457200" y="245973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계약 변경</a:t>
            </a:r>
          </a:p>
        </p:txBody>
      </p:sp>
      <p:cxnSp>
        <p:nvCxnSpPr>
          <p:cNvPr id="66" name="Connector 6">
            <a:extLst>
              <a:ext uri="{FF2B5EF4-FFF2-40B4-BE49-F238E27FC236}">
                <a16:creationId xmlns:a16="http://schemas.microsoft.com/office/drawing/2014/main" id="{0C41C4D5-B804-CB47-50BE-8B7C01703DA4}"/>
              </a:ext>
            </a:extLst>
          </p:cNvPr>
          <p:cNvCxnSpPr/>
          <p:nvPr/>
        </p:nvCxnSpPr>
        <p:spPr>
          <a:xfrm>
            <a:off x="2103120" y="274320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C9E42B86-2BBC-699D-1F20-BEC24F609840}"/>
              </a:ext>
            </a:extLst>
          </p:cNvPr>
          <p:cNvSpPr/>
          <p:nvPr/>
        </p:nvSpPr>
        <p:spPr>
          <a:xfrm>
            <a:off x="457200" y="328269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설계 변경</a:t>
            </a:r>
          </a:p>
        </p:txBody>
      </p:sp>
      <p:cxnSp>
        <p:nvCxnSpPr>
          <p:cNvPr id="68" name="Connector 8">
            <a:extLst>
              <a:ext uri="{FF2B5EF4-FFF2-40B4-BE49-F238E27FC236}">
                <a16:creationId xmlns:a16="http://schemas.microsoft.com/office/drawing/2014/main" id="{D3D09E22-0189-21FC-F709-81D576A86ABA}"/>
              </a:ext>
            </a:extLst>
          </p:cNvPr>
          <p:cNvCxnSpPr/>
          <p:nvPr/>
        </p:nvCxnSpPr>
        <p:spPr>
          <a:xfrm>
            <a:off x="2103120" y="356616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9">
            <a:extLst>
              <a:ext uri="{FF2B5EF4-FFF2-40B4-BE49-F238E27FC236}">
                <a16:creationId xmlns:a16="http://schemas.microsoft.com/office/drawing/2014/main" id="{AB38ECDF-ED48-4AB1-42BA-CEA9FC66F405}"/>
              </a:ext>
            </a:extLst>
          </p:cNvPr>
          <p:cNvSpPr/>
          <p:nvPr/>
        </p:nvSpPr>
        <p:spPr>
          <a:xfrm>
            <a:off x="457200" y="410565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발주 원가 변경</a:t>
            </a:r>
          </a:p>
        </p:txBody>
      </p:sp>
      <p:cxnSp>
        <p:nvCxnSpPr>
          <p:cNvPr id="70" name="Connector 10">
            <a:extLst>
              <a:ext uri="{FF2B5EF4-FFF2-40B4-BE49-F238E27FC236}">
                <a16:creationId xmlns:a16="http://schemas.microsoft.com/office/drawing/2014/main" id="{23D55616-818B-316E-72C7-D9B5F800F300}"/>
              </a:ext>
            </a:extLst>
          </p:cNvPr>
          <p:cNvCxnSpPr/>
          <p:nvPr/>
        </p:nvCxnSpPr>
        <p:spPr>
          <a:xfrm>
            <a:off x="2103120" y="438912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1">
            <a:extLst>
              <a:ext uri="{FF2B5EF4-FFF2-40B4-BE49-F238E27FC236}">
                <a16:creationId xmlns:a16="http://schemas.microsoft.com/office/drawing/2014/main" id="{2B18EECF-8FCE-05AA-BFC9-2FBE0AA752BF}"/>
              </a:ext>
            </a:extLst>
          </p:cNvPr>
          <p:cNvSpPr/>
          <p:nvPr/>
        </p:nvSpPr>
        <p:spPr>
          <a:xfrm>
            <a:off x="3063240" y="2514600"/>
            <a:ext cx="1691640" cy="2103120"/>
          </a:xfrm>
          <a:prstGeom prst="rect">
            <a:avLst/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AI Age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</a:rPr>
              <a:t>nt</a:t>
            </a:r>
          </a:p>
        </p:txBody>
      </p:sp>
      <p:sp>
        <p:nvSpPr>
          <p:cNvPr id="72" name="Can 12">
            <a:extLst>
              <a:ext uri="{FF2B5EF4-FFF2-40B4-BE49-F238E27FC236}">
                <a16:creationId xmlns:a16="http://schemas.microsoft.com/office/drawing/2014/main" id="{89655AFB-C335-C348-998A-48DDFBD8C596}"/>
              </a:ext>
            </a:extLst>
          </p:cNvPr>
          <p:cNvSpPr/>
          <p:nvPr/>
        </p:nvSpPr>
        <p:spPr>
          <a:xfrm>
            <a:off x="3108960" y="1143000"/>
            <a:ext cx="1600200" cy="86868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문서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223D60"/>
                </a:solidFill>
                <a:latin typeface="맑은 고딕"/>
                <a:ea typeface="맑은 고딕"/>
              </a:rPr>
              <a:t>계약서 · 회의록 · 변경통지 메일</a:t>
            </a:r>
          </a:p>
        </p:txBody>
      </p:sp>
      <p:cxnSp>
        <p:nvCxnSpPr>
          <p:cNvPr id="73" name="Connector 13">
            <a:extLst>
              <a:ext uri="{FF2B5EF4-FFF2-40B4-BE49-F238E27FC236}">
                <a16:creationId xmlns:a16="http://schemas.microsoft.com/office/drawing/2014/main" id="{99E3DECF-0763-1A96-9FD7-3A42080FEB56}"/>
              </a:ext>
            </a:extLst>
          </p:cNvPr>
          <p:cNvCxnSpPr/>
          <p:nvPr/>
        </p:nvCxnSpPr>
        <p:spPr>
          <a:xfrm flipV="1">
            <a:off x="3909060" y="2011680"/>
            <a:ext cx="0" cy="50292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n 14">
            <a:extLst>
              <a:ext uri="{FF2B5EF4-FFF2-40B4-BE49-F238E27FC236}">
                <a16:creationId xmlns:a16="http://schemas.microsoft.com/office/drawing/2014/main" id="{65159CD3-915C-7483-259D-F6C3904A2BBA}"/>
              </a:ext>
            </a:extLst>
          </p:cNvPr>
          <p:cNvSpPr/>
          <p:nvPr/>
        </p:nvSpPr>
        <p:spPr>
          <a:xfrm>
            <a:off x="3108960" y="5029200"/>
            <a:ext cx="1600200" cy="100584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현재 추정치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223D60"/>
                </a:solidFill>
                <a:latin typeface="맑은 고딕"/>
                <a:ea typeface="맑은 고딕"/>
              </a:rPr>
              <a:t>ERP · 실행예산 · 총예정원가</a:t>
            </a:r>
          </a:p>
        </p:txBody>
      </p:sp>
      <p:cxnSp>
        <p:nvCxnSpPr>
          <p:cNvPr id="75" name="Connector 15">
            <a:extLst>
              <a:ext uri="{FF2B5EF4-FFF2-40B4-BE49-F238E27FC236}">
                <a16:creationId xmlns:a16="http://schemas.microsoft.com/office/drawing/2014/main" id="{7174DBFA-BB66-A4EB-9C90-E7A9B0F61099}"/>
              </a:ext>
            </a:extLst>
          </p:cNvPr>
          <p:cNvCxnSpPr/>
          <p:nvPr/>
        </p:nvCxnSpPr>
        <p:spPr>
          <a:xfrm>
            <a:off x="3909060" y="4617720"/>
            <a:ext cx="0" cy="41148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16">
            <a:extLst>
              <a:ext uri="{FF2B5EF4-FFF2-40B4-BE49-F238E27FC236}">
                <a16:creationId xmlns:a16="http://schemas.microsoft.com/office/drawing/2014/main" id="{96A07511-6E59-09BD-8CD5-FED967DEA958}"/>
              </a:ext>
            </a:extLst>
          </p:cNvPr>
          <p:cNvCxnSpPr/>
          <p:nvPr/>
        </p:nvCxnSpPr>
        <p:spPr>
          <a:xfrm>
            <a:off x="4754880" y="3566160"/>
            <a:ext cx="384048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Diamond 17">
            <a:extLst>
              <a:ext uri="{FF2B5EF4-FFF2-40B4-BE49-F238E27FC236}">
                <a16:creationId xmlns:a16="http://schemas.microsoft.com/office/drawing/2014/main" id="{8773EBB8-3B16-5135-7E98-A8104212D27F}"/>
              </a:ext>
            </a:extLst>
          </p:cNvPr>
          <p:cNvSpPr/>
          <p:nvPr/>
        </p:nvSpPr>
        <p:spPr>
          <a:xfrm>
            <a:off x="5138928" y="2971800"/>
            <a:ext cx="1325880" cy="118872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13B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큰 변동</a:t>
            </a:r>
          </a:p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발생?</a:t>
            </a:r>
          </a:p>
        </p:txBody>
      </p:sp>
      <p:cxnSp>
        <p:nvCxnSpPr>
          <p:cNvPr id="78" name="Connector 18">
            <a:extLst>
              <a:ext uri="{FF2B5EF4-FFF2-40B4-BE49-F238E27FC236}">
                <a16:creationId xmlns:a16="http://schemas.microsoft.com/office/drawing/2014/main" id="{4E88BE01-8657-432E-23B6-9418B0BCFF73}"/>
              </a:ext>
            </a:extLst>
          </p:cNvPr>
          <p:cNvCxnSpPr/>
          <p:nvPr/>
        </p:nvCxnSpPr>
        <p:spPr>
          <a:xfrm flipV="1">
            <a:off x="5801868" y="2194560"/>
            <a:ext cx="0" cy="7772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19">
            <a:extLst>
              <a:ext uri="{FF2B5EF4-FFF2-40B4-BE49-F238E27FC236}">
                <a16:creationId xmlns:a16="http://schemas.microsoft.com/office/drawing/2014/main" id="{5FE10AB4-10FF-C537-D9BD-1874E2B224CA}"/>
              </a:ext>
            </a:extLst>
          </p:cNvPr>
          <p:cNvCxnSpPr/>
          <p:nvPr/>
        </p:nvCxnSpPr>
        <p:spPr>
          <a:xfrm>
            <a:off x="5801868" y="2194560"/>
            <a:ext cx="1010412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B5588C6-BD4F-D0D7-5ABB-F60417DBD81F}"/>
              </a:ext>
            </a:extLst>
          </p:cNvPr>
          <p:cNvSpPr txBox="1"/>
          <p:nvPr/>
        </p:nvSpPr>
        <p:spPr>
          <a:xfrm>
            <a:off x="5897880" y="2395728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0">
                <a:solidFill>
                  <a:srgbClr val="223D60"/>
                </a:solidFill>
                <a:latin typeface="맑은 고딕"/>
                <a:ea typeface="맑은 고딕"/>
              </a:rPr>
              <a:t>아니요</a:t>
            </a:r>
          </a:p>
        </p:txBody>
      </p:sp>
      <p:cxnSp>
        <p:nvCxnSpPr>
          <p:cNvPr id="81" name="Connector 21">
            <a:extLst>
              <a:ext uri="{FF2B5EF4-FFF2-40B4-BE49-F238E27FC236}">
                <a16:creationId xmlns:a16="http://schemas.microsoft.com/office/drawing/2014/main" id="{5BF33A75-C096-10B3-BD87-9F7CF3CB66F4}"/>
              </a:ext>
            </a:extLst>
          </p:cNvPr>
          <p:cNvCxnSpPr/>
          <p:nvPr/>
        </p:nvCxnSpPr>
        <p:spPr>
          <a:xfrm>
            <a:off x="5801868" y="4160520"/>
            <a:ext cx="0" cy="7772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22">
            <a:extLst>
              <a:ext uri="{FF2B5EF4-FFF2-40B4-BE49-F238E27FC236}">
                <a16:creationId xmlns:a16="http://schemas.microsoft.com/office/drawing/2014/main" id="{A19169FA-B575-7264-B338-63A3F71B70E2}"/>
              </a:ext>
            </a:extLst>
          </p:cNvPr>
          <p:cNvCxnSpPr/>
          <p:nvPr/>
        </p:nvCxnSpPr>
        <p:spPr>
          <a:xfrm>
            <a:off x="5801868" y="4937760"/>
            <a:ext cx="1010412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7E7205-245B-C284-7122-D12FD3E54DD7}"/>
              </a:ext>
            </a:extLst>
          </p:cNvPr>
          <p:cNvSpPr txBox="1"/>
          <p:nvPr/>
        </p:nvSpPr>
        <p:spPr>
          <a:xfrm>
            <a:off x="5897880" y="4224528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1">
                <a:solidFill>
                  <a:srgbClr val="B03A3A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84" name="Rounded Rectangle 24">
            <a:extLst>
              <a:ext uri="{FF2B5EF4-FFF2-40B4-BE49-F238E27FC236}">
                <a16:creationId xmlns:a16="http://schemas.microsoft.com/office/drawing/2014/main" id="{F67C0C83-BC07-FEFF-E5A7-A8169F2496CC}"/>
              </a:ext>
            </a:extLst>
          </p:cNvPr>
          <p:cNvSpPr/>
          <p:nvPr/>
        </p:nvSpPr>
        <p:spPr>
          <a:xfrm>
            <a:off x="6812280" y="17099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총예정원가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갱신안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33BB906B-5E77-1C5B-BF7E-EBEB6D2E2E7E}"/>
              </a:ext>
            </a:extLst>
          </p:cNvPr>
          <p:cNvSpPr/>
          <p:nvPr/>
        </p:nvSpPr>
        <p:spPr>
          <a:xfrm>
            <a:off x="6812280" y="44531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변동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요인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분석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리포트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cxnSp>
        <p:nvCxnSpPr>
          <p:cNvPr id="86" name="Connector 26">
            <a:extLst>
              <a:ext uri="{FF2B5EF4-FFF2-40B4-BE49-F238E27FC236}">
                <a16:creationId xmlns:a16="http://schemas.microsoft.com/office/drawing/2014/main" id="{B87F533F-83A7-F371-22AA-8447135C80DE}"/>
              </a:ext>
            </a:extLst>
          </p:cNvPr>
          <p:cNvCxnSpPr/>
          <p:nvPr/>
        </p:nvCxnSpPr>
        <p:spPr>
          <a:xfrm>
            <a:off x="9144000" y="2194560"/>
            <a:ext cx="320040" cy="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7">
            <a:extLst>
              <a:ext uri="{FF2B5EF4-FFF2-40B4-BE49-F238E27FC236}">
                <a16:creationId xmlns:a16="http://schemas.microsoft.com/office/drawing/2014/main" id="{C2D5D14D-4F6E-7B11-08F6-28021A255E85}"/>
              </a:ext>
            </a:extLst>
          </p:cNvPr>
          <p:cNvCxnSpPr/>
          <p:nvPr/>
        </p:nvCxnSpPr>
        <p:spPr>
          <a:xfrm>
            <a:off x="9464040" y="2194560"/>
            <a:ext cx="0" cy="10058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28">
            <a:extLst>
              <a:ext uri="{FF2B5EF4-FFF2-40B4-BE49-F238E27FC236}">
                <a16:creationId xmlns:a16="http://schemas.microsoft.com/office/drawing/2014/main" id="{5C791F22-C8F9-D438-BAD2-ED8E95F89B71}"/>
              </a:ext>
            </a:extLst>
          </p:cNvPr>
          <p:cNvCxnSpPr/>
          <p:nvPr/>
        </p:nvCxnSpPr>
        <p:spPr>
          <a:xfrm>
            <a:off x="9464040" y="3200400"/>
            <a:ext cx="36576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29">
            <a:extLst>
              <a:ext uri="{FF2B5EF4-FFF2-40B4-BE49-F238E27FC236}">
                <a16:creationId xmlns:a16="http://schemas.microsoft.com/office/drawing/2014/main" id="{7A989099-A035-E199-8252-C3FCE67A06C2}"/>
              </a:ext>
            </a:extLst>
          </p:cNvPr>
          <p:cNvCxnSpPr/>
          <p:nvPr/>
        </p:nvCxnSpPr>
        <p:spPr>
          <a:xfrm>
            <a:off x="9144000" y="4937760"/>
            <a:ext cx="320040" cy="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30">
            <a:extLst>
              <a:ext uri="{FF2B5EF4-FFF2-40B4-BE49-F238E27FC236}">
                <a16:creationId xmlns:a16="http://schemas.microsoft.com/office/drawing/2014/main" id="{F1E532D3-8D01-1A83-BFBC-BA084F160BBD}"/>
              </a:ext>
            </a:extLst>
          </p:cNvPr>
          <p:cNvCxnSpPr/>
          <p:nvPr/>
        </p:nvCxnSpPr>
        <p:spPr>
          <a:xfrm flipV="1">
            <a:off x="9464040" y="3931920"/>
            <a:ext cx="0" cy="10058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31">
            <a:extLst>
              <a:ext uri="{FF2B5EF4-FFF2-40B4-BE49-F238E27FC236}">
                <a16:creationId xmlns:a16="http://schemas.microsoft.com/office/drawing/2014/main" id="{AF5F7FE1-F6EE-3E65-AED8-7275BADEC32E}"/>
              </a:ext>
            </a:extLst>
          </p:cNvPr>
          <p:cNvCxnSpPr/>
          <p:nvPr/>
        </p:nvCxnSpPr>
        <p:spPr>
          <a:xfrm>
            <a:off x="9464040" y="3931920"/>
            <a:ext cx="365760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32">
            <a:extLst>
              <a:ext uri="{FF2B5EF4-FFF2-40B4-BE49-F238E27FC236}">
                <a16:creationId xmlns:a16="http://schemas.microsoft.com/office/drawing/2014/main" id="{AD92D8E6-D708-67D1-D97C-F555981C2AD9}"/>
              </a:ext>
            </a:extLst>
          </p:cNvPr>
          <p:cNvSpPr/>
          <p:nvPr/>
        </p:nvSpPr>
        <p:spPr>
          <a:xfrm>
            <a:off x="9829800" y="265176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4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회계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담당</a:t>
            </a:r>
            <a:endParaRPr sz="1350" b="1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>
              <a:spcBef>
                <a:spcPts val="2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최종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검토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승인</a:t>
            </a:r>
            <a:endParaRPr lang="ko-KR" altLang="en-US" sz="135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AFAD3A-90C4-5B5E-812B-1B7D2D95CB25}"/>
              </a:ext>
            </a:extLst>
          </p:cNvPr>
          <p:cNvSpPr txBox="1"/>
          <p:nvPr/>
        </p:nvSpPr>
        <p:spPr>
          <a:xfrm>
            <a:off x="457200" y="1718761"/>
            <a:ext cx="2542029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2000" b="1">
                <a:latin typeface="+mj-lt"/>
              </a:rPr>
              <a:t>변경사항 감지</a:t>
            </a:r>
          </a:p>
        </p:txBody>
      </p:sp>
      <p:sp>
        <p:nvSpPr>
          <p:cNvPr id="900" name="ArchNote"/>
          <p:cNvSpPr txBox="1"/>
          <p:nvPr/>
        </p:nvSpPr>
        <p:spPr>
          <a:xfrm>
            <a:off x="4700000" y="5700000"/>
            <a:ext cx="7200000" cy="38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/>
            <a:r>
              <a:rPr lang="ko-KR" sz="1100" b="1">
                <a:solidFill>
                  <a:srgbClr val="213B5D"/>
                </a:solidFill>
                <a:latin typeface="Malgun Gothic"/>
                <a:ea typeface="Malgun Gothic"/>
              </a:rPr>
              <a:t>전 구성 사내망 구축(온프레미스) · 외부 클라우드 전송 없음</a:t>
            </a:r>
          </a:p>
        </p:txBody>
      </p:sp>
    </p:spTree>
    <p:extLst>
      <p:ext uri="{BB962C8B-B14F-4D97-AF65-F5344CB8AC3E}">
        <p14:creationId xmlns:p14="http://schemas.microsoft.com/office/powerpoint/2010/main" val="424946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8704-2C97-E4FE-45D5-7C28A379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C1A77-D7B0-5641-1423-0DF13BE65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>
                <a:latin typeface="맑은 고딕"/>
                <a:ea typeface="맑은 고딕"/>
              </a:rPr>
              <a:pPr/>
              <a:t>11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6547E2-A7E2-322F-DF6D-326C8B931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맑은 고딕"/>
                <a:ea typeface="맑은 고딕"/>
              </a:rPr>
              <a:t>Source: 실무자 인터뷰 증빙자료, DART 공시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6EC69DF-7B96-84DA-7971-62048DD0CF98}"/>
              </a:ext>
            </a:extLst>
          </p:cNvPr>
          <p:cNvCxnSpPr/>
          <p:nvPr/>
        </p:nvCxnSpPr>
        <p:spPr>
          <a:xfrm>
            <a:off x="210622" y="1006526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8338D28-1695-39FC-5CBE-6DE572857710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A8099C-63C3-C200-A1A4-F826E0D2BB34}"/>
              </a:ext>
            </a:extLst>
          </p:cNvPr>
          <p:cNvSpPr txBox="1"/>
          <p:nvPr/>
        </p:nvSpPr>
        <p:spPr>
          <a:xfrm>
            <a:off x="329164" y="445967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altLang="ko-KR" sz="3000" b="1" err="1">
                <a:latin typeface="맑은 고딕"/>
                <a:ea typeface="맑은 고딕"/>
              </a:rPr>
              <a:t>기대</a:t>
            </a:r>
            <a:r>
              <a:rPr lang="en-US" altLang="ko-KR" sz="3000" b="1">
                <a:latin typeface="맑은 고딕"/>
                <a:ea typeface="맑은 고딕"/>
              </a:rPr>
              <a:t> </a:t>
            </a:r>
            <a:r>
              <a:rPr lang="en-US" altLang="ko-KR" sz="3000" b="1" err="1">
                <a:latin typeface="맑은 고딕"/>
                <a:ea typeface="맑은 고딕"/>
              </a:rPr>
              <a:t>가치</a:t>
            </a:r>
          </a:p>
        </p:txBody>
      </p:sp>
      <p:sp>
        <p:nvSpPr>
          <p:cNvPr id="700" name="현재 패널"/>
          <p:cNvSpPr/>
          <p:nvPr/>
        </p:nvSpPr>
        <p:spPr>
          <a:xfrm>
            <a:off x="371475" y="1381125"/>
            <a:ext cx="4829175" cy="1618313"/>
          </a:xfrm>
          <a:prstGeom prst="rect">
            <a:avLst/>
          </a:prstGeom>
          <a:solidFill>
            <a:srgbClr val="EAF0F8"/>
          </a:solidFill>
          <a:ln>
            <a:noFill/>
          </a:ln>
        </p:spPr>
        <p:txBody>
          <a:bodyPr wrap="square" lIns="350000" tIns="200000" rIns="350000" bIns="200000" rtlCol="0" anchor="ctr"/>
          <a:lstStyle/>
          <a:p>
            <a:pPr/>
            <a:r>
              <a:rPr lang="ko-KR" altLang="en-US" sz="1150" b="1">
                <a:solidFill>
                  <a:srgbClr val="37629B"/>
                </a:solidFill>
                <a:latin typeface="맑은 고딕"/>
                <a:ea typeface="맑은 고딕"/>
              </a:rPr>
              <a:t>현재</a:t>
            </a:r>
          </a:p>
          <a:p>
            <a:pPr>
              <a:spcBef>
                <a:spcPts val="300"/>
              </a:spcBef>
            </a:pPr>
            <a:r>
              <a:rPr lang="ko-KR" altLang="en-US" sz="1800" b="1">
                <a:solidFill>
                  <a:srgbClr val="213B5D"/>
                </a:solidFill>
                <a:latin typeface="맑은 고딕"/>
                <a:ea typeface="맑은 고딕"/>
              </a:rPr>
              <a:t>월 단위 사후관리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ko-KR" altLang="en-US" sz="1150">
                <a:solidFill>
                  <a:srgbClr val="223D60"/>
                </a:solidFill>
                <a:latin typeface="맑은 고딕"/>
                <a:ea typeface="맑은 고딕"/>
              </a:rPr>
              <a:t>설계변경·계약조건 변화 발생  →  월말 수작업 취합·검증  →  장부 반영 시차 발생</a:t>
            </a:r>
          </a:p>
        </p:txBody>
      </p:sp>
      <p:sp>
        <p:nvSpPr>
          <p:cNvPr id="701" name="AI 도입 화살표"/>
          <p:cNvSpPr/>
          <p:nvPr/>
        </p:nvSpPr>
        <p:spPr>
          <a:xfrm>
            <a:off x="5334000" y="1848000"/>
            <a:ext cx="962025" cy="685800"/>
          </a:xfrm>
          <a:prstGeom prst="rightArrow">
            <a:avLst/>
          </a:prstGeom>
          <a:solidFill>
            <a:srgbClr val="D04A0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ko-KR"/>
          </a:p>
        </p:txBody>
      </p:sp>
      <p:sp>
        <p:nvSpPr>
          <p:cNvPr id="702" name="AI 도입 라벨"/>
          <p:cNvSpPr txBox="1"/>
          <p:nvPr/>
        </p:nvSpPr>
        <p:spPr>
          <a:xfrm>
            <a:off x="5238750" y="2640000"/>
            <a:ext cx="11525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ko-KR" altLang="en-US" sz="1150" b="1">
                <a:solidFill>
                  <a:srgbClr val="D04A02"/>
                </a:solidFill>
                <a:latin typeface="맑은 고딕"/>
                <a:ea typeface="맑은 고딕"/>
              </a:rPr>
              <a:t>AI 도입</a:t>
            </a:r>
          </a:p>
        </p:txBody>
      </p:sp>
      <p:sp>
        <p:nvSpPr>
          <p:cNvPr id="703" name="도입 후 패널"/>
          <p:cNvSpPr/>
          <p:nvPr/>
        </p:nvSpPr>
        <p:spPr>
          <a:xfrm>
            <a:off x="6343650" y="1381125"/>
            <a:ext cx="5305425" cy="1618313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txBody>
          <a:bodyPr wrap="square" lIns="350000" tIns="200000" rIns="350000" bIns="200000" rtlCol="0" anchor="ctr"/>
          <a:lstStyle/>
          <a:p>
            <a:pPr/>
            <a:r>
              <a:rPr lang="ko-KR" altLang="en-US" sz="1150" b="1">
                <a:solidFill>
                  <a:srgbClr val="7198CD"/>
                </a:solidFill>
                <a:latin typeface="맑은 고딕"/>
                <a:ea typeface="맑은 고딕"/>
              </a:rPr>
              <a:t>AI 도입 후</a:t>
            </a:r>
          </a:p>
          <a:p>
            <a:pPr>
              <a:spcBef>
                <a:spcPts val="300"/>
              </a:spcBef>
            </a:pPr>
            <a:r>
              <a:rPr lang="ko-KR" altLang="en-US" sz="1800" b="1">
                <a:solidFill>
                  <a:srgbClr val="FFFFFF"/>
                </a:solidFill>
                <a:latin typeface="맑은 고딕"/>
                <a:ea typeface="맑은 고딕"/>
              </a:rPr>
              <a:t>상시 감지 · 조기 대응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ko-KR" altLang="en-US" sz="1150">
                <a:solidFill>
                  <a:srgbClr val="EAF0F8"/>
                </a:solidFill>
                <a:latin typeface="맑은 고딕"/>
                <a:ea typeface="맑은 고딕"/>
              </a:rPr>
              <a:t>설계변경·계약조건 변화를 AI가 상시 분석  →  원가 변동 신호 조기 포착  →  예산조정·계약협의·충당금 검토 신속화</a:t>
            </a:r>
          </a:p>
        </p:txBody>
      </p:sp>
      <p:sp>
        <p:nvSpPr>
          <p:cNvPr id="704" name="카드 미래 사업"/>
          <p:cNvSpPr/>
          <p:nvPr/>
        </p:nvSpPr>
        <p:spPr>
          <a:xfrm>
            <a:off x="371475" y="3105150"/>
            <a:ext cx="4829175" cy="2990850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</p:spPr>
        <p:txBody>
          <a:bodyPr wrap="square" lIns="91440" tIns="45720" rIns="91440" bIns="45720" rtlCol="0" anchor="ctr"/>
          <a:lstStyle/>
          <a:p>
            <a:endParaRPr lang="ko-KR"/>
          </a:p>
        </p:txBody>
      </p:sp>
      <p:sp>
        <p:nvSpPr>
          <p:cNvPr id="705" name="카드 회계 리스크"/>
          <p:cNvSpPr/>
          <p:nvPr/>
        </p:nvSpPr>
        <p:spPr>
          <a:xfrm>
            <a:off x="6343650" y="3105150"/>
            <a:ext cx="5305425" cy="2990850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</p:spPr>
        <p:txBody>
          <a:bodyPr wrap="square" lIns="91440" tIns="45720" rIns="91440" bIns="45720" rtlCol="0" anchor="ctr"/>
          <a:lstStyle/>
          <a:p>
            <a:endParaRPr lang="ko-KR"/>
          </a:p>
        </p:txBody>
      </p:sp>
      <p:sp>
        <p:nvSpPr>
          <p:cNvPr id="706" name="원형 1"/>
          <p:cNvSpPr/>
          <p:nvPr/>
        </p:nvSpPr>
        <p:spPr>
          <a:xfrm>
            <a:off x="781050" y="3295650"/>
            <a:ext cx="571500" cy="571500"/>
          </a:xfrm>
          <a:prstGeom prst="ellipse">
            <a:avLst/>
          </a:prstGeom>
          <a:solidFill>
            <a:srgbClr val="213B5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ko-KR"/>
          </a:p>
        </p:txBody>
      </p:sp>
      <p:sp>
        <p:nvSpPr>
          <p:cNvPr id="707" name="원형 2"/>
          <p:cNvSpPr/>
          <p:nvPr/>
        </p:nvSpPr>
        <p:spPr>
          <a:xfrm>
            <a:off x="6677025" y="3295650"/>
            <a:ext cx="571500" cy="571500"/>
          </a:xfrm>
          <a:prstGeom prst="ellipse">
            <a:avLst/>
          </a:prstGeom>
          <a:solidFill>
            <a:srgbClr val="213B5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ko-KR"/>
          </a:p>
        </p:txBody>
      </p:sp>
      <p:pic xmlns:p="http://schemas.openxmlformats.org/presentationml/2006/main">
        <p:nvPicPr>
          <p:cNvPr id="42" name="Image 1" descr="/home/claude/icon_ship.png">
            <a:extLst xmlns:a="http://schemas.openxmlformats.org/drawingml/2006/main">
              <a:ext uri="{FF2B5EF4-FFF2-40B4-BE49-F238E27FC236}">
                <a16:creationId xmlns:a16="http://schemas.microsoft.com/office/drawing/2014/main" id="{9974FD31-457B-E89E-90E0-416AABA3D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3429000"/>
            <a:ext cx="292608" cy="292608"/>
          </a:xfrm>
          <a:prstGeom xmlns:a="http://schemas.openxmlformats.org/drawingml/2006/main" prst="rect">
            <a:avLst/>
          </a:prstGeom>
        </p:spPr>
      </p:pic>
      <p:pic xmlns:p="http://schemas.openxmlformats.org/presentationml/2006/main">
        <p:nvPicPr>
          <p:cNvPr id="54" name="Image 2" descr="/home/claude/icon_search.png">
            <a:extLst xmlns:a="http://schemas.openxmlformats.org/drawingml/2006/main">
              <a:ext uri="{FF2B5EF4-FFF2-40B4-BE49-F238E27FC236}">
                <a16:creationId xmlns:a16="http://schemas.microsoft.com/office/drawing/2014/main" id="{0D0C873E-54F5-B972-47A1-A40DD4829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12280" y="3429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708" name="카드1 제목"/>
          <p:cNvSpPr txBox="1"/>
          <p:nvPr/>
        </p:nvSpPr>
        <p:spPr>
          <a:xfrm>
            <a:off x="1505000" y="3330000"/>
            <a:ext cx="3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/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미래 사업 대응력 확보</a:t>
            </a:r>
          </a:p>
        </p:txBody>
      </p:sp>
      <p:sp>
        <p:nvSpPr>
          <p:cNvPr id="709" name="카드1 부제"/>
          <p:cNvSpPr txBox="1"/>
          <p:nvPr/>
        </p:nvSpPr>
        <p:spPr>
          <a:xfrm>
            <a:off x="1505000" y="366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/>
            <a:r>
              <a:rPr lang="ko-KR" altLang="en-US" sz="1100">
                <a:solidFill>
                  <a:srgbClr val="37629B"/>
                </a:solidFill>
                <a:latin typeface="맑은 고딕"/>
                <a:ea typeface="맑은 고딕"/>
              </a:rPr>
              <a:t>KDDX · 함정 MRO · 친환경 선박</a:t>
            </a:r>
          </a:p>
        </p:txBody>
      </p:sp>
      <p:sp>
        <p:nvSpPr>
          <p:cNvPr id="710" name="카드1 내용"/>
          <p:cNvSpPr txBox="1"/>
          <p:nvPr/>
        </p:nvSpPr>
        <p:spPr>
          <a:xfrm>
            <a:off x="781050" y="4150000"/>
            <a:ext cx="401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150" b="1">
                <a:solidFill>
                  <a:srgbClr val="213B5D"/>
                </a:solidFill>
                <a:latin typeface="맑은 고딕"/>
                <a:ea typeface="맑은 고딕"/>
              </a:rPr>
              <a:t>AI 분석</a:t>
            </a:r>
            <a:r>
              <a:rPr lang="ko-KR" altLang="en-US" sz="1150">
                <a:solidFill>
                  <a:srgbClr val="223D60"/>
                </a:solidFill>
                <a:latin typeface="맑은 고딕"/>
                <a:ea typeface="맑은 고딕"/>
              </a:rPr>
              <a:t>  계약조건 · 자재가격 · 공정리스크 · 회계기준 종합 분석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lang="ko-KR" altLang="en-US" sz="1150" b="1">
                <a:solidFill>
                  <a:srgbClr val="213B5D"/>
                </a:solidFill>
                <a:latin typeface="맑은 고딕"/>
                <a:ea typeface="맑은 고딕"/>
              </a:rPr>
              <a:t>효과</a:t>
            </a:r>
            <a:r>
              <a:rPr lang="ko-KR" altLang="en-US" sz="1150">
                <a:solidFill>
                  <a:srgbClr val="223D60"/>
                </a:solidFill>
                <a:latin typeface="맑은 고딕"/>
                <a:ea typeface="맑은 고딕"/>
              </a:rPr>
              <a:t>  원가 상승 가능성 사전 점검</a:t>
            </a:r>
          </a:p>
        </p:txBody>
      </p:sp>
      <p:sp>
        <p:nvSpPr>
          <p:cNvPr id="711" name="카드2 제목"/>
          <p:cNvSpPr txBox="1"/>
          <p:nvPr/>
        </p:nvSpPr>
        <p:spPr>
          <a:xfrm>
            <a:off x="7410450" y="3330000"/>
            <a:ext cx="396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/>
            <a:r>
              <a:rPr lang="ko-KR" altLang="en-US" sz="1400" b="1">
                <a:solidFill>
                  <a:srgbClr val="213B5D"/>
                </a:solidFill>
                <a:latin typeface="맑은 고딕"/>
                <a:ea typeface="맑은 고딕"/>
              </a:rPr>
              <a:t>회계 리스크 조기 감지</a:t>
            </a:r>
          </a:p>
        </p:txBody>
      </p:sp>
      <p:sp>
        <p:nvSpPr>
          <p:cNvPr id="712" name="카드2 부제"/>
          <p:cNvSpPr txBox="1"/>
          <p:nvPr/>
        </p:nvSpPr>
        <p:spPr>
          <a:xfrm>
            <a:off x="7410450" y="3660000"/>
            <a:ext cx="39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/>
            <a:r>
              <a:rPr lang="ko-KR" altLang="en-US" sz="1100">
                <a:solidFill>
                  <a:srgbClr val="37629B"/>
                </a:solidFill>
                <a:latin typeface="맑은 고딕"/>
                <a:ea typeface="맑은 고딕"/>
              </a:rPr>
              <a:t>설계변경 · 공정지연 · 자재비 변동</a:t>
            </a:r>
          </a:p>
        </p:txBody>
      </p:sp>
      <p:sp>
        <p:nvSpPr>
          <p:cNvPr id="713" name="카드2 내용"/>
          <p:cNvSpPr txBox="1"/>
          <p:nvPr/>
        </p:nvSpPr>
        <p:spPr>
          <a:xfrm>
            <a:off x="6753150" y="4150000"/>
            <a:ext cx="45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150" b="1">
                <a:solidFill>
                  <a:srgbClr val="213B5D"/>
                </a:solidFill>
                <a:latin typeface="맑은 고딕"/>
                <a:ea typeface="맑은 고딕"/>
              </a:rPr>
              <a:t>AI 역할</a:t>
            </a:r>
            <a:r>
              <a:rPr lang="ko-KR" altLang="en-US" sz="1150">
                <a:solidFill>
                  <a:srgbClr val="223D60"/>
                </a:solidFill>
                <a:latin typeface="맑은 고딕"/>
                <a:ea typeface="맑은 고딕"/>
              </a:rPr>
              <a:t>  메일·docx 변경 통지를 발생 단계부터 상시 탐지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lang="ko-KR" altLang="en-US" sz="1150" b="1">
                <a:solidFill>
                  <a:srgbClr val="213B5D"/>
                </a:solidFill>
                <a:latin typeface="맑은 고딕"/>
                <a:ea typeface="맑은 고딕"/>
              </a:rPr>
              <a:t>효과</a:t>
            </a:r>
            <a:r>
              <a:rPr lang="ko-KR" altLang="en-US" sz="1150">
                <a:solidFill>
                  <a:srgbClr val="223D60"/>
                </a:solidFill>
                <a:latin typeface="맑은 고딕"/>
                <a:ea typeface="맑은 고딕"/>
              </a:rPr>
              <a:t>  손실 반영 지연 · 누락 가능성 조기 확인</a:t>
            </a:r>
          </a:p>
        </p:txBody>
      </p:sp>
    </p:spTree>
    <p:extLst>
      <p:ext uri="{BB962C8B-B14F-4D97-AF65-F5344CB8AC3E}">
        <p14:creationId xmlns:p14="http://schemas.microsoft.com/office/powerpoint/2010/main" val="2630565104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Samil PwC">
      <a:majorFont>
        <a:latin typeface="Georgia"/>
        <a:ea typeface="바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55e898-b404-4e69-be7d-419172c0db6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6AE4ACC694DB40A05614A9050B2FCA" ma:contentTypeVersion="9" ma:contentTypeDescription="Create a new document." ma:contentTypeScope="" ma:versionID="7ce3cb111783ecc9057600cc1dc3ff07">
  <xsd:schema xmlns:xsd="http://www.w3.org/2001/XMLSchema" xmlns:xs="http://www.w3.org/2001/XMLSchema" xmlns:p="http://schemas.microsoft.com/office/2006/metadata/properties" xmlns:ns3="9155e898-b404-4e69-be7d-419172c0db6c" targetNamespace="http://schemas.microsoft.com/office/2006/metadata/properties" ma:root="true" ma:fieldsID="12d4999811cb288e9817defa540e3d3b" ns3:_="">
    <xsd:import namespace="9155e898-b404-4e69-be7d-419172c0db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5e898-b404-4e69-be7d-419172c0db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038D1-3569-4B77-A6F2-BB0E4E72CFEE}">
  <ds:schemaRefs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9155e898-b404-4e69-be7d-419172c0db6c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10059E-367E-4E31-AD55-502345E5AE66}">
  <ds:schemaRefs>
    <ds:schemaRef ds:uri="9155e898-b404-4e69-be7d-419172c0db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B3CC27-72C6-430F-A0A8-CB51822630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와이드스크린</PresentationFormat>
  <Paragraphs>151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WordVisiCarriageReturn_MSFontService</vt:lpstr>
      <vt:lpstr>맑은 고딕</vt:lpstr>
      <vt:lpstr>맑은 고딕</vt:lpstr>
      <vt:lpstr>Arial</vt:lpstr>
      <vt:lpstr>Georgia</vt:lpstr>
      <vt:lpstr>HancomEQN</vt:lpstr>
      <vt:lpstr>Wingdings</vt:lpstr>
      <vt:lpstr>PwC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Baek (KR - Tax)</dc:creator>
  <cp:lastModifiedBy>Youngseung Lee (KR - ADVS)</cp:lastModifiedBy>
  <cp:revision>3</cp:revision>
  <dcterms:created xsi:type="dcterms:W3CDTF">2026-07-16T05:33:04Z</dcterms:created>
  <dcterms:modified xsi:type="dcterms:W3CDTF">2026-07-21T06:19:36Z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0x010100936AE4ACC694DB40A05614A9050B2FCA</vt:lpwstr>
  </property>
</Properties>
</file>